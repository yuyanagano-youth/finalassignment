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72" r:id="rId6"/>
    <p:sldId id="273" r:id="rId7"/>
    <p:sldId id="259" r:id="rId8"/>
    <p:sldId id="260" r:id="rId9"/>
    <p:sldId id="261" r:id="rId10"/>
    <p:sldId id="262" r:id="rId11"/>
    <p:sldId id="263" r:id="rId12"/>
    <p:sldId id="264" r:id="rId13"/>
    <p:sldId id="265"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43" autoAdjust="0"/>
    <p:restoredTop sz="85116" autoAdjust="0"/>
  </p:normalViewPr>
  <p:slideViewPr>
    <p:cSldViewPr snapToGrid="0" snapToObjects="1">
      <p:cViewPr varScale="1">
        <p:scale>
          <a:sx n="103" d="100"/>
          <a:sy n="103" d="100"/>
        </p:scale>
        <p:origin x="90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49343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lang="en-US" dirty="0"/>
              <a:t>6つのトピックを今日の流れとして提示。フロントエンド単体でどこまで実装・検証したかに重点を置く。</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5CBE0-8E56-5E34-B35C-228F7FFD8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51E87-A858-0E32-CA71-82155614A630}"/>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01F2AC1F-245D-A67E-3C01-7198B31292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6AE649-64AA-995E-EBDE-5D25A1889DF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53772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1B0A-D9D5-35BA-7B63-9E309F767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407EA-7B69-6E03-46E9-1CA94C87E92A}"/>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1D9E0D1B-1748-4D59-70C9-5A7CB4364A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17CF1F-4FD9-6742-FA3F-DE7145AFE26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88872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CCFAA-A36F-FECC-84B1-3A746845B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BECB0-CB32-E108-44AD-9F535213CB5D}"/>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76609A36-9C4E-FC2C-3342-453D19C08A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56DF6A-D1FC-A253-9E17-D3E17598122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65909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lang="en-US" dirty="0"/>
              <a:t>ALLドロップダウンはバックエンドの必須パラメータ制約を踏まえてフロント側で追加対応した経緯を話す。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9.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4" name="Shape 2"/>
          <p:cNvSpPr/>
          <p:nvPr/>
        </p:nvSpPr>
        <p:spPr>
          <a:xfrm>
            <a:off x="640080" y="640080"/>
            <a:ext cx="640080" cy="640080"/>
          </a:xfrm>
          <a:prstGeom prst="ellipse">
            <a:avLst/>
          </a:prstGeom>
          <a:solidFill>
            <a:srgbClr val="1565C0"/>
          </a:solidFill>
          <a:ln/>
        </p:spPr>
        <p:txBody>
          <a:bodyPr/>
          <a:lstStyle/>
          <a:p>
            <a:endParaRPr lang="ja-JP" altLang="en-US"/>
          </a:p>
        </p:txBody>
      </p:sp>
      <p:pic>
        <p:nvPicPr>
          <p:cNvPr id="5" name="Image 0" descr="images/icons/icon_main.png"/>
          <p:cNvPicPr>
            <a:picLocks noChangeAspect="1"/>
          </p:cNvPicPr>
          <p:nvPr/>
        </p:nvPicPr>
        <p:blipFill>
          <a:blip r:embed="rId3"/>
          <a:stretch>
            <a:fillRect/>
          </a:stretch>
        </p:blipFill>
        <p:spPr>
          <a:xfrm>
            <a:off x="806501" y="806501"/>
            <a:ext cx="307238" cy="307238"/>
          </a:xfrm>
          <a:prstGeom prst="rect">
            <a:avLst/>
          </a:prstGeom>
        </p:spPr>
      </p:pic>
      <p:sp>
        <p:nvSpPr>
          <p:cNvPr id="6" name="Text 3"/>
          <p:cNvSpPr/>
          <p:nvPr/>
        </p:nvSpPr>
        <p:spPr>
          <a:xfrm>
            <a:off x="594360" y="2331720"/>
            <a:ext cx="7315200" cy="365760"/>
          </a:xfrm>
          <a:prstGeom prst="rect">
            <a:avLst/>
          </a:prstGeom>
          <a:noFill/>
          <a:ln/>
        </p:spPr>
        <p:txBody>
          <a:bodyPr wrap="square" rtlCol="0" anchor="ctr"/>
          <a:lstStyle/>
          <a:p>
            <a:pPr marL="0" indent="0">
              <a:buNone/>
            </a:pPr>
            <a:endParaRPr lang="en-US" sz="1500" dirty="0"/>
          </a:p>
        </p:txBody>
      </p:sp>
      <p:sp>
        <p:nvSpPr>
          <p:cNvPr id="7" name="Text 4"/>
          <p:cNvSpPr/>
          <p:nvPr/>
        </p:nvSpPr>
        <p:spPr>
          <a:xfrm>
            <a:off x="548640" y="2697480"/>
            <a:ext cx="10058400" cy="914400"/>
          </a:xfrm>
          <a:prstGeom prst="rect">
            <a:avLst/>
          </a:prstGeom>
          <a:noFill/>
          <a:ln/>
        </p:spPr>
        <p:txBody>
          <a:bodyPr wrap="square" lIns="0" tIns="0" rIns="0" bIns="0" rtlCol="0" anchor="ctr"/>
          <a:lstStyle/>
          <a:p>
            <a:pPr marL="0" indent="0">
              <a:buNone/>
            </a:pPr>
            <a:r>
              <a:rPr lang="en-US" sz="4200" b="1" dirty="0">
                <a:solidFill>
                  <a:srgbClr val="FFFFFF"/>
                </a:solidFill>
                <a:latin typeface="Yu Gothic" pitchFamily="34" charset="0"/>
                <a:ea typeface="Yu Gothic" pitchFamily="34" charset="-122"/>
                <a:cs typeface="Yu Gothic" pitchFamily="34" charset="-120"/>
              </a:rPr>
              <a:t>自動保管棚管理システム</a:t>
            </a:r>
            <a:endParaRPr lang="en-US" sz="4200" dirty="0"/>
          </a:p>
        </p:txBody>
      </p:sp>
      <p:sp>
        <p:nvSpPr>
          <p:cNvPr id="9" name="Shape 6"/>
          <p:cNvSpPr/>
          <p:nvPr/>
        </p:nvSpPr>
        <p:spPr>
          <a:xfrm>
            <a:off x="594360" y="3880253"/>
            <a:ext cx="2926080" cy="0"/>
          </a:xfrm>
          <a:prstGeom prst="line">
            <a:avLst/>
          </a:prstGeom>
          <a:noFill/>
          <a:ln w="15240">
            <a:solidFill>
              <a:srgbClr val="2E4156"/>
            </a:solidFill>
            <a:prstDash val="solid"/>
          </a:ln>
        </p:spPr>
        <p:txBody>
          <a:bodyPr/>
          <a:lstStyle/>
          <a:p>
            <a:endParaRPr lang="ja-JP" altLang="en-US"/>
          </a:p>
        </p:txBody>
      </p:sp>
      <p:sp>
        <p:nvSpPr>
          <p:cNvPr id="10" name="Text 7"/>
          <p:cNvSpPr/>
          <p:nvPr/>
        </p:nvSpPr>
        <p:spPr>
          <a:xfrm>
            <a:off x="548640" y="4438358"/>
            <a:ext cx="10515600" cy="1582612"/>
          </a:xfrm>
          <a:prstGeom prst="rect">
            <a:avLst/>
          </a:prstGeom>
          <a:noFill/>
          <a:ln/>
        </p:spPr>
        <p:txBody>
          <a:bodyPr wrap="square" lIns="0" tIns="0" rIns="0" bIns="0" rtlCol="0" anchor="ctr"/>
          <a:lstStyle/>
          <a:p>
            <a:r>
              <a:rPr lang="ja-JP" altLang="en-US" sz="1600" b="1" dirty="0">
                <a:solidFill>
                  <a:schemeClr val="bg1"/>
                </a:solidFill>
                <a:latin typeface="Yu Gothic" pitchFamily="34" charset="0"/>
                <a:ea typeface="Yu Gothic" pitchFamily="34" charset="-122"/>
                <a:cs typeface="Yu Gothic" pitchFamily="34" charset="-120"/>
              </a:rPr>
              <a:t>永野　　</a:t>
            </a:r>
            <a:r>
              <a:rPr lang="en-US" altLang="ja-JP" sz="1400" dirty="0">
                <a:solidFill>
                  <a:schemeClr val="accent1">
                    <a:lumMod val="60000"/>
                    <a:lumOff val="40000"/>
                  </a:schemeClr>
                </a:solidFill>
                <a:latin typeface="Yu Gothic" pitchFamily="34" charset="0"/>
                <a:ea typeface="Yu Gothic" pitchFamily="34" charset="-122"/>
                <a:cs typeface="Yu Gothic" pitchFamily="34" charset="-120"/>
              </a:rPr>
              <a:t>(</a:t>
            </a:r>
            <a:r>
              <a:rPr lang="en-US" altLang="ja-JP" sz="1400" dirty="0" err="1">
                <a:solidFill>
                  <a:schemeClr val="accent1">
                    <a:lumMod val="60000"/>
                    <a:lumOff val="40000"/>
                  </a:schemeClr>
                </a:solidFill>
                <a:latin typeface="Yu Gothic" pitchFamily="34" charset="0"/>
                <a:ea typeface="Yu Gothic" pitchFamily="34" charset="-122"/>
                <a:cs typeface="Yu Gothic" pitchFamily="34" charset="-120"/>
              </a:rPr>
              <a:t>担当</a:t>
            </a:r>
            <a:r>
              <a:rPr lang="en-US" altLang="ja-JP" sz="1400" dirty="0">
                <a:solidFill>
                  <a:schemeClr val="accent1">
                    <a:lumMod val="60000"/>
                    <a:lumOff val="40000"/>
                  </a:schemeClr>
                </a:solidFill>
                <a:latin typeface="Yu Gothic" pitchFamily="34" charset="0"/>
                <a:ea typeface="Yu Gothic" pitchFamily="34" charset="-122"/>
                <a:cs typeface="Yu Gothic" pitchFamily="34" charset="-120"/>
              </a:rPr>
              <a:t>：</a:t>
            </a:r>
            <a:r>
              <a:rPr lang="ja-JP" altLang="en-US" sz="1400" dirty="0">
                <a:solidFill>
                  <a:schemeClr val="accent1">
                    <a:lumMod val="60000"/>
                    <a:lumOff val="40000"/>
                  </a:schemeClr>
                </a:solidFill>
                <a:latin typeface="Yu Gothic" pitchFamily="34" charset="0"/>
                <a:ea typeface="Yu Gothic" pitchFamily="34" charset="-122"/>
                <a:cs typeface="Yu Gothic" pitchFamily="34" charset="-120"/>
              </a:rPr>
              <a:t>バックエンド</a:t>
            </a:r>
            <a:r>
              <a:rPr lang="en-US" altLang="ja-JP" sz="1400" dirty="0">
                <a:solidFill>
                  <a:schemeClr val="accent1">
                    <a:lumMod val="60000"/>
                    <a:lumOff val="40000"/>
                  </a:schemeClr>
                </a:solidFill>
                <a:latin typeface="Yu Gothic" pitchFamily="34" charset="0"/>
                <a:ea typeface="Yu Gothic" pitchFamily="34" charset="-122"/>
                <a:cs typeface="Yu Gothic" pitchFamily="34" charset="-120"/>
              </a:rPr>
              <a:t>SQL Server / ASP.NET Core API)</a:t>
            </a:r>
            <a:endParaRPr lang="en-US" altLang="ja-JP" sz="1400" b="1" dirty="0">
              <a:solidFill>
                <a:srgbClr val="FFFFFF"/>
              </a:solidFill>
              <a:latin typeface="Yu Gothic" pitchFamily="34" charset="0"/>
              <a:ea typeface="Yu Gothic" pitchFamily="34" charset="-122"/>
              <a:cs typeface="Yu Gothic" pitchFamily="34" charset="-120"/>
            </a:endParaRPr>
          </a:p>
          <a:p>
            <a:pPr marL="0" indent="0">
              <a:buNone/>
            </a:pPr>
            <a:r>
              <a:rPr lang="ja-JP" altLang="en-US" sz="1500" b="1" dirty="0">
                <a:solidFill>
                  <a:srgbClr val="FFFFFF"/>
                </a:solidFill>
                <a:latin typeface="Yu Gothic" pitchFamily="34" charset="0"/>
                <a:ea typeface="Yu Gothic" pitchFamily="34" charset="-122"/>
                <a:cs typeface="Yu Gothic" pitchFamily="34" charset="-120"/>
              </a:rPr>
              <a:t>デイネス </a:t>
            </a:r>
            <a:r>
              <a:rPr lang="en-US" sz="1300" dirty="0">
                <a:solidFill>
                  <a:schemeClr val="accent1">
                    <a:lumMod val="60000"/>
                    <a:lumOff val="40000"/>
                  </a:schemeClr>
                </a:solidFill>
                <a:latin typeface="Yu Gothic" pitchFamily="34" charset="0"/>
                <a:ea typeface="Yu Gothic" pitchFamily="34" charset="-122"/>
                <a:cs typeface="Yu Gothic" pitchFamily="34" charset="-120"/>
              </a:rPr>
              <a:t>(</a:t>
            </a:r>
            <a:r>
              <a:rPr lang="en-US" sz="1300" dirty="0" err="1">
                <a:solidFill>
                  <a:schemeClr val="accent1">
                    <a:lumMod val="60000"/>
                    <a:lumOff val="40000"/>
                  </a:schemeClr>
                </a:solidFill>
                <a:latin typeface="Yu Gothic" pitchFamily="34" charset="0"/>
                <a:ea typeface="Yu Gothic" pitchFamily="34" charset="-122"/>
                <a:cs typeface="Yu Gothic" pitchFamily="34" charset="-120"/>
              </a:rPr>
              <a:t>担当：フロントエンド／Pages・wwwroot・CSS・JS</a:t>
            </a:r>
            <a:r>
              <a:rPr lang="en-US" sz="1300" dirty="0">
                <a:solidFill>
                  <a:schemeClr val="accent1">
                    <a:lumMod val="60000"/>
                    <a:lumOff val="40000"/>
                  </a:schemeClr>
                </a:solidFill>
                <a:latin typeface="Yu Gothic" pitchFamily="34" charset="0"/>
                <a:ea typeface="Yu Gothic" pitchFamily="34" charset="-122"/>
                <a:cs typeface="Yu Gothic" pitchFamily="34" charset="-120"/>
              </a:rPr>
              <a:t>)</a:t>
            </a:r>
            <a:endParaRPr lang="en-US" altLang="ja-JP" sz="1400" dirty="0">
              <a:solidFill>
                <a:srgbClr val="6E8AAE"/>
              </a:solidFill>
              <a:latin typeface="Yu Gothic" pitchFamily="34" charset="0"/>
              <a:ea typeface="Yu Gothic" pitchFamily="34" charset="-122"/>
              <a:cs typeface="Yu Gothic" pitchFamily="34" charset="-120"/>
            </a:endParaRPr>
          </a:p>
          <a:p>
            <a:r>
              <a:rPr lang="ja-JP" altLang="en-US" sz="1600" b="1" dirty="0">
                <a:solidFill>
                  <a:srgbClr val="FFFFFF"/>
                </a:solidFill>
                <a:latin typeface="Yu Gothic" pitchFamily="34" charset="0"/>
                <a:ea typeface="Yu Gothic" pitchFamily="34" charset="-122"/>
                <a:cs typeface="Yu Gothic" pitchFamily="34" charset="-120"/>
              </a:rPr>
              <a:t>渋谷　　</a:t>
            </a:r>
            <a:r>
              <a:rPr lang="en-US" altLang="ja-JP" sz="1200" dirty="0">
                <a:solidFill>
                  <a:schemeClr val="accent1">
                    <a:lumMod val="60000"/>
                    <a:lumOff val="40000"/>
                  </a:schemeClr>
                </a:solidFill>
                <a:latin typeface="Yu Gothic" pitchFamily="34" charset="0"/>
                <a:ea typeface="Yu Gothic" pitchFamily="34" charset="-122"/>
                <a:cs typeface="Yu Gothic" pitchFamily="34" charset="-120"/>
              </a:rPr>
              <a:t>(</a:t>
            </a:r>
            <a:r>
              <a:rPr lang="ja-JP" altLang="en-US" sz="1400" dirty="0">
                <a:solidFill>
                  <a:schemeClr val="accent1">
                    <a:lumMod val="60000"/>
                    <a:lumOff val="40000"/>
                  </a:schemeClr>
                </a:solidFill>
                <a:latin typeface="Yu Gothic" pitchFamily="34" charset="0"/>
                <a:ea typeface="Yu Gothic" pitchFamily="34" charset="-122"/>
                <a:cs typeface="Yu Gothic" pitchFamily="34" charset="-120"/>
              </a:rPr>
              <a:t>担当</a:t>
            </a:r>
            <a:r>
              <a:rPr lang="ja-JP" altLang="en-US" sz="1400" b="1" dirty="0">
                <a:solidFill>
                  <a:schemeClr val="accent1">
                    <a:lumMod val="60000"/>
                    <a:lumOff val="40000"/>
                  </a:schemeClr>
                </a:solidFill>
                <a:latin typeface="Yu Gothic" pitchFamily="34" charset="0"/>
                <a:ea typeface="Yu Gothic" pitchFamily="34" charset="-122"/>
                <a:cs typeface="Yu Gothic" pitchFamily="34" charset="-120"/>
              </a:rPr>
              <a:t>：</a:t>
            </a:r>
            <a:r>
              <a:rPr lang="ja-JP" altLang="en-US" sz="1400" dirty="0">
                <a:solidFill>
                  <a:schemeClr val="accent1">
                    <a:lumMod val="60000"/>
                    <a:lumOff val="40000"/>
                  </a:schemeClr>
                </a:solidFill>
                <a:latin typeface="Yu Gothic" pitchFamily="34" charset="0"/>
                <a:ea typeface="Yu Gothic" pitchFamily="34" charset="-122"/>
                <a:cs typeface="Yu Gothic" pitchFamily="34" charset="-120"/>
              </a:rPr>
              <a:t>コンソールアプリ   </a:t>
            </a:r>
            <a:r>
              <a:rPr lang="en-US" altLang="ja-JP" sz="1400" dirty="0">
                <a:solidFill>
                  <a:schemeClr val="accent1">
                    <a:lumMod val="60000"/>
                    <a:lumOff val="40000"/>
                  </a:schemeClr>
                </a:solidFill>
                <a:latin typeface="Yu Gothic" pitchFamily="34" charset="0"/>
                <a:ea typeface="Yu Gothic" pitchFamily="34" charset="-122"/>
                <a:cs typeface="Yu Gothic" pitchFamily="34" charset="-120"/>
              </a:rPr>
              <a:t>C# </a:t>
            </a:r>
            <a:r>
              <a:rPr lang="ja-JP" altLang="en-US" sz="1400" dirty="0">
                <a:solidFill>
                  <a:schemeClr val="accent1">
                    <a:lumMod val="60000"/>
                    <a:lumOff val="40000"/>
                  </a:schemeClr>
                </a:solidFill>
                <a:latin typeface="Yu Gothic" pitchFamily="34" charset="0"/>
                <a:ea typeface="Yu Gothic" pitchFamily="34" charset="-122"/>
                <a:cs typeface="Yu Gothic" pitchFamily="34" charset="-120"/>
              </a:rPr>
              <a:t>常駐アプリ（実機ポーリング）</a:t>
            </a:r>
            <a:r>
              <a:rPr lang="en-US" altLang="ja-JP" sz="1400" dirty="0">
                <a:solidFill>
                  <a:schemeClr val="accent1">
                    <a:lumMod val="60000"/>
                    <a:lumOff val="40000"/>
                  </a:schemeClr>
                </a:solidFill>
                <a:latin typeface="Yu Gothic" pitchFamily="34" charset="0"/>
                <a:ea typeface="Yu Gothic" pitchFamily="34" charset="-122"/>
                <a:cs typeface="Yu Gothic" pitchFamily="34" charset="-120"/>
              </a:rPr>
              <a:t>)</a:t>
            </a:r>
            <a:r>
              <a:rPr lang="ja-JP" altLang="en-US" sz="1400" dirty="0">
                <a:solidFill>
                  <a:schemeClr val="accent1">
                    <a:lumMod val="60000"/>
                    <a:lumOff val="40000"/>
                  </a:schemeClr>
                </a:solidFill>
                <a:latin typeface="Yu Gothic" pitchFamily="34" charset="0"/>
                <a:ea typeface="Yu Gothic" pitchFamily="34" charset="-122"/>
                <a:cs typeface="Yu Gothic" pitchFamily="34" charset="-120"/>
              </a:rPr>
              <a:t> </a:t>
            </a:r>
            <a:endParaRPr lang="en-US" altLang="ja-JP" sz="1400" dirty="0">
              <a:solidFill>
                <a:schemeClr val="accent1">
                  <a:lumMod val="60000"/>
                  <a:lumOff val="40000"/>
                </a:schemeClr>
              </a:solidFill>
              <a:latin typeface="Yu Gothic" pitchFamily="34" charset="0"/>
              <a:ea typeface="Yu Gothic" pitchFamily="34" charset="-122"/>
              <a:cs typeface="Yu Gothic" pitchFamily="34" charset="-120"/>
            </a:endParaRPr>
          </a:p>
          <a:p>
            <a:pPr marL="0" indent="0">
              <a:buNone/>
            </a:pPr>
            <a:endParaRPr lang="en-US" sz="1300" dirty="0">
              <a:solidFill>
                <a:srgbClr val="8FB8E8"/>
              </a:solidFill>
              <a:latin typeface="Yu Gothic" pitchFamily="34" charset="0"/>
              <a:ea typeface="Yu Gothic" pitchFamily="34" charset="-122"/>
              <a:cs typeface="Yu Gothic" pitchFamily="34" charset="-120"/>
            </a:endParaRPr>
          </a:p>
          <a:p>
            <a:pPr marL="0" indent="0">
              <a:buNone/>
            </a:pPr>
            <a:endParaRPr lang="en-US" sz="1500" dirty="0"/>
          </a:p>
        </p:txBody>
      </p:sp>
      <p:sp>
        <p:nvSpPr>
          <p:cNvPr id="11" name="Text 8"/>
          <p:cNvSpPr/>
          <p:nvPr/>
        </p:nvSpPr>
        <p:spPr>
          <a:xfrm>
            <a:off x="488852" y="6200335"/>
            <a:ext cx="9144000" cy="320040"/>
          </a:xfrm>
          <a:prstGeom prst="rect">
            <a:avLst/>
          </a:prstGeom>
          <a:noFill/>
          <a:ln/>
        </p:spPr>
        <p:txBody>
          <a:bodyPr wrap="square" rtlCol="0" anchor="ctr"/>
          <a:lstStyle/>
          <a:p>
            <a:pPr marL="0" indent="0">
              <a:buNone/>
            </a:pPr>
            <a:r>
              <a:rPr lang="en-US" sz="1300" dirty="0">
                <a:solidFill>
                  <a:srgbClr val="6E8AAE"/>
                </a:solidFill>
                <a:latin typeface="Yu Gothic" pitchFamily="34" charset="0"/>
                <a:ea typeface="Yu Gothic" pitchFamily="34" charset="-122"/>
                <a:cs typeface="Yu Gothic" pitchFamily="34" charset="-120"/>
              </a:rPr>
              <a:t>2026年6月29日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AGENDA</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本日ご報告する内容</a:t>
            </a:r>
            <a:endParaRPr lang="en-US" sz="3000" dirty="0"/>
          </a:p>
        </p:txBody>
      </p:sp>
      <p:sp>
        <p:nvSpPr>
          <p:cNvPr id="4" name="Shape 2"/>
          <p:cNvSpPr/>
          <p:nvPr/>
        </p:nvSpPr>
        <p:spPr>
          <a:xfrm>
            <a:off x="548640" y="1600200"/>
            <a:ext cx="5349240"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5" name="Shape 3"/>
          <p:cNvSpPr/>
          <p:nvPr/>
        </p:nvSpPr>
        <p:spPr>
          <a:xfrm>
            <a:off x="777240" y="1801368"/>
            <a:ext cx="512064" cy="512064"/>
          </a:xfrm>
          <a:prstGeom prst="ellipse">
            <a:avLst/>
          </a:prstGeom>
          <a:solidFill>
            <a:srgbClr val="1565C0"/>
          </a:solidFill>
          <a:ln/>
        </p:spPr>
        <p:txBody>
          <a:bodyPr/>
          <a:lstStyle/>
          <a:p>
            <a:endParaRPr lang="ja-JP" altLang="en-US"/>
          </a:p>
        </p:txBody>
      </p:sp>
      <p:pic>
        <p:nvPicPr>
          <p:cNvPr id="6" name="Image 0" descr="images/icons/icon_user.png"/>
          <p:cNvPicPr>
            <a:picLocks noChangeAspect="1"/>
          </p:cNvPicPr>
          <p:nvPr/>
        </p:nvPicPr>
        <p:blipFill>
          <a:blip r:embed="rId3"/>
          <a:stretch>
            <a:fillRect/>
          </a:stretch>
        </p:blipFill>
        <p:spPr>
          <a:xfrm>
            <a:off x="910377" y="1934505"/>
            <a:ext cx="245791" cy="245791"/>
          </a:xfrm>
          <a:prstGeom prst="rect">
            <a:avLst/>
          </a:prstGeom>
        </p:spPr>
      </p:pic>
      <p:sp>
        <p:nvSpPr>
          <p:cNvPr id="7" name="Text 4"/>
          <p:cNvSpPr/>
          <p:nvPr/>
        </p:nvSpPr>
        <p:spPr>
          <a:xfrm>
            <a:off x="1508760" y="1600200"/>
            <a:ext cx="4160520" cy="914400"/>
          </a:xfrm>
          <a:prstGeom prst="rect">
            <a:avLst/>
          </a:prstGeom>
          <a:noFill/>
          <a:ln/>
        </p:spPr>
        <p:txBody>
          <a:bodyPr wrap="square" lIns="0" tIns="0" rIns="0" bIns="0" rtlCol="0" anchor="ctr"/>
          <a:lstStyle/>
          <a:p>
            <a:pPr marL="0" indent="0">
              <a:buNone/>
            </a:pPr>
            <a:r>
              <a:rPr lang="en-US" sz="1500" b="1" dirty="0">
                <a:solidFill>
                  <a:srgbClr val="1A2330"/>
                </a:solidFill>
                <a:latin typeface="Yu Gothic" pitchFamily="34" charset="0"/>
                <a:ea typeface="Yu Gothic" pitchFamily="34" charset="-122"/>
                <a:cs typeface="Yu Gothic" pitchFamily="34" charset="-120"/>
              </a:rPr>
              <a:t>プロジェクト概要と担当範囲</a:t>
            </a:r>
            <a:endParaRPr lang="en-US" sz="1500" dirty="0"/>
          </a:p>
        </p:txBody>
      </p:sp>
      <p:sp>
        <p:nvSpPr>
          <p:cNvPr id="8" name="Shape 5"/>
          <p:cNvSpPr/>
          <p:nvPr/>
        </p:nvSpPr>
        <p:spPr>
          <a:xfrm>
            <a:off x="6217920" y="1600200"/>
            <a:ext cx="5349240"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9" name="Shape 6"/>
          <p:cNvSpPr/>
          <p:nvPr/>
        </p:nvSpPr>
        <p:spPr>
          <a:xfrm>
            <a:off x="6446520" y="1801368"/>
            <a:ext cx="512064" cy="512064"/>
          </a:xfrm>
          <a:prstGeom prst="ellipse">
            <a:avLst/>
          </a:prstGeom>
          <a:solidFill>
            <a:srgbClr val="1565C0"/>
          </a:solidFill>
          <a:ln/>
        </p:spPr>
        <p:txBody>
          <a:bodyPr/>
          <a:lstStyle/>
          <a:p>
            <a:endParaRPr lang="ja-JP" altLang="en-US"/>
          </a:p>
        </p:txBody>
      </p:sp>
      <p:pic>
        <p:nvPicPr>
          <p:cNvPr id="10" name="Image 1" descr="images/icons/icon_diagram.png"/>
          <p:cNvPicPr>
            <a:picLocks noChangeAspect="1"/>
          </p:cNvPicPr>
          <p:nvPr/>
        </p:nvPicPr>
        <p:blipFill>
          <a:blip r:embed="rId4"/>
          <a:stretch>
            <a:fillRect/>
          </a:stretch>
        </p:blipFill>
        <p:spPr>
          <a:xfrm>
            <a:off x="6579657" y="1934505"/>
            <a:ext cx="245791" cy="245791"/>
          </a:xfrm>
          <a:prstGeom prst="rect">
            <a:avLst/>
          </a:prstGeom>
        </p:spPr>
      </p:pic>
      <p:sp>
        <p:nvSpPr>
          <p:cNvPr id="11" name="Text 7"/>
          <p:cNvSpPr/>
          <p:nvPr/>
        </p:nvSpPr>
        <p:spPr>
          <a:xfrm>
            <a:off x="7178040" y="1600200"/>
            <a:ext cx="4160520" cy="914400"/>
          </a:xfrm>
          <a:prstGeom prst="rect">
            <a:avLst/>
          </a:prstGeom>
          <a:noFill/>
          <a:ln/>
        </p:spPr>
        <p:txBody>
          <a:bodyPr wrap="square" lIns="0" tIns="0" rIns="0" bIns="0" rtlCol="0" anchor="ctr"/>
          <a:lstStyle/>
          <a:p>
            <a:pPr marL="0" indent="0">
              <a:buNone/>
            </a:pPr>
            <a:r>
              <a:rPr lang="en-US" sz="1500" b="1" dirty="0">
                <a:solidFill>
                  <a:srgbClr val="1A2330"/>
                </a:solidFill>
                <a:latin typeface="Yu Gothic" pitchFamily="34" charset="0"/>
                <a:ea typeface="Yu Gothic" pitchFamily="34" charset="-122"/>
                <a:cs typeface="Yu Gothic" pitchFamily="34" charset="-120"/>
              </a:rPr>
              <a:t>システム構成とアーキテクチャ</a:t>
            </a:r>
            <a:endParaRPr lang="en-US" sz="1500" dirty="0"/>
          </a:p>
        </p:txBody>
      </p:sp>
      <p:sp>
        <p:nvSpPr>
          <p:cNvPr id="12" name="Shape 8"/>
          <p:cNvSpPr/>
          <p:nvPr/>
        </p:nvSpPr>
        <p:spPr>
          <a:xfrm>
            <a:off x="548640" y="2770632"/>
            <a:ext cx="5349240"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3" name="Shape 9"/>
          <p:cNvSpPr/>
          <p:nvPr/>
        </p:nvSpPr>
        <p:spPr>
          <a:xfrm>
            <a:off x="777240" y="2971800"/>
            <a:ext cx="512064" cy="512064"/>
          </a:xfrm>
          <a:prstGeom prst="ellipse">
            <a:avLst/>
          </a:prstGeom>
          <a:solidFill>
            <a:srgbClr val="1565C0"/>
          </a:solidFill>
          <a:ln/>
        </p:spPr>
        <p:txBody>
          <a:bodyPr/>
          <a:lstStyle/>
          <a:p>
            <a:endParaRPr lang="ja-JP" altLang="en-US"/>
          </a:p>
        </p:txBody>
      </p:sp>
      <p:pic>
        <p:nvPicPr>
          <p:cNvPr id="14" name="Image 2" descr="images/icons/icon_main.png"/>
          <p:cNvPicPr>
            <a:picLocks noChangeAspect="1"/>
          </p:cNvPicPr>
          <p:nvPr/>
        </p:nvPicPr>
        <p:blipFill>
          <a:blip r:embed="rId5"/>
          <a:stretch>
            <a:fillRect/>
          </a:stretch>
        </p:blipFill>
        <p:spPr>
          <a:xfrm>
            <a:off x="910377" y="3104937"/>
            <a:ext cx="245791" cy="245791"/>
          </a:xfrm>
          <a:prstGeom prst="rect">
            <a:avLst/>
          </a:prstGeom>
        </p:spPr>
      </p:pic>
      <p:sp>
        <p:nvSpPr>
          <p:cNvPr id="15" name="Text 10"/>
          <p:cNvSpPr/>
          <p:nvPr/>
        </p:nvSpPr>
        <p:spPr>
          <a:xfrm>
            <a:off x="1508760" y="2770632"/>
            <a:ext cx="4160520" cy="914400"/>
          </a:xfrm>
          <a:prstGeom prst="rect">
            <a:avLst/>
          </a:prstGeom>
          <a:noFill/>
          <a:ln/>
        </p:spPr>
        <p:txBody>
          <a:bodyPr wrap="square" lIns="0" tIns="0" rIns="0" bIns="0" rtlCol="0" anchor="ctr"/>
          <a:lstStyle/>
          <a:p>
            <a:pPr marL="0" indent="0">
              <a:buNone/>
            </a:pPr>
            <a:r>
              <a:rPr lang="en-US" sz="1500" b="1" dirty="0">
                <a:solidFill>
                  <a:srgbClr val="1A2330"/>
                </a:solidFill>
                <a:latin typeface="Yu Gothic" pitchFamily="34" charset="0"/>
                <a:ea typeface="Yu Gothic" pitchFamily="34" charset="-122"/>
                <a:cs typeface="Yu Gothic" pitchFamily="34" charset="-120"/>
              </a:rPr>
              <a:t>実装した5つの画面（設計仕様との対応）</a:t>
            </a:r>
            <a:endParaRPr lang="en-US" sz="1500" dirty="0"/>
          </a:p>
        </p:txBody>
      </p:sp>
      <p:sp>
        <p:nvSpPr>
          <p:cNvPr id="20" name="Shape 14"/>
          <p:cNvSpPr/>
          <p:nvPr/>
        </p:nvSpPr>
        <p:spPr>
          <a:xfrm>
            <a:off x="6217920" y="2770558"/>
            <a:ext cx="5349240"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1" name="Shape 15"/>
          <p:cNvSpPr/>
          <p:nvPr/>
        </p:nvSpPr>
        <p:spPr>
          <a:xfrm>
            <a:off x="6446520" y="2971726"/>
            <a:ext cx="512064" cy="512064"/>
          </a:xfrm>
          <a:prstGeom prst="ellipse">
            <a:avLst/>
          </a:prstGeom>
          <a:solidFill>
            <a:srgbClr val="1565C0"/>
          </a:solidFill>
          <a:ln/>
        </p:spPr>
        <p:txBody>
          <a:bodyPr/>
          <a:lstStyle/>
          <a:p>
            <a:endParaRPr lang="ja-JP" altLang="en-US"/>
          </a:p>
        </p:txBody>
      </p:sp>
      <p:pic>
        <p:nvPicPr>
          <p:cNvPr id="22" name="Image 4" descr="images/icons/icon_android.png"/>
          <p:cNvPicPr>
            <a:picLocks noChangeAspect="1"/>
          </p:cNvPicPr>
          <p:nvPr/>
        </p:nvPicPr>
        <p:blipFill>
          <a:blip r:embed="rId6"/>
          <a:stretch>
            <a:fillRect/>
          </a:stretch>
        </p:blipFill>
        <p:spPr>
          <a:xfrm>
            <a:off x="6579657" y="3104863"/>
            <a:ext cx="245791" cy="245791"/>
          </a:xfrm>
          <a:prstGeom prst="rect">
            <a:avLst/>
          </a:prstGeom>
        </p:spPr>
      </p:pic>
      <p:sp>
        <p:nvSpPr>
          <p:cNvPr id="23" name="Text 16"/>
          <p:cNvSpPr/>
          <p:nvPr/>
        </p:nvSpPr>
        <p:spPr>
          <a:xfrm>
            <a:off x="7178040" y="2770558"/>
            <a:ext cx="4160520" cy="914400"/>
          </a:xfrm>
          <a:prstGeom prst="rect">
            <a:avLst/>
          </a:prstGeom>
          <a:noFill/>
          <a:ln/>
        </p:spPr>
        <p:txBody>
          <a:bodyPr wrap="square" lIns="0" tIns="0" rIns="0" bIns="0" rtlCol="0" anchor="ctr"/>
          <a:lstStyle/>
          <a:p>
            <a:pPr marL="0" indent="0">
              <a:buNone/>
            </a:pPr>
            <a:r>
              <a:rPr lang="en-US" sz="1500" b="1" dirty="0">
                <a:solidFill>
                  <a:srgbClr val="1A2330"/>
                </a:solidFill>
                <a:latin typeface="Yu Gothic" pitchFamily="34" charset="0"/>
                <a:ea typeface="Yu Gothic" pitchFamily="34" charset="-122"/>
                <a:cs typeface="Yu Gothic" pitchFamily="34" charset="-120"/>
              </a:rPr>
              <a:t>PWA対応とスマートフォン実機テスト</a:t>
            </a:r>
            <a:endParaRPr lang="en-US" sz="1500" dirty="0"/>
          </a:p>
        </p:txBody>
      </p:sp>
      <p:sp>
        <p:nvSpPr>
          <p:cNvPr id="24" name="Shape 17"/>
          <p:cNvSpPr/>
          <p:nvPr/>
        </p:nvSpPr>
        <p:spPr>
          <a:xfrm>
            <a:off x="548640" y="3941064"/>
            <a:ext cx="5349240"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5" name="Shape 18"/>
          <p:cNvSpPr/>
          <p:nvPr/>
        </p:nvSpPr>
        <p:spPr>
          <a:xfrm>
            <a:off x="777240" y="4142232"/>
            <a:ext cx="512064" cy="512064"/>
          </a:xfrm>
          <a:prstGeom prst="ellipse">
            <a:avLst/>
          </a:prstGeom>
          <a:solidFill>
            <a:srgbClr val="1565C0"/>
          </a:solidFill>
          <a:ln/>
        </p:spPr>
        <p:txBody>
          <a:bodyPr/>
          <a:lstStyle/>
          <a:p>
            <a:endParaRPr lang="ja-JP" altLang="en-US"/>
          </a:p>
        </p:txBody>
      </p:sp>
      <p:pic>
        <p:nvPicPr>
          <p:cNvPr id="26" name="Image 5" descr="images/icons/icon_tools.png"/>
          <p:cNvPicPr>
            <a:picLocks noChangeAspect="1"/>
          </p:cNvPicPr>
          <p:nvPr/>
        </p:nvPicPr>
        <p:blipFill>
          <a:blip r:embed="rId7"/>
          <a:stretch>
            <a:fillRect/>
          </a:stretch>
        </p:blipFill>
        <p:spPr>
          <a:xfrm>
            <a:off x="910377" y="4275369"/>
            <a:ext cx="245791" cy="245791"/>
          </a:xfrm>
          <a:prstGeom prst="rect">
            <a:avLst/>
          </a:prstGeom>
        </p:spPr>
      </p:pic>
      <p:sp>
        <p:nvSpPr>
          <p:cNvPr id="27" name="Text 19"/>
          <p:cNvSpPr/>
          <p:nvPr/>
        </p:nvSpPr>
        <p:spPr>
          <a:xfrm>
            <a:off x="1508760" y="3941064"/>
            <a:ext cx="4160520" cy="914400"/>
          </a:xfrm>
          <a:prstGeom prst="rect">
            <a:avLst/>
          </a:prstGeom>
          <a:noFill/>
          <a:ln/>
        </p:spPr>
        <p:txBody>
          <a:bodyPr wrap="square" lIns="0" tIns="0" rIns="0" bIns="0" rtlCol="0" anchor="ctr"/>
          <a:lstStyle/>
          <a:p>
            <a:pPr marL="0" indent="0">
              <a:buNone/>
            </a:pPr>
            <a:r>
              <a:rPr lang="en-US" sz="1500" b="1" dirty="0">
                <a:solidFill>
                  <a:srgbClr val="1A2330"/>
                </a:solidFill>
                <a:latin typeface="Yu Gothic" pitchFamily="34" charset="0"/>
                <a:ea typeface="Yu Gothic" pitchFamily="34" charset="-122"/>
                <a:cs typeface="Yu Gothic" pitchFamily="34" charset="-120"/>
              </a:rPr>
              <a:t>開発中に遭遇した課題と解決</a:t>
            </a:r>
            <a:endParaRPr lang="en-US" sz="1500" dirty="0"/>
          </a:p>
        </p:txBody>
      </p:sp>
      <p:sp>
        <p:nvSpPr>
          <p:cNvPr id="28" name="Text 20"/>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9" name="Text 21"/>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OVERVIEW</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プロジェクト概要と担当範囲</a:t>
            </a:r>
            <a:endParaRPr lang="en-US" sz="3000" dirty="0"/>
          </a:p>
        </p:txBody>
      </p:sp>
      <p:sp>
        <p:nvSpPr>
          <p:cNvPr id="4" name="Shape 2"/>
          <p:cNvSpPr/>
          <p:nvPr/>
        </p:nvSpPr>
        <p:spPr>
          <a:xfrm>
            <a:off x="213360" y="1261872"/>
            <a:ext cx="8216656" cy="5101350"/>
          </a:xfrm>
          <a:prstGeom prst="roundRect">
            <a:avLst>
              <a:gd name="adj" fmla="val 18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5" name="Text 3"/>
          <p:cNvSpPr/>
          <p:nvPr/>
        </p:nvSpPr>
        <p:spPr>
          <a:xfrm>
            <a:off x="548640" y="1449575"/>
            <a:ext cx="5029200" cy="365760"/>
          </a:xfrm>
          <a:prstGeom prst="rect">
            <a:avLst/>
          </a:prstGeom>
          <a:noFill/>
          <a:ln/>
        </p:spPr>
        <p:txBody>
          <a:bodyPr wrap="square" lIns="0" tIns="0" rIns="0" bIns="0" rtlCol="0" anchor="ctr"/>
          <a:lstStyle/>
          <a:p>
            <a:pPr marL="0" indent="0">
              <a:buNone/>
            </a:pPr>
            <a:r>
              <a:rPr lang="ja-JP" altLang="en-US" sz="1600" b="1" dirty="0">
                <a:solidFill>
                  <a:srgbClr val="0D1B2A"/>
                </a:solidFill>
                <a:latin typeface="Yu Gothic" pitchFamily="34" charset="0"/>
                <a:ea typeface="Yu Gothic" pitchFamily="34" charset="-122"/>
                <a:cs typeface="Yu Gothic" pitchFamily="34" charset="-120"/>
              </a:rPr>
              <a:t>システム概要</a:t>
            </a:r>
            <a:endParaRPr lang="en-US" sz="1600" dirty="0"/>
          </a:p>
        </p:txBody>
      </p:sp>
      <p:sp>
        <p:nvSpPr>
          <p:cNvPr id="6" name="Text 4"/>
          <p:cNvSpPr/>
          <p:nvPr/>
        </p:nvSpPr>
        <p:spPr>
          <a:xfrm>
            <a:off x="548640" y="1881784"/>
            <a:ext cx="7683674" cy="4354419"/>
          </a:xfrm>
          <a:prstGeom prst="rect">
            <a:avLst/>
          </a:prstGeom>
          <a:noFill/>
          <a:ln/>
        </p:spPr>
        <p:txBody>
          <a:bodyPr wrap="square" rtlCol="0" anchor="t"/>
          <a:lstStyle/>
          <a:p>
            <a:pPr>
              <a:lnSpc>
                <a:spcPct val="115000"/>
              </a:lnSpc>
              <a:spcAft>
                <a:spcPts val="1000"/>
              </a:spcAft>
              <a:buSzPct val="100000"/>
            </a:pPr>
            <a:r>
              <a:rPr lang="ja-JP" altLang="en-US" sz="1200" dirty="0">
                <a:solidFill>
                  <a:srgbClr val="1A2330"/>
                </a:solidFill>
                <a:latin typeface="Yu Gothic" pitchFamily="34" charset="0"/>
                <a:ea typeface="Yu Gothic" pitchFamily="34" charset="-122"/>
                <a:cs typeface="Yu Gothic" pitchFamily="34" charset="-120"/>
              </a:rPr>
              <a:t>本システムは、自動保管棚搬送管理システムにおける「保管棚制御シミュレータ」である。</a:t>
            </a:r>
            <a:br>
              <a:rPr lang="en-US" altLang="ja-JP" sz="1200" dirty="0">
                <a:solidFill>
                  <a:srgbClr val="1A2330"/>
                </a:solidFill>
                <a:latin typeface="Yu Gothic" pitchFamily="34" charset="0"/>
                <a:ea typeface="Yu Gothic" pitchFamily="34" charset="-122"/>
                <a:cs typeface="Yu Gothic" pitchFamily="34" charset="-120"/>
              </a:rPr>
            </a:br>
            <a:r>
              <a:rPr lang="ja-JP" altLang="en-US" sz="1200" dirty="0">
                <a:solidFill>
                  <a:srgbClr val="1A2330"/>
                </a:solidFill>
                <a:latin typeface="Yu Gothic" pitchFamily="34" charset="0"/>
                <a:ea typeface="Yu Gothic" pitchFamily="34" charset="-122"/>
                <a:cs typeface="Yu Gothic" pitchFamily="34" charset="-120"/>
              </a:rPr>
              <a:t>自動保管棚搬送システムを模擬的に再現し、搬送制御ロジックの検証およびフロントエンド・バックエンド間の通信検証を行うことを目的とする。</a:t>
            </a:r>
            <a:br>
              <a:rPr lang="en-US" altLang="ja-JP" sz="1200" dirty="0">
                <a:solidFill>
                  <a:srgbClr val="1A2330"/>
                </a:solidFill>
                <a:latin typeface="Yu Gothic" pitchFamily="34" charset="0"/>
                <a:ea typeface="Yu Gothic" pitchFamily="34" charset="-122"/>
                <a:cs typeface="Yu Gothic" pitchFamily="34" charset="-120"/>
              </a:rPr>
            </a:br>
            <a:r>
              <a:rPr lang="ja-JP" altLang="en-US" sz="1200" dirty="0">
                <a:solidFill>
                  <a:srgbClr val="1A2330"/>
                </a:solidFill>
                <a:latin typeface="Yu Gothic" pitchFamily="34" charset="0"/>
                <a:ea typeface="Yu Gothic" pitchFamily="34" charset="-122"/>
                <a:cs typeface="Yu Gothic" pitchFamily="34" charset="-120"/>
              </a:rPr>
              <a:t>システムを構成する各要素の役割は以下の通りとする。</a:t>
            </a:r>
            <a:endParaRPr lang="en-US" sz="1200" dirty="0">
              <a:solidFill>
                <a:srgbClr val="1A2330"/>
              </a:solidFill>
              <a:latin typeface="Yu Gothic" pitchFamily="34" charset="0"/>
              <a:ea typeface="Yu Gothic" pitchFamily="34" charset="-122"/>
              <a:cs typeface="Yu Gothic" pitchFamily="34" charset="-120"/>
            </a:endParaRPr>
          </a:p>
          <a:p>
            <a:pPr>
              <a:lnSpc>
                <a:spcPct val="115000"/>
              </a:lnSpc>
              <a:spcAft>
                <a:spcPts val="1000"/>
              </a:spcAft>
              <a:buSzPct val="100000"/>
            </a:pPr>
            <a:r>
              <a:rPr lang="ja-JP" altLang="en-US" sz="1200" b="1" dirty="0"/>
              <a:t>・</a:t>
            </a:r>
            <a:r>
              <a:rPr lang="ja-JP" altLang="en-US" sz="1400" b="1" dirty="0"/>
              <a:t>スマートフォン</a:t>
            </a:r>
            <a:endParaRPr lang="en-US" altLang="ja-JP" sz="1400" b="1" dirty="0"/>
          </a:p>
          <a:p>
            <a:pPr>
              <a:lnSpc>
                <a:spcPct val="115000"/>
              </a:lnSpc>
              <a:spcAft>
                <a:spcPts val="1000"/>
              </a:spcAft>
              <a:buSzPct val="100000"/>
            </a:pPr>
            <a:r>
              <a:rPr lang="en-US" sz="1200" dirty="0" err="1"/>
              <a:t>PWA（Progressive</a:t>
            </a:r>
            <a:r>
              <a:rPr lang="en-US" sz="1200" dirty="0"/>
              <a:t> Web App）</a:t>
            </a:r>
            <a:r>
              <a:rPr lang="ja-JP" altLang="en-US" sz="1200" dirty="0"/>
              <a:t>形式を採用した</a:t>
            </a:r>
            <a:r>
              <a:rPr lang="en-US" sz="1200" dirty="0"/>
              <a:t>Web</a:t>
            </a:r>
            <a:r>
              <a:rPr lang="ja-JP" altLang="en-US" sz="1200" dirty="0"/>
              <a:t>ブラウザ画面</a:t>
            </a:r>
            <a:br>
              <a:rPr lang="en-US" altLang="ja-JP" sz="1200" dirty="0"/>
            </a:br>
            <a:r>
              <a:rPr lang="ja-JP" altLang="en-US" sz="1200" dirty="0"/>
              <a:t>バックエンドサーバーへアクセスし、棚の状態監視、</a:t>
            </a:r>
            <a:r>
              <a:rPr lang="en-US" altLang="ja-JP" sz="1200" dirty="0"/>
              <a:t>JOB</a:t>
            </a:r>
            <a:r>
              <a:rPr lang="ja-JP" altLang="en-US" sz="1200" dirty="0"/>
              <a:t>管理、在庫監視、履歴表示を行うほか、搬送指示（</a:t>
            </a:r>
            <a:r>
              <a:rPr lang="en-US" altLang="ja-JP" sz="1200" dirty="0"/>
              <a:t>JOB</a:t>
            </a:r>
            <a:r>
              <a:rPr lang="ja-JP" altLang="en-US" sz="1200" dirty="0"/>
              <a:t>）を生成する。</a:t>
            </a:r>
            <a:endParaRPr lang="en-US" altLang="ja-JP" sz="1200" dirty="0"/>
          </a:p>
          <a:p>
            <a:pPr>
              <a:lnSpc>
                <a:spcPct val="115000"/>
              </a:lnSpc>
              <a:spcAft>
                <a:spcPts val="1000"/>
              </a:spcAft>
              <a:buSzPct val="100000"/>
            </a:pPr>
            <a:r>
              <a:rPr lang="ja-JP" altLang="ja-JP" sz="1200" b="1" dirty="0">
                <a:solidFill>
                  <a:srgbClr val="000000"/>
                </a:solidFill>
                <a:latin typeface="游ゴシック" panose="020B0400000000000000" pitchFamily="50" charset="-128"/>
              </a:rPr>
              <a:t>・</a:t>
            </a:r>
            <a:r>
              <a:rPr lang="ja-JP" altLang="ja-JP" sz="1400" b="1" dirty="0">
                <a:solidFill>
                  <a:srgbClr val="000000"/>
                </a:solidFill>
                <a:latin typeface="游ゴシック" panose="020B0400000000000000" pitchFamily="50" charset="-128"/>
              </a:rPr>
              <a:t>バックエンドサーバー</a:t>
            </a:r>
            <a:endParaRPr lang="en-US" altLang="ja-JP" sz="1400" b="1" dirty="0">
              <a:solidFill>
                <a:srgbClr val="000000"/>
              </a:solidFill>
              <a:latin typeface="游ゴシック" panose="020B0400000000000000" pitchFamily="50" charset="-128"/>
            </a:endParaRPr>
          </a:p>
          <a:p>
            <a:pPr>
              <a:lnSpc>
                <a:spcPct val="115000"/>
              </a:lnSpc>
              <a:spcAft>
                <a:spcPts val="1000"/>
              </a:spcAft>
              <a:buSzPct val="100000"/>
            </a:pPr>
            <a:r>
              <a:rPr lang="en-US" altLang="ja-JP" sz="1200" dirty="0"/>
              <a:t>ASP.NET Core</a:t>
            </a:r>
            <a:r>
              <a:rPr lang="ja-JP" altLang="en-US" sz="1200" dirty="0"/>
              <a:t>で構築し、スマホ向けに画面（</a:t>
            </a:r>
            <a:r>
              <a:rPr lang="en-US" altLang="ja-JP" sz="1200" dirty="0"/>
              <a:t>Razor Pages</a:t>
            </a:r>
            <a:r>
              <a:rPr lang="ja-JP" altLang="en-US" sz="1200" dirty="0"/>
              <a:t>）やデータ通信用</a:t>
            </a:r>
            <a:r>
              <a:rPr lang="en-US" altLang="ja-JP" sz="1200" dirty="0"/>
              <a:t>API</a:t>
            </a:r>
            <a:r>
              <a:rPr lang="ja-JP" altLang="en-US" sz="1200" dirty="0"/>
              <a:t>（</a:t>
            </a:r>
            <a:r>
              <a:rPr lang="en-US" altLang="ja-JP" sz="1200" dirty="0"/>
              <a:t>Web API</a:t>
            </a:r>
            <a:r>
              <a:rPr lang="ja-JP" altLang="en-US" sz="1200" dirty="0"/>
              <a:t>）を提供する。</a:t>
            </a:r>
            <a:endParaRPr lang="en-US" altLang="ja-JP" sz="1200" dirty="0"/>
          </a:p>
          <a:p>
            <a:pPr>
              <a:lnSpc>
                <a:spcPct val="115000"/>
              </a:lnSpc>
              <a:spcAft>
                <a:spcPts val="1000"/>
              </a:spcAft>
              <a:buSzPct val="100000"/>
            </a:pPr>
            <a:r>
              <a:rPr lang="ja-JP" altLang="en-US" sz="1200" b="1" dirty="0"/>
              <a:t>・</a:t>
            </a:r>
            <a:r>
              <a:rPr lang="ja-JP" altLang="en-US" sz="1400" b="1" dirty="0"/>
              <a:t>保管棚シミュレータ</a:t>
            </a:r>
            <a:r>
              <a:rPr lang="en-US" altLang="ja-JP" sz="1400" b="1" dirty="0"/>
              <a:t>(</a:t>
            </a:r>
            <a:r>
              <a:rPr lang="ja-JP" altLang="en-US" sz="1400" b="1" dirty="0"/>
              <a:t>スタブ装置</a:t>
            </a:r>
            <a:r>
              <a:rPr lang="en-US" altLang="ja-JP" sz="1400" b="1" dirty="0"/>
              <a:t>)</a:t>
            </a:r>
          </a:p>
          <a:p>
            <a:pPr>
              <a:lnSpc>
                <a:spcPct val="115000"/>
              </a:lnSpc>
              <a:spcAft>
                <a:spcPts val="1000"/>
              </a:spcAft>
              <a:buSzPct val="100000"/>
            </a:pPr>
            <a:r>
              <a:rPr lang="en-US" altLang="ja-JP" sz="1200" dirty="0"/>
              <a:t>C#</a:t>
            </a:r>
            <a:r>
              <a:rPr lang="ja-JP" altLang="en-US" sz="1200" dirty="0"/>
              <a:t>のコンソールアプリケーションとして構築し、実際の自動保管棚や搬送デバイスを疑似的に再現する。</a:t>
            </a:r>
            <a:br>
              <a:rPr lang="en-US" altLang="ja-JP" sz="1200" dirty="0"/>
            </a:br>
            <a:r>
              <a:rPr lang="ja-JP" altLang="en-US" sz="1200" dirty="0"/>
              <a:t>サーバーからの搬送指令（プッシュ）を受信、または定期的なポーリングによる指示取得（プル）を契機に擬似的な搬送動作（時間経過）を行い完了結果をサーバーへ返却する。</a:t>
            </a:r>
            <a:endParaRPr lang="en-US" altLang="ja-JP" sz="1200" dirty="0"/>
          </a:p>
          <a:p>
            <a:pPr>
              <a:lnSpc>
                <a:spcPct val="115000"/>
              </a:lnSpc>
              <a:spcAft>
                <a:spcPts val="1000"/>
              </a:spcAft>
              <a:buSzPct val="100000"/>
            </a:pPr>
            <a:endParaRPr lang="en-US" sz="1200" dirty="0"/>
          </a:p>
        </p:txBody>
      </p:sp>
      <p:sp>
        <p:nvSpPr>
          <p:cNvPr id="7" name="Shape 5"/>
          <p:cNvSpPr/>
          <p:nvPr/>
        </p:nvSpPr>
        <p:spPr>
          <a:xfrm>
            <a:off x="661374" y="2816352"/>
            <a:ext cx="7570940" cy="0"/>
          </a:xfrm>
          <a:prstGeom prst="line">
            <a:avLst/>
          </a:prstGeom>
          <a:noFill/>
          <a:ln w="12700">
            <a:solidFill>
              <a:srgbClr val="E2E6EA"/>
            </a:solidFill>
            <a:prstDash val="solid"/>
          </a:ln>
        </p:spPr>
        <p:txBody>
          <a:bodyPr/>
          <a:lstStyle/>
          <a:p>
            <a:endParaRPr lang="ja-JP" altLang="en-US" dirty="0"/>
          </a:p>
        </p:txBody>
      </p:sp>
      <p:sp>
        <p:nvSpPr>
          <p:cNvPr id="8" name="Text 6"/>
          <p:cNvSpPr/>
          <p:nvPr/>
        </p:nvSpPr>
        <p:spPr>
          <a:xfrm>
            <a:off x="533400" y="4206240"/>
            <a:ext cx="5029200" cy="365760"/>
          </a:xfrm>
          <a:prstGeom prst="rect">
            <a:avLst/>
          </a:prstGeom>
          <a:noFill/>
          <a:ln/>
        </p:spPr>
        <p:txBody>
          <a:bodyPr wrap="square" lIns="0" tIns="0" rIns="0" bIns="0" rtlCol="0" anchor="ctr"/>
          <a:lstStyle/>
          <a:p>
            <a:pPr marL="0" indent="0">
              <a:buNone/>
            </a:pPr>
            <a:endParaRPr lang="en-US" sz="1600" dirty="0"/>
          </a:p>
        </p:txBody>
      </p:sp>
      <p:sp>
        <p:nvSpPr>
          <p:cNvPr id="10" name="Text 8"/>
          <p:cNvSpPr/>
          <p:nvPr/>
        </p:nvSpPr>
        <p:spPr>
          <a:xfrm>
            <a:off x="8708094" y="1554480"/>
            <a:ext cx="3749040" cy="365760"/>
          </a:xfrm>
          <a:prstGeom prst="rect">
            <a:avLst/>
          </a:prstGeom>
          <a:noFill/>
          <a:ln/>
        </p:spPr>
        <p:txBody>
          <a:bodyPr wrap="square" lIns="0" tIns="0" rIns="0" bIns="0" rtlCol="0" anchor="ctr"/>
          <a:lstStyle/>
          <a:p>
            <a:pPr marL="0" indent="0">
              <a:buNone/>
            </a:pPr>
            <a:r>
              <a:rPr lang="en-US" sz="1600" b="1" dirty="0">
                <a:solidFill>
                  <a:srgbClr val="0D1B2A"/>
                </a:solidFill>
                <a:latin typeface="Yu Gothic" pitchFamily="34" charset="0"/>
                <a:ea typeface="Yu Gothic" pitchFamily="34" charset="-122"/>
                <a:cs typeface="Yu Gothic" pitchFamily="34" charset="-120"/>
              </a:rPr>
              <a:t>チーム構成</a:t>
            </a:r>
            <a:endParaRPr lang="en-US" sz="1600" dirty="0"/>
          </a:p>
        </p:txBody>
      </p:sp>
      <p:sp>
        <p:nvSpPr>
          <p:cNvPr id="11" name="Shape 9"/>
          <p:cNvSpPr/>
          <p:nvPr/>
        </p:nvSpPr>
        <p:spPr>
          <a:xfrm>
            <a:off x="8708094" y="2057400"/>
            <a:ext cx="3270546"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4" name="Text 11"/>
          <p:cNvSpPr/>
          <p:nvPr/>
        </p:nvSpPr>
        <p:spPr>
          <a:xfrm>
            <a:off x="8881712" y="2167128"/>
            <a:ext cx="2959768" cy="320040"/>
          </a:xfrm>
          <a:prstGeom prst="rect">
            <a:avLst/>
          </a:prstGeom>
          <a:noFill/>
          <a:ln/>
        </p:spPr>
        <p:txBody>
          <a:bodyPr wrap="square" lIns="0" tIns="0" rIns="0" bIns="0" rtlCol="0" anchor="ctr"/>
          <a:lstStyle/>
          <a:p>
            <a:pPr marL="0" indent="0">
              <a:buNone/>
            </a:pPr>
            <a:r>
              <a:rPr lang="en-US" sz="1400" b="1" dirty="0">
                <a:solidFill>
                  <a:srgbClr val="1A2330"/>
                </a:solidFill>
                <a:latin typeface="Yu Gothic" pitchFamily="34" charset="0"/>
                <a:ea typeface="Yu Gothic" pitchFamily="34" charset="-122"/>
                <a:cs typeface="Yu Gothic" pitchFamily="34" charset="-120"/>
              </a:rPr>
              <a:t>フロントエンド担当</a:t>
            </a:r>
            <a:endParaRPr lang="en-US" sz="1400" dirty="0"/>
          </a:p>
        </p:txBody>
      </p:sp>
      <p:sp>
        <p:nvSpPr>
          <p:cNvPr id="15" name="Text 12"/>
          <p:cNvSpPr/>
          <p:nvPr/>
        </p:nvSpPr>
        <p:spPr>
          <a:xfrm>
            <a:off x="8881712" y="2496312"/>
            <a:ext cx="2959768" cy="320040"/>
          </a:xfrm>
          <a:prstGeom prst="rect">
            <a:avLst/>
          </a:prstGeom>
          <a:noFill/>
          <a:ln/>
        </p:spPr>
        <p:txBody>
          <a:bodyPr wrap="square" lIns="0" tIns="0" rIns="0" bIns="0" rtlCol="0" anchor="ctr"/>
          <a:lstStyle/>
          <a:p>
            <a:pPr marL="0" indent="0">
              <a:buNone/>
            </a:pPr>
            <a:r>
              <a:rPr lang="ja-JP" altLang="en-US" sz="1150" b="1" dirty="0">
                <a:solidFill>
                  <a:srgbClr val="55626F"/>
                </a:solidFill>
                <a:latin typeface="Yu Gothic" pitchFamily="34" charset="0"/>
                <a:ea typeface="Yu Gothic" pitchFamily="34" charset="-122"/>
                <a:cs typeface="Yu Gothic" pitchFamily="34" charset="-120"/>
              </a:rPr>
              <a:t>ディネス</a:t>
            </a:r>
            <a:r>
              <a:rPr lang="en-US" sz="1150" dirty="0">
                <a:solidFill>
                  <a:srgbClr val="55626F"/>
                </a:solidFill>
                <a:latin typeface="Yu Gothic" pitchFamily="34" charset="0"/>
                <a:ea typeface="Yu Gothic" pitchFamily="34" charset="-122"/>
                <a:cs typeface="Yu Gothic" pitchFamily="34" charset="-120"/>
              </a:rPr>
              <a:t>　Pages / wwwroot</a:t>
            </a:r>
            <a:endParaRPr lang="en-US" sz="1150" dirty="0"/>
          </a:p>
        </p:txBody>
      </p:sp>
      <p:sp>
        <p:nvSpPr>
          <p:cNvPr id="16" name="Shape 13"/>
          <p:cNvSpPr/>
          <p:nvPr/>
        </p:nvSpPr>
        <p:spPr>
          <a:xfrm>
            <a:off x="8708094" y="3108960"/>
            <a:ext cx="3270546"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9" name="Text 15"/>
          <p:cNvSpPr/>
          <p:nvPr/>
        </p:nvSpPr>
        <p:spPr>
          <a:xfrm>
            <a:off x="8881712" y="3218688"/>
            <a:ext cx="2959768" cy="320040"/>
          </a:xfrm>
          <a:prstGeom prst="rect">
            <a:avLst/>
          </a:prstGeom>
          <a:noFill/>
          <a:ln/>
        </p:spPr>
        <p:txBody>
          <a:bodyPr wrap="square" lIns="0" tIns="0" rIns="0" bIns="0" rtlCol="0" anchor="ctr"/>
          <a:lstStyle/>
          <a:p>
            <a:pPr marL="0" indent="0">
              <a:buNone/>
            </a:pPr>
            <a:r>
              <a:rPr lang="en-US" sz="1400" b="1" dirty="0">
                <a:solidFill>
                  <a:srgbClr val="1A2330"/>
                </a:solidFill>
                <a:latin typeface="Yu Gothic" pitchFamily="34" charset="0"/>
                <a:ea typeface="Yu Gothic" pitchFamily="34" charset="-122"/>
                <a:cs typeface="Yu Gothic" pitchFamily="34" charset="-120"/>
              </a:rPr>
              <a:t>バックエンド担当</a:t>
            </a:r>
            <a:endParaRPr lang="en-US" sz="1400" dirty="0"/>
          </a:p>
        </p:txBody>
      </p:sp>
      <p:sp>
        <p:nvSpPr>
          <p:cNvPr id="20" name="Text 16"/>
          <p:cNvSpPr/>
          <p:nvPr/>
        </p:nvSpPr>
        <p:spPr>
          <a:xfrm>
            <a:off x="8881712" y="3547872"/>
            <a:ext cx="2959768" cy="320040"/>
          </a:xfrm>
          <a:prstGeom prst="rect">
            <a:avLst/>
          </a:prstGeom>
          <a:noFill/>
          <a:ln/>
        </p:spPr>
        <p:txBody>
          <a:bodyPr wrap="square" lIns="0" tIns="0" rIns="0" bIns="0" rtlCol="0" anchor="ctr"/>
          <a:lstStyle/>
          <a:p>
            <a:r>
              <a:rPr lang="en-US" sz="1150" dirty="0">
                <a:solidFill>
                  <a:srgbClr val="55626F"/>
                </a:solidFill>
                <a:latin typeface="Yu Gothic" pitchFamily="34" charset="0"/>
                <a:ea typeface="Yu Gothic" pitchFamily="34" charset="-122"/>
                <a:cs typeface="Yu Gothic" pitchFamily="34" charset="-120"/>
              </a:rPr>
              <a:t> </a:t>
            </a:r>
            <a:r>
              <a:rPr lang="ja-JP" altLang="en-US" sz="1150" b="1" dirty="0">
                <a:solidFill>
                  <a:srgbClr val="55626F"/>
                </a:solidFill>
                <a:latin typeface="Yu Gothic" pitchFamily="34" charset="0"/>
                <a:ea typeface="Yu Gothic" pitchFamily="34" charset="-122"/>
                <a:cs typeface="Yu Gothic" pitchFamily="34" charset="-120"/>
              </a:rPr>
              <a:t>永野</a:t>
            </a:r>
            <a:r>
              <a:rPr lang="en-US" sz="1150" dirty="0">
                <a:solidFill>
                  <a:srgbClr val="55626F"/>
                </a:solidFill>
                <a:latin typeface="Yu Gothic" pitchFamily="34" charset="0"/>
                <a:ea typeface="Yu Gothic" pitchFamily="34" charset="-122"/>
                <a:cs typeface="Yu Gothic" pitchFamily="34" charset="-120"/>
              </a:rPr>
              <a:t>    </a:t>
            </a:r>
            <a:r>
              <a:rPr lang="en-US" altLang="ja-JP" sz="1150" dirty="0">
                <a:solidFill>
                  <a:srgbClr val="55626F"/>
                </a:solidFill>
                <a:latin typeface="Yu Gothic" pitchFamily="34" charset="0"/>
                <a:ea typeface="Yu Gothic" pitchFamily="34" charset="-122"/>
                <a:cs typeface="Yu Gothic" pitchFamily="34" charset="-120"/>
              </a:rPr>
              <a:t>S</a:t>
            </a:r>
            <a:r>
              <a:rPr lang="en-US" sz="1150" dirty="0">
                <a:solidFill>
                  <a:srgbClr val="55626F"/>
                </a:solidFill>
                <a:latin typeface="Yu Gothic" pitchFamily="34" charset="0"/>
                <a:ea typeface="Yu Gothic" pitchFamily="34" charset="-122"/>
                <a:cs typeface="Yu Gothic" pitchFamily="34" charset="-120"/>
              </a:rPr>
              <a:t>QL Server / ASP.NET Core API</a:t>
            </a:r>
            <a:endParaRPr lang="en-US" sz="1150" dirty="0"/>
          </a:p>
        </p:txBody>
      </p:sp>
      <p:sp>
        <p:nvSpPr>
          <p:cNvPr id="21" name="Shape 17"/>
          <p:cNvSpPr/>
          <p:nvPr/>
        </p:nvSpPr>
        <p:spPr>
          <a:xfrm>
            <a:off x="8708094" y="4160520"/>
            <a:ext cx="3270546"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4" name="Text 19"/>
          <p:cNvSpPr/>
          <p:nvPr/>
        </p:nvSpPr>
        <p:spPr>
          <a:xfrm>
            <a:off x="8881712" y="4270248"/>
            <a:ext cx="2959768" cy="320040"/>
          </a:xfrm>
          <a:prstGeom prst="rect">
            <a:avLst/>
          </a:prstGeom>
          <a:noFill/>
          <a:ln/>
        </p:spPr>
        <p:txBody>
          <a:bodyPr wrap="square" lIns="0" tIns="0" rIns="0" bIns="0" rtlCol="0" anchor="ctr"/>
          <a:lstStyle/>
          <a:p>
            <a:pPr marL="0" indent="0">
              <a:buNone/>
            </a:pPr>
            <a:r>
              <a:rPr lang="en-US" sz="1400" b="1" dirty="0">
                <a:solidFill>
                  <a:srgbClr val="1A2330"/>
                </a:solidFill>
                <a:latin typeface="Yu Gothic" pitchFamily="34" charset="0"/>
                <a:ea typeface="Yu Gothic" pitchFamily="34" charset="-122"/>
                <a:cs typeface="Yu Gothic" pitchFamily="34" charset="-120"/>
              </a:rPr>
              <a:t>コンソールアプリ担当</a:t>
            </a:r>
            <a:endParaRPr lang="en-US" sz="1400" dirty="0"/>
          </a:p>
        </p:txBody>
      </p:sp>
      <p:sp>
        <p:nvSpPr>
          <p:cNvPr id="25" name="Text 20"/>
          <p:cNvSpPr/>
          <p:nvPr/>
        </p:nvSpPr>
        <p:spPr>
          <a:xfrm>
            <a:off x="8881712" y="4599432"/>
            <a:ext cx="2959768" cy="320040"/>
          </a:xfrm>
          <a:prstGeom prst="rect">
            <a:avLst/>
          </a:prstGeom>
          <a:noFill/>
          <a:ln/>
        </p:spPr>
        <p:txBody>
          <a:bodyPr wrap="square" lIns="0" tIns="0" rIns="0" bIns="0" rtlCol="0" anchor="ctr"/>
          <a:lstStyle/>
          <a:p>
            <a:pPr marL="0" indent="0">
              <a:buNone/>
            </a:pPr>
            <a:r>
              <a:rPr lang="ja-JP" altLang="en-US" sz="1150" b="1" dirty="0">
                <a:solidFill>
                  <a:srgbClr val="55626F"/>
                </a:solidFill>
                <a:latin typeface="Yu Gothic" pitchFamily="34" charset="0"/>
                <a:ea typeface="Yu Gothic" pitchFamily="34" charset="-122"/>
                <a:cs typeface="Yu Gothic" pitchFamily="34" charset="-120"/>
              </a:rPr>
              <a:t>渋谷</a:t>
            </a:r>
            <a:r>
              <a:rPr lang="ja-JP" altLang="en-US" sz="1150" dirty="0">
                <a:solidFill>
                  <a:srgbClr val="55626F"/>
                </a:solidFill>
                <a:latin typeface="Yu Gothic" pitchFamily="34" charset="0"/>
                <a:ea typeface="Yu Gothic" pitchFamily="34" charset="-122"/>
                <a:cs typeface="Yu Gothic" pitchFamily="34" charset="-120"/>
              </a:rPr>
              <a:t>　</a:t>
            </a:r>
            <a:r>
              <a:rPr lang="en-US" sz="1150" dirty="0">
                <a:solidFill>
                  <a:srgbClr val="55626F"/>
                </a:solidFill>
                <a:latin typeface="Yu Gothic" pitchFamily="34" charset="0"/>
                <a:ea typeface="Yu Gothic" pitchFamily="34" charset="-122"/>
                <a:cs typeface="Yu Gothic" pitchFamily="34" charset="-120"/>
              </a:rPr>
              <a:t>C# 常駐アプリ（実機ポーリング）</a:t>
            </a:r>
            <a:endParaRPr lang="en-US" sz="1150" dirty="0"/>
          </a:p>
        </p:txBody>
      </p:sp>
      <p:sp>
        <p:nvSpPr>
          <p:cNvPr id="31" name="Text 25"/>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2" name="Text 26"/>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4D882-D0B3-1BA3-BA1C-2768B26645B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EE0F5D4-9080-4074-8EEB-6C217D79EF3E}"/>
              </a:ext>
            </a:extLst>
          </p:cNvPr>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OVERVIEW</a:t>
            </a:r>
            <a:endParaRPr lang="en-US" sz="1300" dirty="0"/>
          </a:p>
        </p:txBody>
      </p:sp>
      <p:sp>
        <p:nvSpPr>
          <p:cNvPr id="3" name="Text 1">
            <a:extLst>
              <a:ext uri="{FF2B5EF4-FFF2-40B4-BE49-F238E27FC236}">
                <a16:creationId xmlns:a16="http://schemas.microsoft.com/office/drawing/2014/main" id="{95C61A11-6DAE-0462-E658-2D58A713CFAD}"/>
              </a:ext>
            </a:extLst>
          </p:cNvPr>
          <p:cNvSpPr/>
          <p:nvPr/>
        </p:nvSpPr>
        <p:spPr>
          <a:xfrm>
            <a:off x="548640" y="621792"/>
            <a:ext cx="10515600" cy="640080"/>
          </a:xfrm>
          <a:prstGeom prst="rect">
            <a:avLst/>
          </a:prstGeom>
          <a:noFill/>
          <a:ln/>
        </p:spPr>
        <p:txBody>
          <a:bodyPr wrap="square" lIns="0" tIns="0" rIns="0" bIns="0" rtlCol="0" anchor="ctr"/>
          <a:lstStyle/>
          <a:p>
            <a:pPr marL="0" indent="0">
              <a:buNone/>
            </a:pPr>
            <a:r>
              <a:rPr lang="ja-JP" altLang="en-US" sz="3000" b="1" dirty="0">
                <a:solidFill>
                  <a:srgbClr val="1A2330"/>
                </a:solidFill>
                <a:latin typeface="Yu Gothic" pitchFamily="34" charset="0"/>
                <a:ea typeface="Yu Gothic" pitchFamily="34" charset="-122"/>
                <a:cs typeface="Yu Gothic" pitchFamily="34" charset="-120"/>
              </a:rPr>
              <a:t>機能一覧</a:t>
            </a:r>
            <a:endParaRPr lang="en-US" sz="3000" dirty="0"/>
          </a:p>
        </p:txBody>
      </p:sp>
      <p:sp>
        <p:nvSpPr>
          <p:cNvPr id="4" name="Shape 2">
            <a:extLst>
              <a:ext uri="{FF2B5EF4-FFF2-40B4-BE49-F238E27FC236}">
                <a16:creationId xmlns:a16="http://schemas.microsoft.com/office/drawing/2014/main" id="{88550AED-0F34-C710-821F-5E7E7147F576}"/>
              </a:ext>
            </a:extLst>
          </p:cNvPr>
          <p:cNvSpPr/>
          <p:nvPr/>
        </p:nvSpPr>
        <p:spPr>
          <a:xfrm>
            <a:off x="213359" y="1261871"/>
            <a:ext cx="11430001" cy="4738096"/>
          </a:xfrm>
          <a:prstGeom prst="roundRect">
            <a:avLst>
              <a:gd name="adj" fmla="val 1800"/>
            </a:avLst>
          </a:prstGeom>
          <a:solidFill>
            <a:srgbClr val="FFFFFF"/>
          </a:solidFill>
          <a:ln/>
          <a:effectLst>
            <a:outerShdw blurRad="101600" dist="38100" dir="5400000" algn="bl" rotWithShape="0">
              <a:srgbClr val="0D1B2A">
                <a:alpha val="12000"/>
              </a:srgbClr>
            </a:outerShdw>
          </a:effectLst>
        </p:spPr>
        <p:txBody>
          <a:bodyPr/>
          <a:lstStyle/>
          <a:p>
            <a:endParaRPr lang="ja-JP" altLang="en-US" dirty="0"/>
          </a:p>
        </p:txBody>
      </p:sp>
      <p:sp>
        <p:nvSpPr>
          <p:cNvPr id="5" name="Text 3">
            <a:extLst>
              <a:ext uri="{FF2B5EF4-FFF2-40B4-BE49-F238E27FC236}">
                <a16:creationId xmlns:a16="http://schemas.microsoft.com/office/drawing/2014/main" id="{298C42E7-ED89-05D2-9772-BA42BEE7AEBC}"/>
              </a:ext>
            </a:extLst>
          </p:cNvPr>
          <p:cNvSpPr/>
          <p:nvPr/>
        </p:nvSpPr>
        <p:spPr>
          <a:xfrm>
            <a:off x="548640" y="1449575"/>
            <a:ext cx="5029200" cy="365760"/>
          </a:xfrm>
          <a:prstGeom prst="rect">
            <a:avLst/>
          </a:prstGeom>
          <a:noFill/>
          <a:ln/>
        </p:spPr>
        <p:txBody>
          <a:bodyPr wrap="square" lIns="0" tIns="0" rIns="0" bIns="0" rtlCol="0" anchor="ctr"/>
          <a:lstStyle/>
          <a:p>
            <a:pPr marL="0" indent="0">
              <a:buNone/>
            </a:pPr>
            <a:r>
              <a:rPr lang="ja-JP" altLang="en-US" sz="1600" b="1" dirty="0">
                <a:solidFill>
                  <a:srgbClr val="0D1B2A"/>
                </a:solidFill>
                <a:latin typeface="Yu Gothic" pitchFamily="34" charset="0"/>
                <a:ea typeface="Yu Gothic" pitchFamily="34" charset="-122"/>
                <a:cs typeface="Yu Gothic" pitchFamily="34" charset="-120"/>
              </a:rPr>
              <a:t>フロントエンド</a:t>
            </a:r>
            <a:endParaRPr lang="en-US" sz="1600" dirty="0"/>
          </a:p>
        </p:txBody>
      </p:sp>
      <p:sp>
        <p:nvSpPr>
          <p:cNvPr id="6" name="Text 4">
            <a:extLst>
              <a:ext uri="{FF2B5EF4-FFF2-40B4-BE49-F238E27FC236}">
                <a16:creationId xmlns:a16="http://schemas.microsoft.com/office/drawing/2014/main" id="{CFB81A2C-A46B-EC93-F4AA-7C9C52F4A975}"/>
              </a:ext>
            </a:extLst>
          </p:cNvPr>
          <p:cNvSpPr/>
          <p:nvPr/>
        </p:nvSpPr>
        <p:spPr>
          <a:xfrm>
            <a:off x="548640" y="1881784"/>
            <a:ext cx="7683674" cy="4354419"/>
          </a:xfrm>
          <a:prstGeom prst="rect">
            <a:avLst/>
          </a:prstGeom>
          <a:noFill/>
          <a:ln/>
        </p:spPr>
        <p:txBody>
          <a:bodyPr wrap="square" rtlCol="0" anchor="t"/>
          <a:lstStyle/>
          <a:p>
            <a:pPr>
              <a:lnSpc>
                <a:spcPct val="115000"/>
              </a:lnSpc>
              <a:spcAft>
                <a:spcPts val="1000"/>
              </a:spcAft>
              <a:buSzPct val="100000"/>
            </a:pPr>
            <a:endParaRPr lang="en-US" sz="1200" dirty="0"/>
          </a:p>
        </p:txBody>
      </p:sp>
      <p:sp>
        <p:nvSpPr>
          <p:cNvPr id="31" name="Text 25">
            <a:extLst>
              <a:ext uri="{FF2B5EF4-FFF2-40B4-BE49-F238E27FC236}">
                <a16:creationId xmlns:a16="http://schemas.microsoft.com/office/drawing/2014/main" id="{163296E4-38CD-5908-F8CB-CB608B58540D}"/>
              </a:ext>
            </a:extLst>
          </p:cNvPr>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2" name="Text 26">
            <a:extLst>
              <a:ext uri="{FF2B5EF4-FFF2-40B4-BE49-F238E27FC236}">
                <a16:creationId xmlns:a16="http://schemas.microsoft.com/office/drawing/2014/main" id="{AC1B923D-36A2-079E-CCC1-08F26BC729F1}"/>
              </a:ext>
            </a:extLst>
          </p:cNvPr>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3</a:t>
            </a:r>
            <a:endParaRPr lang="en-US" sz="900" dirty="0"/>
          </a:p>
        </p:txBody>
      </p:sp>
      <p:graphicFrame>
        <p:nvGraphicFramePr>
          <p:cNvPr id="12" name="表 11">
            <a:extLst>
              <a:ext uri="{FF2B5EF4-FFF2-40B4-BE49-F238E27FC236}">
                <a16:creationId xmlns:a16="http://schemas.microsoft.com/office/drawing/2014/main" id="{B40CA592-F11D-B7C9-B20E-D69E5B9829F0}"/>
              </a:ext>
            </a:extLst>
          </p:cNvPr>
          <p:cNvGraphicFramePr>
            <a:graphicFrameLocks noGrp="1"/>
          </p:cNvGraphicFramePr>
          <p:nvPr>
            <p:extLst>
              <p:ext uri="{D42A27DB-BD31-4B8C-83A1-F6EECF244321}">
                <p14:modId xmlns:p14="http://schemas.microsoft.com/office/powerpoint/2010/main" val="2484926446"/>
              </p:ext>
            </p:extLst>
          </p:nvPr>
        </p:nvGraphicFramePr>
        <p:xfrm>
          <a:off x="431521" y="2023009"/>
          <a:ext cx="10436084" cy="2354034"/>
        </p:xfrm>
        <a:graphic>
          <a:graphicData uri="http://schemas.openxmlformats.org/drawingml/2006/table">
            <a:tbl>
              <a:tblPr>
                <a:tableStyleId>{5C22544A-7EE6-4342-B048-85BDC9FD1C3A}</a:tableStyleId>
              </a:tblPr>
              <a:tblGrid>
                <a:gridCol w="2708593">
                  <a:extLst>
                    <a:ext uri="{9D8B030D-6E8A-4147-A177-3AD203B41FA5}">
                      <a16:colId xmlns:a16="http://schemas.microsoft.com/office/drawing/2014/main" val="2471455318"/>
                    </a:ext>
                  </a:extLst>
                </a:gridCol>
                <a:gridCol w="7727491">
                  <a:extLst>
                    <a:ext uri="{9D8B030D-6E8A-4147-A177-3AD203B41FA5}">
                      <a16:colId xmlns:a16="http://schemas.microsoft.com/office/drawing/2014/main" val="2647594748"/>
                    </a:ext>
                  </a:extLst>
                </a:gridCol>
              </a:tblGrid>
              <a:tr h="392339">
                <a:tc>
                  <a:txBody>
                    <a:bodyPr/>
                    <a:lstStyle/>
                    <a:p>
                      <a:pPr algn="ctr" fontAlgn="ctr">
                        <a:buNone/>
                      </a:pPr>
                      <a:r>
                        <a:rPr lang="ja-JP" altLang="en-US" sz="1400" b="1" i="0" u="none" strike="noStrike" dirty="0">
                          <a:solidFill>
                            <a:schemeClr val="tx1"/>
                          </a:solidFill>
                          <a:effectLst/>
                          <a:latin typeface="Segoe UI Symbol" panose="020B0502040204020203" pitchFamily="34" charset="0"/>
                          <a:ea typeface="游ゴシック" panose="020B0400000000000000" pitchFamily="50" charset="-128"/>
                        </a:rPr>
                        <a:t>機能</a:t>
                      </a:r>
                      <a:endParaRPr lang="ja-JP" sz="1400" b="1" i="0" u="none" strike="noStrike" dirty="0">
                        <a:solidFill>
                          <a:schemeClr val="tx1"/>
                        </a:solidFill>
                        <a:effectLst/>
                        <a:latin typeface="Segoe UI Symbol" panose="020B0502040204020203" pitchFamily="34" charset="0"/>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概要</a:t>
                      </a:r>
                      <a:endParaRPr lang="ja-JP" sz="12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8449393"/>
                  </a:ext>
                </a:extLst>
              </a:tr>
              <a:tr h="392339">
                <a:tc>
                  <a:txBody>
                    <a:bodyPr/>
                    <a:lstStyle/>
                    <a:p>
                      <a:pPr algn="l" fontAlgn="ctr">
                        <a:buNone/>
                      </a:pPr>
                      <a:r>
                        <a:rPr lang="ja-JP" altLang="ja-JP" sz="1400" u="none" strike="noStrike" dirty="0">
                          <a:effectLst/>
                        </a:rPr>
                        <a:t>[Main] </a:t>
                      </a:r>
                      <a:r>
                        <a:rPr lang="ja-JP" altLang="en-US" sz="1400" b="1" u="none" strike="noStrike" dirty="0">
                          <a:solidFill>
                            <a:schemeClr val="tx1"/>
                          </a:solidFill>
                          <a:effectLst/>
                        </a:rPr>
                        <a:t>ディスパッチコンソール</a:t>
                      </a:r>
                      <a:endParaRPr lang="ja-JP" sz="1100" b="1" i="0" u="none" strike="noStrike" dirty="0">
                        <a:solidFill>
                          <a:schemeClr val="tx1"/>
                        </a:solidFill>
                        <a:effectLst/>
                        <a:latin typeface="Segoe UI Symbol" panose="020B0502040204020203" pitchFamily="34" charset="0"/>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sz="1200" u="none" strike="noStrike" dirty="0">
                          <a:effectLst/>
                        </a:rPr>
                        <a:t> TRANSFER（搬送）ジョブの送信、および即時割り込みの STOP（停止）ボタンを配置します。</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55430"/>
                  </a:ext>
                </a:extLst>
              </a:tr>
              <a:tr h="392339">
                <a:tc>
                  <a:txBody>
                    <a:bodyPr/>
                    <a:lstStyle/>
                    <a:p>
                      <a:pPr marL="0" indent="0" algn="l">
                        <a:lnSpc>
                          <a:spcPct val="110000"/>
                        </a:lnSpc>
                        <a:buNone/>
                      </a:pPr>
                      <a:r>
                        <a:rPr lang="ja-JP" altLang="ja-JP" sz="1400" u="none" strike="noStrike" dirty="0">
                          <a:effectLst/>
                        </a:rPr>
                        <a:t>[Shelves] </a:t>
                      </a:r>
                      <a:r>
                        <a:rPr lang="en-US" altLang="ja-JP" sz="1400" b="1" dirty="0">
                          <a:solidFill>
                            <a:schemeClr val="tx1"/>
                          </a:solidFill>
                          <a:latin typeface="Yu Gothic" pitchFamily="34" charset="0"/>
                          <a:ea typeface="Yu Gothic" pitchFamily="34" charset="-122"/>
                          <a:cs typeface="Yu Gothic" pitchFamily="34" charset="-120"/>
                        </a:rPr>
                        <a:t>ストッカー一覧</a:t>
                      </a:r>
                      <a:endParaRPr lang="en-US" altLang="ja-JP"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sz="1200" u="none" strike="noStrike" dirty="0">
                          <a:effectLst/>
                        </a:rPr>
                        <a:t>各棚の空き状況・占有状況をグリッドUIで可視化します。</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5894337"/>
                  </a:ext>
                </a:extLst>
              </a:tr>
              <a:tr h="392339">
                <a:tc>
                  <a:txBody>
                    <a:bodyPr/>
                    <a:lstStyle/>
                    <a:p>
                      <a:pPr marL="0" indent="0" algn="l">
                        <a:lnSpc>
                          <a:spcPct val="110000"/>
                        </a:lnSpc>
                        <a:buNone/>
                      </a:pPr>
                      <a:r>
                        <a:rPr lang="ja-JP" altLang="ja-JP" sz="1400" u="none" strike="noStrike" dirty="0">
                          <a:effectLst/>
                        </a:rPr>
                        <a:t>[</a:t>
                      </a:r>
                      <a:r>
                        <a:rPr lang="en-US" altLang="ja-JP" sz="1400" u="none" strike="noStrike" dirty="0">
                          <a:effectLst/>
                        </a:rPr>
                        <a:t>Jobs</a:t>
                      </a:r>
                      <a:r>
                        <a:rPr lang="ja-JP" altLang="ja-JP" sz="1400" u="none" strike="noStrike" dirty="0">
                          <a:effectLst/>
                        </a:rPr>
                        <a:t>] </a:t>
                      </a:r>
                      <a:r>
                        <a:rPr lang="en-US" altLang="ja-JP" sz="1400" b="1" dirty="0">
                          <a:solidFill>
                            <a:schemeClr val="tx1"/>
                          </a:solidFill>
                          <a:latin typeface="Yu Gothic" pitchFamily="34" charset="0"/>
                          <a:ea typeface="Yu Gothic" pitchFamily="34" charset="-122"/>
                          <a:cs typeface="Yu Gothic" pitchFamily="34" charset="-120"/>
                        </a:rPr>
                        <a:t>ジョブ監視</a:t>
                      </a:r>
                      <a:endParaRPr lang="en-US" altLang="ja-JP"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ja-JP" sz="1200" u="none" strike="noStrike" dirty="0">
                          <a:effectLst/>
                        </a:rPr>
                        <a:t>現在実行中のタスク、待機中（Pending）、および完了済みジョブの一覧を表示します</a:t>
                      </a:r>
                      <a:endParaRPr lang="ja-JP" altLang="ja-JP" sz="1200" b="0" i="0" u="none" strike="noStrike" dirty="0">
                        <a:solidFill>
                          <a:srgbClr val="000000"/>
                        </a:solidFill>
                        <a:effectLst/>
                        <a:latin typeface="游ゴシック" panose="020B0400000000000000" pitchFamily="50" charset="-128"/>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2171099"/>
                  </a:ext>
                </a:extLst>
              </a:tr>
              <a:tr h="392339">
                <a:tc>
                  <a:txBody>
                    <a:bodyPr/>
                    <a:lstStyle/>
                    <a:p>
                      <a:pPr marL="0" indent="0" algn="l">
                        <a:lnSpc>
                          <a:spcPct val="110000"/>
                        </a:lnSpc>
                        <a:buNone/>
                      </a:pPr>
                      <a:r>
                        <a:rPr lang="ja-JP" altLang="ja-JP" sz="1400" u="none" strike="noStrike" dirty="0">
                          <a:effectLst/>
                        </a:rPr>
                        <a:t>[Stocker List] </a:t>
                      </a:r>
                      <a:r>
                        <a:rPr lang="en-US" altLang="ja-JP" sz="1400" b="1" dirty="0" err="1">
                          <a:solidFill>
                            <a:schemeClr val="tx1"/>
                          </a:solidFill>
                          <a:latin typeface="Yu Gothic" pitchFamily="34" charset="0"/>
                          <a:ea typeface="Yu Gothic" pitchFamily="34" charset="-122"/>
                          <a:cs typeface="Yu Gothic" pitchFamily="34" charset="-120"/>
                        </a:rPr>
                        <a:t>棚・在庫グリッド</a:t>
                      </a:r>
                      <a:endParaRPr lang="en-US" altLang="ja-JP"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ja-JP" sz="1200" u="none" strike="noStrike" dirty="0">
                          <a:effectLst/>
                        </a:rPr>
                        <a:t>システム内の全保管棚の情報</a:t>
                      </a:r>
                      <a:r>
                        <a:rPr lang="ja-JP" altLang="en-US" sz="1200" u="none" strike="noStrike" dirty="0">
                          <a:effectLst/>
                        </a:rPr>
                        <a:t>を表示します。</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131052"/>
                  </a:ext>
                </a:extLst>
              </a:tr>
              <a:tr h="392339">
                <a:tc>
                  <a:txBody>
                    <a:bodyPr/>
                    <a:lstStyle/>
                    <a:p>
                      <a:pPr marL="0" indent="0" algn="l">
                        <a:lnSpc>
                          <a:spcPct val="110000"/>
                        </a:lnSpc>
                        <a:buNone/>
                      </a:pPr>
                      <a:r>
                        <a:rPr lang="ja-JP" altLang="ja-JP" sz="1400" u="none" strike="noStrike" dirty="0">
                          <a:effectLst/>
                        </a:rPr>
                        <a:t>[History] </a:t>
                      </a:r>
                      <a:r>
                        <a:rPr lang="en-US" altLang="ja-JP" sz="1400" b="1" dirty="0">
                          <a:solidFill>
                            <a:schemeClr val="tx1"/>
                          </a:solidFill>
                          <a:latin typeface="Yu Gothic" pitchFamily="34" charset="0"/>
                          <a:ea typeface="Yu Gothic" pitchFamily="34" charset="-122"/>
                          <a:cs typeface="Yu Gothic" pitchFamily="34" charset="-120"/>
                        </a:rPr>
                        <a:t>履歴ログ</a:t>
                      </a:r>
                      <a:endParaRPr lang="en-US" altLang="ja-JP"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sz="1200" u="none" strike="noStrike" dirty="0">
                          <a:effectLst/>
                        </a:rPr>
                        <a:t>データベースに保存された最新のシステム警告やトランザクション履歴を表示します。</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960940"/>
                  </a:ext>
                </a:extLst>
              </a:tr>
            </a:tbl>
          </a:graphicData>
        </a:graphic>
      </p:graphicFrame>
    </p:spTree>
    <p:extLst>
      <p:ext uri="{BB962C8B-B14F-4D97-AF65-F5344CB8AC3E}">
        <p14:creationId xmlns:p14="http://schemas.microsoft.com/office/powerpoint/2010/main" val="1381087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AE6B-DD2B-9DCA-5D5B-10D98340E6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6A07C7-1E48-B42A-5A54-0F517CF7EC94}"/>
              </a:ext>
            </a:extLst>
          </p:cNvPr>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OVERVIEW</a:t>
            </a:r>
            <a:endParaRPr lang="en-US" sz="1300" dirty="0"/>
          </a:p>
        </p:txBody>
      </p:sp>
      <p:sp>
        <p:nvSpPr>
          <p:cNvPr id="3" name="Text 1">
            <a:extLst>
              <a:ext uri="{FF2B5EF4-FFF2-40B4-BE49-F238E27FC236}">
                <a16:creationId xmlns:a16="http://schemas.microsoft.com/office/drawing/2014/main" id="{70774D89-7D2D-212F-DED5-C312743A2902}"/>
              </a:ext>
            </a:extLst>
          </p:cNvPr>
          <p:cNvSpPr/>
          <p:nvPr/>
        </p:nvSpPr>
        <p:spPr>
          <a:xfrm>
            <a:off x="548640" y="621792"/>
            <a:ext cx="10515600" cy="640080"/>
          </a:xfrm>
          <a:prstGeom prst="rect">
            <a:avLst/>
          </a:prstGeom>
          <a:noFill/>
          <a:ln/>
        </p:spPr>
        <p:txBody>
          <a:bodyPr wrap="square" lIns="0" tIns="0" rIns="0" bIns="0" rtlCol="0" anchor="ctr"/>
          <a:lstStyle/>
          <a:p>
            <a:pPr marL="0" indent="0">
              <a:buNone/>
            </a:pPr>
            <a:r>
              <a:rPr lang="ja-JP" altLang="en-US" sz="3000" b="1" dirty="0">
                <a:solidFill>
                  <a:srgbClr val="1A2330"/>
                </a:solidFill>
                <a:latin typeface="Yu Gothic" pitchFamily="34" charset="0"/>
                <a:ea typeface="Yu Gothic" pitchFamily="34" charset="-122"/>
                <a:cs typeface="Yu Gothic" pitchFamily="34" charset="-120"/>
              </a:rPr>
              <a:t>機能一覧</a:t>
            </a:r>
            <a:endParaRPr lang="en-US" sz="3000" dirty="0"/>
          </a:p>
        </p:txBody>
      </p:sp>
      <p:sp>
        <p:nvSpPr>
          <p:cNvPr id="4" name="Shape 2">
            <a:extLst>
              <a:ext uri="{FF2B5EF4-FFF2-40B4-BE49-F238E27FC236}">
                <a16:creationId xmlns:a16="http://schemas.microsoft.com/office/drawing/2014/main" id="{ACC059D5-780A-5946-C7E5-10E169322882}"/>
              </a:ext>
            </a:extLst>
          </p:cNvPr>
          <p:cNvSpPr/>
          <p:nvPr/>
        </p:nvSpPr>
        <p:spPr>
          <a:xfrm>
            <a:off x="213359" y="1261871"/>
            <a:ext cx="11430001" cy="4738096"/>
          </a:xfrm>
          <a:prstGeom prst="roundRect">
            <a:avLst>
              <a:gd name="adj" fmla="val 1800"/>
            </a:avLst>
          </a:prstGeom>
          <a:solidFill>
            <a:srgbClr val="FFFFFF"/>
          </a:solidFill>
          <a:ln/>
          <a:effectLst>
            <a:outerShdw blurRad="101600" dist="38100" dir="5400000" algn="bl" rotWithShape="0">
              <a:srgbClr val="0D1B2A">
                <a:alpha val="12000"/>
              </a:srgbClr>
            </a:outerShdw>
          </a:effectLst>
        </p:spPr>
        <p:txBody>
          <a:bodyPr/>
          <a:lstStyle/>
          <a:p>
            <a:endParaRPr lang="ja-JP" altLang="en-US" dirty="0"/>
          </a:p>
        </p:txBody>
      </p:sp>
      <p:sp>
        <p:nvSpPr>
          <p:cNvPr id="5" name="Text 3">
            <a:extLst>
              <a:ext uri="{FF2B5EF4-FFF2-40B4-BE49-F238E27FC236}">
                <a16:creationId xmlns:a16="http://schemas.microsoft.com/office/drawing/2014/main" id="{73E2779E-19F7-1F35-5758-B1925DAFD59B}"/>
              </a:ext>
            </a:extLst>
          </p:cNvPr>
          <p:cNvSpPr/>
          <p:nvPr/>
        </p:nvSpPr>
        <p:spPr>
          <a:xfrm>
            <a:off x="548640" y="1449575"/>
            <a:ext cx="5029200" cy="365760"/>
          </a:xfrm>
          <a:prstGeom prst="rect">
            <a:avLst/>
          </a:prstGeom>
          <a:noFill/>
          <a:ln/>
        </p:spPr>
        <p:txBody>
          <a:bodyPr wrap="square" lIns="0" tIns="0" rIns="0" bIns="0" rtlCol="0" anchor="ctr"/>
          <a:lstStyle/>
          <a:p>
            <a:pPr>
              <a:lnSpc>
                <a:spcPct val="115000"/>
              </a:lnSpc>
              <a:spcAft>
                <a:spcPts val="1000"/>
              </a:spcAft>
              <a:buSzPct val="100000"/>
            </a:pPr>
            <a:r>
              <a:rPr lang="ja-JP" altLang="en-US" sz="1600" b="1" dirty="0"/>
              <a:t>保管棚シミュレータ</a:t>
            </a:r>
            <a:r>
              <a:rPr lang="en-US" altLang="ja-JP" sz="1600" b="1" dirty="0"/>
              <a:t>(</a:t>
            </a:r>
            <a:r>
              <a:rPr lang="ja-JP" altLang="en-US" sz="1600" b="1" dirty="0"/>
              <a:t>スタブ装置</a:t>
            </a:r>
            <a:r>
              <a:rPr lang="en-US" altLang="ja-JP" sz="1600" b="1" dirty="0"/>
              <a:t>)</a:t>
            </a:r>
          </a:p>
        </p:txBody>
      </p:sp>
      <p:sp>
        <p:nvSpPr>
          <p:cNvPr id="6" name="Text 4">
            <a:extLst>
              <a:ext uri="{FF2B5EF4-FFF2-40B4-BE49-F238E27FC236}">
                <a16:creationId xmlns:a16="http://schemas.microsoft.com/office/drawing/2014/main" id="{0707FDFD-6A2D-8099-D3D1-A10CDCA24E39}"/>
              </a:ext>
            </a:extLst>
          </p:cNvPr>
          <p:cNvSpPr/>
          <p:nvPr/>
        </p:nvSpPr>
        <p:spPr>
          <a:xfrm>
            <a:off x="548640" y="1881784"/>
            <a:ext cx="7683674" cy="4354419"/>
          </a:xfrm>
          <a:prstGeom prst="rect">
            <a:avLst/>
          </a:prstGeom>
          <a:noFill/>
          <a:ln/>
        </p:spPr>
        <p:txBody>
          <a:bodyPr wrap="square" rtlCol="0" anchor="t"/>
          <a:lstStyle/>
          <a:p>
            <a:pPr>
              <a:lnSpc>
                <a:spcPct val="115000"/>
              </a:lnSpc>
              <a:spcAft>
                <a:spcPts val="1000"/>
              </a:spcAft>
              <a:buSzPct val="100000"/>
            </a:pPr>
            <a:endParaRPr lang="en-US" sz="1200" dirty="0"/>
          </a:p>
        </p:txBody>
      </p:sp>
      <p:sp>
        <p:nvSpPr>
          <p:cNvPr id="31" name="Text 25">
            <a:extLst>
              <a:ext uri="{FF2B5EF4-FFF2-40B4-BE49-F238E27FC236}">
                <a16:creationId xmlns:a16="http://schemas.microsoft.com/office/drawing/2014/main" id="{4840FCEF-F3CB-C12D-82CF-D36D31D05F50}"/>
              </a:ext>
            </a:extLst>
          </p:cNvPr>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2" name="Text 26">
            <a:extLst>
              <a:ext uri="{FF2B5EF4-FFF2-40B4-BE49-F238E27FC236}">
                <a16:creationId xmlns:a16="http://schemas.microsoft.com/office/drawing/2014/main" id="{2BB8786F-04A0-63CE-F76F-152BEA91634B}"/>
              </a:ext>
            </a:extLst>
          </p:cNvPr>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3</a:t>
            </a:r>
            <a:endParaRPr lang="en-US" sz="900" dirty="0"/>
          </a:p>
        </p:txBody>
      </p:sp>
      <p:graphicFrame>
        <p:nvGraphicFramePr>
          <p:cNvPr id="12" name="表 11">
            <a:extLst>
              <a:ext uri="{FF2B5EF4-FFF2-40B4-BE49-F238E27FC236}">
                <a16:creationId xmlns:a16="http://schemas.microsoft.com/office/drawing/2014/main" id="{F8C69D4B-67F8-D300-7DD8-510EBE979DCA}"/>
              </a:ext>
            </a:extLst>
          </p:cNvPr>
          <p:cNvGraphicFramePr>
            <a:graphicFrameLocks noGrp="1"/>
          </p:cNvGraphicFramePr>
          <p:nvPr>
            <p:extLst>
              <p:ext uri="{D42A27DB-BD31-4B8C-83A1-F6EECF244321}">
                <p14:modId xmlns:p14="http://schemas.microsoft.com/office/powerpoint/2010/main" val="2531631057"/>
              </p:ext>
            </p:extLst>
          </p:nvPr>
        </p:nvGraphicFramePr>
        <p:xfrm>
          <a:off x="431521" y="2023009"/>
          <a:ext cx="10979690" cy="3176512"/>
        </p:xfrm>
        <a:graphic>
          <a:graphicData uri="http://schemas.openxmlformats.org/drawingml/2006/table">
            <a:tbl>
              <a:tblPr>
                <a:tableStyleId>{5C22544A-7EE6-4342-B048-85BDC9FD1C3A}</a:tableStyleId>
              </a:tblPr>
              <a:tblGrid>
                <a:gridCol w="3251131">
                  <a:extLst>
                    <a:ext uri="{9D8B030D-6E8A-4147-A177-3AD203B41FA5}">
                      <a16:colId xmlns:a16="http://schemas.microsoft.com/office/drawing/2014/main" val="2471455318"/>
                    </a:ext>
                  </a:extLst>
                </a:gridCol>
                <a:gridCol w="7728559">
                  <a:extLst>
                    <a:ext uri="{9D8B030D-6E8A-4147-A177-3AD203B41FA5}">
                      <a16:colId xmlns:a16="http://schemas.microsoft.com/office/drawing/2014/main" val="2647594748"/>
                    </a:ext>
                  </a:extLst>
                </a:gridCol>
              </a:tblGrid>
              <a:tr h="397064">
                <a:tc>
                  <a:txBody>
                    <a:bodyPr/>
                    <a:lstStyle/>
                    <a:p>
                      <a:pPr algn="ctr" fontAlgn="ctr">
                        <a:buNone/>
                      </a:pPr>
                      <a:r>
                        <a:rPr lang="ja-JP" altLang="en-US" sz="1400" b="1" i="0" u="none" strike="noStrike" dirty="0">
                          <a:solidFill>
                            <a:schemeClr val="tx1"/>
                          </a:solidFill>
                          <a:effectLst/>
                          <a:latin typeface="Segoe UI Symbol" panose="020B0502040204020203" pitchFamily="34" charset="0"/>
                          <a:ea typeface="游ゴシック" panose="020B0400000000000000" pitchFamily="50" charset="-128"/>
                        </a:rPr>
                        <a:t>機能</a:t>
                      </a:r>
                      <a:endParaRPr lang="ja-JP" sz="1400" b="1" i="0" u="none" strike="noStrike" dirty="0">
                        <a:solidFill>
                          <a:schemeClr val="tx1"/>
                        </a:solidFill>
                        <a:effectLst/>
                        <a:latin typeface="Segoe UI Symbol" panose="020B0502040204020203" pitchFamily="34" charset="0"/>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概要</a:t>
                      </a:r>
                      <a:endParaRPr lang="ja-JP" sz="12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5682211"/>
                  </a:ext>
                </a:extLst>
              </a:tr>
              <a:tr h="397064">
                <a:tc>
                  <a:txBody>
                    <a:bodyPr/>
                    <a:lstStyle/>
                    <a:p>
                      <a:pPr algn="l" fontAlgn="ctr">
                        <a:buNone/>
                      </a:pPr>
                      <a:r>
                        <a:rPr lang="ja-JP" altLang="en-US" sz="1400" b="1" u="none" strike="noStrike" dirty="0">
                          <a:effectLst/>
                          <a:latin typeface="+mn-ea"/>
                          <a:ea typeface="+mn-ea"/>
                        </a:rPr>
                        <a:t>オンライン </a:t>
                      </a:r>
                      <a:r>
                        <a:rPr lang="en-US" altLang="ja-JP" sz="1400" b="1" u="none" strike="noStrike" dirty="0">
                          <a:effectLst/>
                          <a:latin typeface="+mn-ea"/>
                          <a:ea typeface="+mn-ea"/>
                        </a:rPr>
                        <a:t>/ </a:t>
                      </a:r>
                      <a:r>
                        <a:rPr lang="ja-JP" altLang="en-US" sz="1400" b="1" u="none" strike="noStrike" dirty="0">
                          <a:effectLst/>
                          <a:latin typeface="+mn-ea"/>
                          <a:ea typeface="+mn-ea"/>
                        </a:rPr>
                        <a:t>オフライン管理機能</a:t>
                      </a:r>
                      <a:endParaRPr lang="ja-JP" sz="1400" b="1" i="0" u="none" strike="noStrike" dirty="0">
                        <a:solidFill>
                          <a:srgbClr val="00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コンソールの通信状態及び稼働状態を管理</a:t>
                      </a:r>
                      <a:r>
                        <a:rPr lang="en-US" altLang="ja-JP" sz="1200" u="none" strike="noStrike" dirty="0">
                          <a:effectLst/>
                        </a:rPr>
                        <a:t>(</a:t>
                      </a:r>
                      <a:r>
                        <a:rPr lang="ja-JP" altLang="en-US" sz="1200" u="none" strike="noStrike" dirty="0">
                          <a:effectLst/>
                        </a:rPr>
                        <a:t>模擬</a:t>
                      </a:r>
                      <a:r>
                        <a:rPr lang="en-US" altLang="ja-JP" sz="1200" u="none" strike="noStrike" dirty="0">
                          <a:effectLst/>
                        </a:rPr>
                        <a:t>)</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55430"/>
                  </a:ext>
                </a:extLst>
              </a:tr>
              <a:tr h="397064">
                <a:tc>
                  <a:txBody>
                    <a:bodyPr/>
                    <a:lstStyle/>
                    <a:p>
                      <a:pPr algn="l" fontAlgn="ctr">
                        <a:buNone/>
                      </a:pPr>
                      <a:r>
                        <a:rPr lang="zh-TW" altLang="en-US" sz="1400" b="1" u="none" strike="noStrike" dirty="0">
                          <a:effectLst/>
                          <a:latin typeface="游ゴシック" panose="020B0400000000000000" pitchFamily="50" charset="-128"/>
                          <a:ea typeface="游ゴシック" panose="020B0400000000000000" pitchFamily="50" charset="-128"/>
                        </a:rPr>
                        <a:t>指示受信機能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サーバーから送信される動作指示を受信する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5894337"/>
                  </a:ext>
                </a:extLst>
              </a:tr>
              <a:tr h="397064">
                <a:tc>
                  <a:txBody>
                    <a:bodyPr/>
                    <a:lstStyle/>
                    <a:p>
                      <a:pPr algn="l" fontAlgn="ctr">
                        <a:buNone/>
                      </a:pPr>
                      <a:r>
                        <a:rPr lang="ja-JP" altLang="en-US" sz="1400" b="1" u="none" strike="noStrike" dirty="0">
                          <a:effectLst/>
                          <a:latin typeface="+mn-ea"/>
                          <a:ea typeface="+mn-ea"/>
                        </a:rPr>
                        <a:t>指示問い合わせ機能</a:t>
                      </a:r>
                      <a:r>
                        <a:rPr lang="en-US" altLang="ja-JP" sz="1400" b="1" u="none" strike="noStrike" dirty="0">
                          <a:effectLst/>
                          <a:latin typeface="+mn-ea"/>
                          <a:ea typeface="+mn-ea"/>
                        </a:rPr>
                        <a:t>(Polling)</a:t>
                      </a:r>
                      <a:endParaRPr lang="ja-JP" sz="1400" b="1" i="0" u="none" strike="noStrike" dirty="0">
                        <a:solidFill>
                          <a:srgbClr val="00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コンソール側からサーバーに</a:t>
                      </a:r>
                      <a:r>
                        <a:rPr lang="en-US" altLang="ja-JP" sz="1200" u="none" strike="noStrike" dirty="0">
                          <a:effectLst/>
                        </a:rPr>
                        <a:t>5</a:t>
                      </a:r>
                      <a:r>
                        <a:rPr lang="ja-JP" altLang="en-US" sz="1200" u="none" strike="noStrike" dirty="0">
                          <a:effectLst/>
                        </a:rPr>
                        <a:t>秒ごとに通信報告及び</a:t>
                      </a:r>
                      <a:r>
                        <a:rPr lang="en-US" altLang="ja-JP" sz="1200" u="none" strike="noStrike" dirty="0">
                          <a:effectLst/>
                        </a:rPr>
                        <a:t>JOB</a:t>
                      </a:r>
                      <a:r>
                        <a:rPr lang="ja-JP" altLang="en-US" sz="1200" u="none" strike="noStrike" dirty="0">
                          <a:effectLst/>
                        </a:rPr>
                        <a:t>問い合わせを行う</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2171099"/>
                  </a:ext>
                </a:extLst>
              </a:tr>
              <a:tr h="397064">
                <a:tc>
                  <a:txBody>
                    <a:bodyPr/>
                    <a:lstStyle/>
                    <a:p>
                      <a:pPr algn="l" fontAlgn="ctr">
                        <a:buNone/>
                      </a:pPr>
                      <a:r>
                        <a:rPr lang="zh-TW" altLang="en-US" sz="1400" b="1" u="none" strike="noStrike" dirty="0">
                          <a:effectLst/>
                          <a:latin typeface="游ゴシック" panose="020B0400000000000000" pitchFamily="50" charset="-128"/>
                          <a:ea typeface="游ゴシック" panose="020B0400000000000000" pitchFamily="50" charset="-128"/>
                        </a:rPr>
                        <a:t>指示判定機能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受信した指示の</a:t>
                      </a:r>
                      <a:r>
                        <a:rPr lang="en-US" altLang="ja-JP" sz="1200" u="none" strike="noStrike" dirty="0">
                          <a:effectLst/>
                        </a:rPr>
                        <a:t>command(TRANSFER</a:t>
                      </a:r>
                      <a:r>
                        <a:rPr lang="ja-JP" altLang="en-US" sz="1200" u="none" strike="noStrike" dirty="0">
                          <a:effectLst/>
                        </a:rPr>
                        <a:t>、</a:t>
                      </a:r>
                      <a:r>
                        <a:rPr lang="en-US" altLang="ja-JP" sz="1200" u="none" strike="noStrike" dirty="0">
                          <a:effectLst/>
                        </a:rPr>
                        <a:t>STOP)</a:t>
                      </a:r>
                      <a:r>
                        <a:rPr lang="ja-JP" altLang="en-US" sz="1200" u="none" strike="noStrike" dirty="0">
                          <a:effectLst/>
                        </a:rPr>
                        <a:t>を判定し、実行する機能へ振り分ける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131052"/>
                  </a:ext>
                </a:extLst>
              </a:tr>
              <a:tr h="397064">
                <a:tc>
                  <a:txBody>
                    <a:bodyPr/>
                    <a:lstStyle/>
                    <a:p>
                      <a:pPr algn="l" fontAlgn="ctr">
                        <a:buNone/>
                      </a:pPr>
                      <a:r>
                        <a:rPr lang="zh-TW" altLang="en-US" sz="1400" b="1" u="none" strike="noStrike" dirty="0">
                          <a:effectLst/>
                          <a:latin typeface="游ゴシック" panose="020B0400000000000000" pitchFamily="50" charset="-128"/>
                          <a:ea typeface="游ゴシック" panose="020B0400000000000000" pitchFamily="50" charset="-128"/>
                        </a:rPr>
                        <a:t>指示実行機能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altLang="ja-JP" sz="1200" u="none" strike="noStrike" dirty="0">
                          <a:effectLst/>
                        </a:rPr>
                        <a:t>TRANSFER</a:t>
                      </a:r>
                      <a:r>
                        <a:rPr lang="ja-JP" altLang="en-US" sz="1200" u="none" strike="noStrike" dirty="0">
                          <a:effectLst/>
                        </a:rPr>
                        <a:t>指示を実行する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960940"/>
                  </a:ext>
                </a:extLst>
              </a:tr>
              <a:tr h="397064">
                <a:tc>
                  <a:txBody>
                    <a:bodyPr/>
                    <a:lstStyle/>
                    <a:p>
                      <a:pPr algn="l" fontAlgn="ctr">
                        <a:buNone/>
                      </a:pPr>
                      <a:r>
                        <a:rPr lang="zh-TW" altLang="en-US" sz="1400" b="1" i="0" u="none" strike="noStrike" dirty="0">
                          <a:solidFill>
                            <a:srgbClr val="000000"/>
                          </a:solidFill>
                          <a:effectLst/>
                          <a:latin typeface="游ゴシック" panose="020B0400000000000000" pitchFamily="50" charset="-128"/>
                          <a:ea typeface="游ゴシック" panose="020B0400000000000000" pitchFamily="50" charset="-128"/>
                        </a:rPr>
                        <a:t>停止指示実行機能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mn-ea"/>
                        </a:rPr>
                        <a:t>STOP</a:t>
                      </a:r>
                      <a:r>
                        <a:rPr lang="ja-JP" altLang="en-US" sz="1200" b="0" i="0" u="none" strike="noStrike" dirty="0">
                          <a:solidFill>
                            <a:srgbClr val="000000"/>
                          </a:solidFill>
                          <a:effectLst/>
                          <a:latin typeface="游ゴシック" panose="020B0400000000000000" pitchFamily="50" charset="-128"/>
                          <a:ea typeface="+mn-ea"/>
                        </a:rPr>
                        <a:t>指示を実行する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5045333"/>
                  </a:ext>
                </a:extLst>
              </a:tr>
              <a:tr h="397064">
                <a:tc>
                  <a:txBody>
                    <a:bodyPr/>
                    <a:lstStyle/>
                    <a:p>
                      <a:pPr algn="l" fontAlgn="ctr">
                        <a:buNone/>
                      </a:pPr>
                      <a:r>
                        <a:rPr lang="zh-TW" altLang="en-US" sz="1400" b="1" i="0" u="none" strike="noStrike" dirty="0">
                          <a:solidFill>
                            <a:srgbClr val="000000"/>
                          </a:solidFill>
                          <a:effectLst/>
                          <a:latin typeface="游ゴシック" panose="020B0400000000000000" pitchFamily="50" charset="-128"/>
                          <a:ea typeface="游ゴシック" panose="020B0400000000000000" pitchFamily="50" charset="-128"/>
                        </a:rPr>
                        <a:t>実行結果通知機能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mn-ea"/>
                        </a:rPr>
                        <a:t>JOB</a:t>
                      </a:r>
                      <a:r>
                        <a:rPr lang="ja-JP" altLang="en-US" sz="1200" b="0" i="0" u="none" strike="noStrike" dirty="0">
                          <a:solidFill>
                            <a:srgbClr val="000000"/>
                          </a:solidFill>
                          <a:effectLst/>
                          <a:latin typeface="游ゴシック" panose="020B0400000000000000" pitchFamily="50" charset="-128"/>
                          <a:ea typeface="+mn-ea"/>
                        </a:rPr>
                        <a:t>状態をサーバーへ通知する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668777"/>
                  </a:ext>
                </a:extLst>
              </a:tr>
            </a:tbl>
          </a:graphicData>
        </a:graphic>
      </p:graphicFrame>
    </p:spTree>
    <p:extLst>
      <p:ext uri="{BB962C8B-B14F-4D97-AF65-F5344CB8AC3E}">
        <p14:creationId xmlns:p14="http://schemas.microsoft.com/office/powerpoint/2010/main" val="90016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D5056-B1CF-6FFA-ED40-6C19BF467C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DBC553D-9960-C81F-861B-3F95E822CF5F}"/>
              </a:ext>
            </a:extLst>
          </p:cNvPr>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OVERVIEW</a:t>
            </a:r>
            <a:endParaRPr lang="en-US" sz="1300" dirty="0"/>
          </a:p>
        </p:txBody>
      </p:sp>
      <p:sp>
        <p:nvSpPr>
          <p:cNvPr id="3" name="Text 1">
            <a:extLst>
              <a:ext uri="{FF2B5EF4-FFF2-40B4-BE49-F238E27FC236}">
                <a16:creationId xmlns:a16="http://schemas.microsoft.com/office/drawing/2014/main" id="{C01E38A4-A408-26B0-650F-89A10834945F}"/>
              </a:ext>
            </a:extLst>
          </p:cNvPr>
          <p:cNvSpPr/>
          <p:nvPr/>
        </p:nvSpPr>
        <p:spPr>
          <a:xfrm>
            <a:off x="548640" y="621792"/>
            <a:ext cx="10515600" cy="640080"/>
          </a:xfrm>
          <a:prstGeom prst="rect">
            <a:avLst/>
          </a:prstGeom>
          <a:noFill/>
          <a:ln/>
        </p:spPr>
        <p:txBody>
          <a:bodyPr wrap="square" lIns="0" tIns="0" rIns="0" bIns="0" rtlCol="0" anchor="ctr"/>
          <a:lstStyle/>
          <a:p>
            <a:pPr marL="0" indent="0">
              <a:buNone/>
            </a:pPr>
            <a:r>
              <a:rPr lang="ja-JP" altLang="en-US" sz="3000" b="1" dirty="0">
                <a:solidFill>
                  <a:srgbClr val="1A2330"/>
                </a:solidFill>
                <a:latin typeface="Yu Gothic" pitchFamily="34" charset="0"/>
                <a:ea typeface="Yu Gothic" pitchFamily="34" charset="-122"/>
                <a:cs typeface="Yu Gothic" pitchFamily="34" charset="-120"/>
              </a:rPr>
              <a:t>機能一覧</a:t>
            </a:r>
            <a:endParaRPr lang="en-US" sz="3000" dirty="0"/>
          </a:p>
        </p:txBody>
      </p:sp>
      <p:sp>
        <p:nvSpPr>
          <p:cNvPr id="4" name="Shape 2">
            <a:extLst>
              <a:ext uri="{FF2B5EF4-FFF2-40B4-BE49-F238E27FC236}">
                <a16:creationId xmlns:a16="http://schemas.microsoft.com/office/drawing/2014/main" id="{55A89925-CC54-B82B-DDF5-9F07841BE43D}"/>
              </a:ext>
            </a:extLst>
          </p:cNvPr>
          <p:cNvSpPr/>
          <p:nvPr/>
        </p:nvSpPr>
        <p:spPr>
          <a:xfrm>
            <a:off x="213359" y="1261871"/>
            <a:ext cx="11430001" cy="4738096"/>
          </a:xfrm>
          <a:prstGeom prst="roundRect">
            <a:avLst>
              <a:gd name="adj" fmla="val 1800"/>
            </a:avLst>
          </a:prstGeom>
          <a:solidFill>
            <a:srgbClr val="FFFFFF"/>
          </a:solidFill>
          <a:ln/>
          <a:effectLst>
            <a:outerShdw blurRad="101600" dist="38100" dir="5400000" algn="bl" rotWithShape="0">
              <a:srgbClr val="0D1B2A">
                <a:alpha val="12000"/>
              </a:srgbClr>
            </a:outerShdw>
          </a:effectLst>
        </p:spPr>
        <p:txBody>
          <a:bodyPr/>
          <a:lstStyle/>
          <a:p>
            <a:endParaRPr lang="ja-JP" altLang="en-US" dirty="0"/>
          </a:p>
        </p:txBody>
      </p:sp>
      <p:sp>
        <p:nvSpPr>
          <p:cNvPr id="5" name="Text 3">
            <a:extLst>
              <a:ext uri="{FF2B5EF4-FFF2-40B4-BE49-F238E27FC236}">
                <a16:creationId xmlns:a16="http://schemas.microsoft.com/office/drawing/2014/main" id="{41C52CE6-7F79-96D7-D473-75AA167B89B3}"/>
              </a:ext>
            </a:extLst>
          </p:cNvPr>
          <p:cNvSpPr/>
          <p:nvPr/>
        </p:nvSpPr>
        <p:spPr>
          <a:xfrm>
            <a:off x="548640" y="1449575"/>
            <a:ext cx="5029200" cy="365760"/>
          </a:xfrm>
          <a:prstGeom prst="rect">
            <a:avLst/>
          </a:prstGeom>
          <a:noFill/>
          <a:ln/>
        </p:spPr>
        <p:txBody>
          <a:bodyPr wrap="square" lIns="0" tIns="0" rIns="0" bIns="0" rtlCol="0" anchor="ctr"/>
          <a:lstStyle/>
          <a:p>
            <a:pPr>
              <a:lnSpc>
                <a:spcPct val="115000"/>
              </a:lnSpc>
              <a:spcAft>
                <a:spcPts val="1000"/>
              </a:spcAft>
              <a:buSzPct val="100000"/>
            </a:pPr>
            <a:r>
              <a:rPr lang="ja-JP" altLang="en-US" sz="1600" b="1" dirty="0"/>
              <a:t>バックエンドサーバー</a:t>
            </a:r>
            <a:endParaRPr lang="en-US" altLang="ja-JP" sz="1600" b="1" dirty="0"/>
          </a:p>
        </p:txBody>
      </p:sp>
      <p:sp>
        <p:nvSpPr>
          <p:cNvPr id="6" name="Text 4">
            <a:extLst>
              <a:ext uri="{FF2B5EF4-FFF2-40B4-BE49-F238E27FC236}">
                <a16:creationId xmlns:a16="http://schemas.microsoft.com/office/drawing/2014/main" id="{2BC51B0E-D4AF-1397-52B8-0C982F6A5AF0}"/>
              </a:ext>
            </a:extLst>
          </p:cNvPr>
          <p:cNvSpPr/>
          <p:nvPr/>
        </p:nvSpPr>
        <p:spPr>
          <a:xfrm>
            <a:off x="548640" y="1881784"/>
            <a:ext cx="7683674" cy="4354419"/>
          </a:xfrm>
          <a:prstGeom prst="rect">
            <a:avLst/>
          </a:prstGeom>
          <a:noFill/>
          <a:ln/>
        </p:spPr>
        <p:txBody>
          <a:bodyPr wrap="square" rtlCol="0" anchor="t"/>
          <a:lstStyle/>
          <a:p>
            <a:pPr>
              <a:lnSpc>
                <a:spcPct val="115000"/>
              </a:lnSpc>
              <a:spcAft>
                <a:spcPts val="1000"/>
              </a:spcAft>
              <a:buSzPct val="100000"/>
            </a:pPr>
            <a:endParaRPr lang="en-US" sz="1200" dirty="0"/>
          </a:p>
        </p:txBody>
      </p:sp>
      <p:sp>
        <p:nvSpPr>
          <p:cNvPr id="31" name="Text 25">
            <a:extLst>
              <a:ext uri="{FF2B5EF4-FFF2-40B4-BE49-F238E27FC236}">
                <a16:creationId xmlns:a16="http://schemas.microsoft.com/office/drawing/2014/main" id="{84F01EEC-943C-6EEB-0C8A-4297903874AB}"/>
              </a:ext>
            </a:extLst>
          </p:cNvPr>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2" name="Text 26">
            <a:extLst>
              <a:ext uri="{FF2B5EF4-FFF2-40B4-BE49-F238E27FC236}">
                <a16:creationId xmlns:a16="http://schemas.microsoft.com/office/drawing/2014/main" id="{78A32402-A4D1-65AC-2B0B-8528D8070394}"/>
              </a:ext>
            </a:extLst>
          </p:cNvPr>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3</a:t>
            </a:r>
            <a:endParaRPr lang="en-US" sz="900" dirty="0"/>
          </a:p>
        </p:txBody>
      </p:sp>
      <p:graphicFrame>
        <p:nvGraphicFramePr>
          <p:cNvPr id="12" name="表 11">
            <a:extLst>
              <a:ext uri="{FF2B5EF4-FFF2-40B4-BE49-F238E27FC236}">
                <a16:creationId xmlns:a16="http://schemas.microsoft.com/office/drawing/2014/main" id="{D016E97C-47B5-3464-BCB5-CEE32E0B2BBB}"/>
              </a:ext>
            </a:extLst>
          </p:cNvPr>
          <p:cNvGraphicFramePr>
            <a:graphicFrameLocks noGrp="1"/>
          </p:cNvGraphicFramePr>
          <p:nvPr>
            <p:extLst>
              <p:ext uri="{D42A27DB-BD31-4B8C-83A1-F6EECF244321}">
                <p14:modId xmlns:p14="http://schemas.microsoft.com/office/powerpoint/2010/main" val="1018195873"/>
              </p:ext>
            </p:extLst>
          </p:nvPr>
        </p:nvGraphicFramePr>
        <p:xfrm>
          <a:off x="431521" y="1852970"/>
          <a:ext cx="10979690" cy="4007355"/>
        </p:xfrm>
        <a:graphic>
          <a:graphicData uri="http://schemas.openxmlformats.org/drawingml/2006/table">
            <a:tbl>
              <a:tblPr>
                <a:tableStyleId>{5C22544A-7EE6-4342-B048-85BDC9FD1C3A}</a:tableStyleId>
              </a:tblPr>
              <a:tblGrid>
                <a:gridCol w="3251131">
                  <a:extLst>
                    <a:ext uri="{9D8B030D-6E8A-4147-A177-3AD203B41FA5}">
                      <a16:colId xmlns:a16="http://schemas.microsoft.com/office/drawing/2014/main" val="2471455318"/>
                    </a:ext>
                  </a:extLst>
                </a:gridCol>
                <a:gridCol w="7728559">
                  <a:extLst>
                    <a:ext uri="{9D8B030D-6E8A-4147-A177-3AD203B41FA5}">
                      <a16:colId xmlns:a16="http://schemas.microsoft.com/office/drawing/2014/main" val="2647594748"/>
                    </a:ext>
                  </a:extLst>
                </a:gridCol>
              </a:tblGrid>
              <a:tr h="364305">
                <a:tc>
                  <a:txBody>
                    <a:bodyPr/>
                    <a:lstStyle/>
                    <a:p>
                      <a:pPr algn="ctr" fontAlgn="ctr">
                        <a:buNone/>
                      </a:pPr>
                      <a:r>
                        <a:rPr lang="ja-JP" altLang="en-US" sz="1400" b="1" i="0" u="none" strike="noStrike" dirty="0">
                          <a:solidFill>
                            <a:schemeClr val="tx1"/>
                          </a:solidFill>
                          <a:effectLst/>
                          <a:latin typeface="Segoe UI Symbol" panose="020B0502040204020203" pitchFamily="34" charset="0"/>
                          <a:ea typeface="游ゴシック" panose="020B0400000000000000" pitchFamily="50" charset="-128"/>
                        </a:rPr>
                        <a:t>機能</a:t>
                      </a:r>
                      <a:endParaRPr lang="ja-JP" sz="1400" b="1" i="0" u="none" strike="noStrike" dirty="0">
                        <a:solidFill>
                          <a:schemeClr val="tx1"/>
                        </a:solidFill>
                        <a:effectLst/>
                        <a:latin typeface="Segoe UI Symbol" panose="020B0502040204020203" pitchFamily="34" charset="0"/>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概要</a:t>
                      </a:r>
                      <a:endParaRPr lang="ja-JP" sz="12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038780"/>
                  </a:ext>
                </a:extLst>
              </a:tr>
              <a:tr h="364305">
                <a:tc>
                  <a:txBody>
                    <a:bodyPr/>
                    <a:lstStyle/>
                    <a:p>
                      <a:pPr algn="l" fontAlgn="ctr">
                        <a:buNone/>
                      </a:pPr>
                      <a:r>
                        <a:rPr lang="ja-JP" altLang="en-US" sz="1400" b="1" u="none" strike="noStrike" dirty="0">
                          <a:effectLst/>
                          <a:latin typeface="+mn-ea"/>
                          <a:ea typeface="+mn-ea"/>
                        </a:rPr>
                        <a:t>画面提供機能</a:t>
                      </a:r>
                      <a:endParaRPr lang="ja-JP" sz="1400" b="1" i="0" u="none" strike="noStrike" dirty="0">
                        <a:solidFill>
                          <a:srgbClr val="00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スマホ（</a:t>
                      </a:r>
                      <a:r>
                        <a:rPr lang="en-US" altLang="ja-JP" sz="1200" u="none" strike="noStrike" dirty="0">
                          <a:effectLst/>
                        </a:rPr>
                        <a:t>PWA</a:t>
                      </a:r>
                      <a:r>
                        <a:rPr lang="ja-JP" altLang="en-US" sz="1200" u="none" strike="noStrike" dirty="0">
                          <a:effectLst/>
                        </a:rPr>
                        <a:t>）からのアクセスに対し、画面の枠組み（</a:t>
                      </a:r>
                      <a:r>
                        <a:rPr lang="en-US" altLang="ja-JP" sz="1200" u="none" strike="noStrike" dirty="0">
                          <a:effectLst/>
                        </a:rPr>
                        <a:t>Razor Pages</a:t>
                      </a:r>
                      <a:r>
                        <a:rPr lang="ja-JP" altLang="en-US" sz="1200" u="none" strike="noStrike" dirty="0">
                          <a:effectLst/>
                        </a:rPr>
                        <a:t>）を返却</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55430"/>
                  </a:ext>
                </a:extLst>
              </a:tr>
              <a:tr h="364305">
                <a:tc>
                  <a:txBody>
                    <a:bodyPr/>
                    <a:lstStyle/>
                    <a:p>
                      <a:pPr algn="l" fontAlgn="ctr">
                        <a:buNone/>
                      </a:pPr>
                      <a:r>
                        <a:rPr lang="zh-TW" altLang="en-US" sz="1400" b="1" u="none" strike="noStrike" dirty="0">
                          <a:effectLst/>
                          <a:latin typeface="游ゴシック" panose="020B0400000000000000" pitchFamily="50" charset="-128"/>
                          <a:ea typeface="游ゴシック" panose="020B0400000000000000" pitchFamily="50" charset="-128"/>
                        </a:rPr>
                        <a:t>各種状態取得機能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棚在庫、全保管棚、</a:t>
                      </a:r>
                      <a:r>
                        <a:rPr lang="en-US" altLang="ja-JP" sz="1200" u="none" strike="noStrike" dirty="0">
                          <a:effectLst/>
                        </a:rPr>
                        <a:t>JOB</a:t>
                      </a:r>
                      <a:r>
                        <a:rPr lang="ja-JP" altLang="en-US" sz="1200" u="none" strike="noStrike" dirty="0">
                          <a:effectLst/>
                        </a:rPr>
                        <a:t>一覧、履歴ログの最新データを</a:t>
                      </a:r>
                      <a:r>
                        <a:rPr lang="en-US" altLang="ja-JP" sz="1200" u="none" strike="noStrike" dirty="0">
                          <a:effectLst/>
                        </a:rPr>
                        <a:t>DB</a:t>
                      </a:r>
                      <a:r>
                        <a:rPr lang="ja-JP" altLang="en-US" sz="1200" u="none" strike="noStrike" dirty="0">
                          <a:effectLst/>
                        </a:rPr>
                        <a:t>から取得して返却</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5894337"/>
                  </a:ext>
                </a:extLst>
              </a:tr>
              <a:tr h="364305">
                <a:tc>
                  <a:txBody>
                    <a:bodyPr/>
                    <a:lstStyle/>
                    <a:p>
                      <a:pPr algn="l" fontAlgn="ctr">
                        <a:buNone/>
                      </a:pPr>
                      <a:r>
                        <a:rPr lang="zh-TW" altLang="en-US" sz="1400" b="1" u="none" strike="noStrike" dirty="0">
                          <a:effectLst/>
                          <a:latin typeface="游ゴシック" panose="020B0400000000000000" pitchFamily="50" charset="-128"/>
                          <a:ea typeface="游ゴシック" panose="020B0400000000000000" pitchFamily="50" charset="-128"/>
                        </a:rPr>
                        <a:t>搬送</a:t>
                      </a:r>
                      <a:r>
                        <a:rPr lang="en-US" altLang="zh-TW" sz="1400" b="1" u="none" strike="noStrike" dirty="0">
                          <a:effectLst/>
                          <a:latin typeface="游ゴシック" panose="020B0400000000000000" pitchFamily="50" charset="-128"/>
                          <a:ea typeface="游ゴシック" panose="020B0400000000000000" pitchFamily="50" charset="-128"/>
                        </a:rPr>
                        <a:t>JOB</a:t>
                      </a:r>
                      <a:r>
                        <a:rPr lang="zh-TW" altLang="en-US" sz="1400" b="1" u="none" strike="noStrike" dirty="0">
                          <a:effectLst/>
                          <a:latin typeface="游ゴシック" panose="020B0400000000000000" pitchFamily="50" charset="-128"/>
                          <a:ea typeface="游ゴシック" panose="020B0400000000000000" pitchFamily="50" charset="-128"/>
                        </a:rPr>
                        <a:t>生成機能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スマホからの要求を受信し、重複や空き棚チェック後に新規</a:t>
                      </a:r>
                      <a:r>
                        <a:rPr lang="en-US" altLang="ja-JP" sz="1200" u="none" strike="noStrike" dirty="0">
                          <a:effectLst/>
                        </a:rPr>
                        <a:t>JOB</a:t>
                      </a:r>
                      <a:r>
                        <a:rPr lang="ja-JP" altLang="en-US" sz="1200" u="none" strike="noStrike" dirty="0">
                          <a:effectLst/>
                        </a:rPr>
                        <a:t>を採番、</a:t>
                      </a:r>
                      <a:r>
                        <a:rPr lang="en-US" altLang="ja-JP" sz="1200" u="none" strike="noStrike" dirty="0">
                          <a:effectLst/>
                        </a:rPr>
                        <a:t>DB</a:t>
                      </a:r>
                      <a:r>
                        <a:rPr lang="ja-JP" altLang="en-US" sz="1200" u="none" strike="noStrike" dirty="0">
                          <a:effectLst/>
                        </a:rPr>
                        <a:t>へ「未処理」として登録</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2171099"/>
                  </a:ext>
                </a:extLst>
              </a:tr>
              <a:tr h="364305">
                <a:tc>
                  <a:txBody>
                    <a:bodyPr/>
                    <a:lstStyle/>
                    <a:p>
                      <a:pPr algn="l" fontAlgn="ctr">
                        <a:buNone/>
                      </a:pPr>
                      <a:r>
                        <a:rPr lang="en-US" altLang="zh-TW" sz="1400" b="1" u="none" strike="noStrike" dirty="0">
                          <a:effectLst/>
                          <a:latin typeface="游ゴシック" panose="020B0400000000000000" pitchFamily="50" charset="-128"/>
                          <a:ea typeface="游ゴシック" panose="020B0400000000000000" pitchFamily="50" charset="-128"/>
                        </a:rPr>
                        <a:t>JOB</a:t>
                      </a:r>
                      <a:r>
                        <a:rPr lang="zh-TW" altLang="en-US" sz="1400" b="1" u="none" strike="noStrike" dirty="0">
                          <a:effectLst/>
                          <a:latin typeface="游ゴシック" panose="020B0400000000000000" pitchFamily="50" charset="-128"/>
                          <a:ea typeface="游ゴシック" panose="020B0400000000000000" pitchFamily="50" charset="-128"/>
                        </a:rPr>
                        <a:t>削除機能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指定</a:t>
                      </a:r>
                      <a:r>
                        <a:rPr lang="en-US" altLang="ja-JP" sz="1200" u="none" strike="noStrike" dirty="0">
                          <a:effectLst/>
                        </a:rPr>
                        <a:t>JOB</a:t>
                      </a:r>
                      <a:r>
                        <a:rPr lang="ja-JP" altLang="en-US" sz="1200" u="none" strike="noStrike" dirty="0">
                          <a:effectLst/>
                        </a:rPr>
                        <a:t>が「搬送中」でないなら</a:t>
                      </a:r>
                      <a:r>
                        <a:rPr lang="en-US" altLang="ja-JP" sz="1200" u="none" strike="noStrike" dirty="0">
                          <a:effectLst/>
                        </a:rPr>
                        <a:t>JOB</a:t>
                      </a:r>
                      <a:r>
                        <a:rPr lang="ja-JP" altLang="en-US" sz="1200" u="none" strike="noStrike" dirty="0">
                          <a:effectLst/>
                        </a:rPr>
                        <a:t>を物理削除する。すでにスタブが搬送中の場合はキャンセル不可</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131052"/>
                  </a:ext>
                </a:extLst>
              </a:tr>
              <a:tr h="364305">
                <a:tc>
                  <a:txBody>
                    <a:bodyPr/>
                    <a:lstStyle/>
                    <a:p>
                      <a:pPr algn="l" fontAlgn="ctr">
                        <a:buNone/>
                      </a:pPr>
                      <a:r>
                        <a:rPr lang="zh-TW" altLang="en-US" sz="1400" b="1" u="none" strike="noStrike" dirty="0">
                          <a:effectLst/>
                          <a:latin typeface="游ゴシック" panose="020B0400000000000000" pitchFamily="50" charset="-128"/>
                          <a:ea typeface="游ゴシック" panose="020B0400000000000000" pitchFamily="50" charset="-128"/>
                        </a:rPr>
                        <a:t>停止指令送信機能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u="none" strike="noStrike" dirty="0">
                          <a:effectLst/>
                        </a:rPr>
                        <a:t>画面からの停止要求を受け、対象スタブへ</a:t>
                      </a:r>
                      <a:r>
                        <a:rPr lang="en-US" altLang="ja-JP" sz="1200" u="none" strike="noStrike" dirty="0" err="1">
                          <a:effectLst/>
                        </a:rPr>
                        <a:t>HttpClient</a:t>
                      </a:r>
                      <a:r>
                        <a:rPr lang="ja-JP" altLang="en-US" sz="1200" u="none" strike="noStrike" dirty="0">
                          <a:effectLst/>
                        </a:rPr>
                        <a:t>を用いて即座に「</a:t>
                      </a:r>
                      <a:r>
                        <a:rPr lang="en-US" altLang="ja-JP" sz="1200" u="none" strike="noStrike" dirty="0">
                          <a:effectLst/>
                        </a:rPr>
                        <a:t>STOP</a:t>
                      </a:r>
                      <a:r>
                        <a:rPr lang="ja-JP" altLang="en-US" sz="1200" u="none" strike="noStrike" dirty="0">
                          <a:effectLst/>
                        </a:rPr>
                        <a:t>コマンド」をプッシュ送信する。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960940"/>
                  </a:ext>
                </a:extLst>
              </a:tr>
              <a:tr h="364305">
                <a:tc>
                  <a:txBody>
                    <a:bodyPr/>
                    <a:lstStyle/>
                    <a:p>
                      <a:pPr algn="l" fontAlgn="ctr">
                        <a:buNone/>
                      </a:pPr>
                      <a:r>
                        <a:rPr lang="ja-JP" altLang="en-US" sz="1400" b="1" i="0" u="none" strike="noStrike" dirty="0">
                          <a:solidFill>
                            <a:srgbClr val="000000"/>
                          </a:solidFill>
                          <a:effectLst/>
                          <a:latin typeface="游ゴシック" panose="020B0400000000000000" pitchFamily="50" charset="-128"/>
                          <a:ea typeface="游ゴシック" panose="020B0400000000000000" pitchFamily="50" charset="-128"/>
                        </a:rPr>
                        <a:t>オンライン通知受付機能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b="0" i="0" u="none" strike="noStrike" dirty="0">
                          <a:solidFill>
                            <a:srgbClr val="000000"/>
                          </a:solidFill>
                          <a:effectLst/>
                          <a:latin typeface="游ゴシック" panose="020B0400000000000000" pitchFamily="50" charset="-128"/>
                          <a:ea typeface="+mn-ea"/>
                        </a:rPr>
                        <a:t>スタブ起動時の通知を受け、</a:t>
                      </a:r>
                      <a:r>
                        <a:rPr lang="en-US" altLang="ja-JP" sz="1200" b="0" i="0" u="none" strike="noStrike" dirty="0">
                          <a:solidFill>
                            <a:srgbClr val="000000"/>
                          </a:solidFill>
                          <a:effectLst/>
                          <a:latin typeface="游ゴシック" panose="020B0400000000000000" pitchFamily="50" charset="-128"/>
                          <a:ea typeface="+mn-ea"/>
                        </a:rPr>
                        <a:t>DB</a:t>
                      </a:r>
                      <a:r>
                        <a:rPr lang="ja-JP" altLang="en-US" sz="1200" b="0" i="0" u="none" strike="noStrike" dirty="0">
                          <a:solidFill>
                            <a:srgbClr val="000000"/>
                          </a:solidFill>
                          <a:effectLst/>
                          <a:latin typeface="游ゴシック" panose="020B0400000000000000" pitchFamily="50" charset="-128"/>
                          <a:ea typeface="+mn-ea"/>
                        </a:rPr>
                        <a:t>の保管棚状態を「</a:t>
                      </a:r>
                      <a:r>
                        <a:rPr lang="en-US" altLang="ja-JP" sz="1200" b="0" i="0" u="none" strike="noStrike" dirty="0">
                          <a:solidFill>
                            <a:srgbClr val="000000"/>
                          </a:solidFill>
                          <a:effectLst/>
                          <a:latin typeface="游ゴシック" panose="020B0400000000000000" pitchFamily="50" charset="-128"/>
                          <a:ea typeface="+mn-ea"/>
                        </a:rPr>
                        <a:t>ONLINE/IDLE</a:t>
                      </a:r>
                      <a:r>
                        <a:rPr lang="ja-JP" altLang="en-US" sz="1200" b="0" i="0" u="none" strike="noStrike" dirty="0">
                          <a:solidFill>
                            <a:srgbClr val="000000"/>
                          </a:solidFill>
                          <a:effectLst/>
                          <a:latin typeface="游ゴシック" panose="020B0400000000000000" pitchFamily="50" charset="-128"/>
                          <a:ea typeface="+mn-ea"/>
                        </a:rPr>
                        <a:t>」に更新し、開始ログを記録する。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5045333"/>
                  </a:ext>
                </a:extLst>
              </a:tr>
              <a:tr h="364305">
                <a:tc>
                  <a:txBody>
                    <a:bodyPr/>
                    <a:lstStyle/>
                    <a:p>
                      <a:pPr algn="l" fontAlgn="ctr">
                        <a:buNone/>
                      </a:pPr>
                      <a:r>
                        <a:rPr lang="en-US" altLang="zh-TW" sz="1400" b="1" i="0" u="none" strike="noStrike" dirty="0">
                          <a:solidFill>
                            <a:srgbClr val="000000"/>
                          </a:solidFill>
                          <a:effectLst/>
                          <a:latin typeface="游ゴシック" panose="020B0400000000000000" pitchFamily="50" charset="-128"/>
                          <a:ea typeface="游ゴシック" panose="020B0400000000000000" pitchFamily="50" charset="-128"/>
                        </a:rPr>
                        <a:t>JOB</a:t>
                      </a:r>
                      <a:r>
                        <a:rPr lang="zh-TW" altLang="en-US" sz="1400" b="1" i="0" u="none" strike="noStrike" dirty="0">
                          <a:solidFill>
                            <a:srgbClr val="000000"/>
                          </a:solidFill>
                          <a:effectLst/>
                          <a:latin typeface="游ゴシック" panose="020B0400000000000000" pitchFamily="50" charset="-128"/>
                          <a:ea typeface="游ゴシック" panose="020B0400000000000000" pitchFamily="50" charset="-128"/>
                        </a:rPr>
                        <a:t>自動配信機能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mn-ea"/>
                        </a:rPr>
                        <a:t>DB</a:t>
                      </a:r>
                      <a:r>
                        <a:rPr lang="ja-JP" altLang="en-US" sz="1200" b="0" i="0" u="none" strike="noStrike" dirty="0">
                          <a:solidFill>
                            <a:srgbClr val="000000"/>
                          </a:solidFill>
                          <a:effectLst/>
                          <a:latin typeface="游ゴシック" panose="020B0400000000000000" pitchFamily="50" charset="-128"/>
                          <a:ea typeface="+mn-ea"/>
                        </a:rPr>
                        <a:t>から「</a:t>
                      </a:r>
                      <a:r>
                        <a:rPr lang="en-US" altLang="ja-JP" sz="1200" b="0" i="0" u="none" strike="noStrike" dirty="0">
                          <a:solidFill>
                            <a:srgbClr val="000000"/>
                          </a:solidFill>
                          <a:effectLst/>
                          <a:latin typeface="游ゴシック" panose="020B0400000000000000" pitchFamily="50" charset="-128"/>
                          <a:ea typeface="+mn-ea"/>
                        </a:rPr>
                        <a:t>ONLINE</a:t>
                      </a:r>
                      <a:r>
                        <a:rPr lang="ja-JP" altLang="en-US" sz="1200" b="0" i="0" u="none" strike="noStrike" dirty="0">
                          <a:solidFill>
                            <a:srgbClr val="000000"/>
                          </a:solidFill>
                          <a:effectLst/>
                          <a:latin typeface="游ゴシック" panose="020B0400000000000000" pitchFamily="50" charset="-128"/>
                          <a:ea typeface="+mn-ea"/>
                        </a:rPr>
                        <a:t>かつ</a:t>
                      </a:r>
                      <a:r>
                        <a:rPr lang="en-US" altLang="ja-JP" sz="1200" b="0" i="0" u="none" strike="noStrike" dirty="0">
                          <a:solidFill>
                            <a:srgbClr val="000000"/>
                          </a:solidFill>
                          <a:effectLst/>
                          <a:latin typeface="游ゴシック" panose="020B0400000000000000" pitchFamily="50" charset="-128"/>
                          <a:ea typeface="+mn-ea"/>
                        </a:rPr>
                        <a:t>IDLE</a:t>
                      </a:r>
                      <a:r>
                        <a:rPr lang="ja-JP" altLang="en-US" sz="1200" b="0" i="0" u="none" strike="noStrike" dirty="0">
                          <a:solidFill>
                            <a:srgbClr val="000000"/>
                          </a:solidFill>
                          <a:effectLst/>
                          <a:latin typeface="游ゴシック" panose="020B0400000000000000" pitchFamily="50" charset="-128"/>
                          <a:ea typeface="+mn-ea"/>
                        </a:rPr>
                        <a:t>」のスタブと「未処理」</a:t>
                      </a:r>
                      <a:r>
                        <a:rPr lang="en-US" altLang="ja-JP" sz="1200" b="0" i="0" u="none" strike="noStrike" dirty="0">
                          <a:solidFill>
                            <a:srgbClr val="000000"/>
                          </a:solidFill>
                          <a:effectLst/>
                          <a:latin typeface="游ゴシック" panose="020B0400000000000000" pitchFamily="50" charset="-128"/>
                          <a:ea typeface="+mn-ea"/>
                        </a:rPr>
                        <a:t>JOB</a:t>
                      </a:r>
                      <a:r>
                        <a:rPr lang="ja-JP" altLang="en-US" sz="1200" b="0" i="0" u="none" strike="noStrike" dirty="0">
                          <a:solidFill>
                            <a:srgbClr val="000000"/>
                          </a:solidFill>
                          <a:effectLst/>
                          <a:latin typeface="游ゴシック" panose="020B0400000000000000" pitchFamily="50" charset="-128"/>
                          <a:ea typeface="+mn-ea"/>
                        </a:rPr>
                        <a:t>を検出して、自動でプッシュ送信する。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668777"/>
                  </a:ext>
                </a:extLst>
              </a:tr>
              <a:tr h="364305">
                <a:tc>
                  <a:txBody>
                    <a:bodyPr/>
                    <a:lstStyle/>
                    <a:p>
                      <a:pPr algn="l" fontAlgn="ctr">
                        <a:buNone/>
                      </a:pPr>
                      <a:r>
                        <a:rPr lang="zh-TW" altLang="en-US" sz="1400" b="1" i="0" u="none" strike="noStrike" dirty="0">
                          <a:solidFill>
                            <a:srgbClr val="000000"/>
                          </a:solidFill>
                          <a:effectLst/>
                          <a:latin typeface="游ゴシック" panose="020B0400000000000000" pitchFamily="50" charset="-128"/>
                          <a:ea typeface="游ゴシック" panose="020B0400000000000000" pitchFamily="50" charset="-128"/>
                        </a:rPr>
                        <a:t>定期指示取得受付機能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b="0" i="0" u="none" strike="noStrike" dirty="0">
                          <a:solidFill>
                            <a:srgbClr val="000000"/>
                          </a:solidFill>
                          <a:effectLst/>
                          <a:latin typeface="游ゴシック" panose="020B0400000000000000" pitchFamily="50" charset="-128"/>
                          <a:ea typeface="+mn-ea"/>
                        </a:rPr>
                        <a:t>スタブからの</a:t>
                      </a:r>
                      <a:r>
                        <a:rPr lang="en-US" altLang="ja-JP" sz="1200" b="0" i="0" u="none" strike="noStrike" dirty="0">
                          <a:solidFill>
                            <a:srgbClr val="000000"/>
                          </a:solidFill>
                          <a:effectLst/>
                          <a:latin typeface="游ゴシック" panose="020B0400000000000000" pitchFamily="50" charset="-128"/>
                          <a:ea typeface="+mn-ea"/>
                        </a:rPr>
                        <a:t>5</a:t>
                      </a:r>
                      <a:r>
                        <a:rPr lang="ja-JP" altLang="en-US" sz="1200" b="0" i="0" u="none" strike="noStrike" dirty="0">
                          <a:solidFill>
                            <a:srgbClr val="000000"/>
                          </a:solidFill>
                          <a:effectLst/>
                          <a:latin typeface="游ゴシック" panose="020B0400000000000000" pitchFamily="50" charset="-128"/>
                          <a:ea typeface="+mn-ea"/>
                        </a:rPr>
                        <a:t>秒毎の確認を受け、未処理</a:t>
                      </a:r>
                      <a:r>
                        <a:rPr lang="en-US" altLang="ja-JP" sz="1200" b="0" i="0" u="none" strike="noStrike" dirty="0">
                          <a:solidFill>
                            <a:srgbClr val="000000"/>
                          </a:solidFill>
                          <a:effectLst/>
                          <a:latin typeface="游ゴシック" panose="020B0400000000000000" pitchFamily="50" charset="-128"/>
                          <a:ea typeface="+mn-ea"/>
                        </a:rPr>
                        <a:t>JOB</a:t>
                      </a:r>
                      <a:r>
                        <a:rPr lang="ja-JP" altLang="en-US" sz="1200" b="0" i="0" u="none" strike="noStrike" dirty="0">
                          <a:solidFill>
                            <a:srgbClr val="000000"/>
                          </a:solidFill>
                          <a:effectLst/>
                          <a:latin typeface="游ゴシック" panose="020B0400000000000000" pitchFamily="50" charset="-128"/>
                          <a:ea typeface="+mn-ea"/>
                        </a:rPr>
                        <a:t>があれば引き当ててスタブへ返却する。</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077163"/>
                  </a:ext>
                </a:extLst>
              </a:tr>
              <a:tr h="364305">
                <a:tc>
                  <a:txBody>
                    <a:bodyPr/>
                    <a:lstStyle/>
                    <a:p>
                      <a:pPr algn="l" fontAlgn="ctr">
                        <a:buNone/>
                      </a:pPr>
                      <a:r>
                        <a:rPr lang="ja-JP" altLang="en-US" sz="1400" b="1" i="0" u="none" strike="noStrike" dirty="0">
                          <a:solidFill>
                            <a:srgbClr val="000000"/>
                          </a:solidFill>
                          <a:effectLst/>
                          <a:latin typeface="游ゴシック" panose="020B0400000000000000" pitchFamily="50" charset="-128"/>
                          <a:ea typeface="游ゴシック" panose="020B0400000000000000" pitchFamily="50" charset="-128"/>
                        </a:rPr>
                        <a:t>搬送状態・結果報告受付機能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b="0" i="0" u="none" strike="noStrike" dirty="0">
                          <a:solidFill>
                            <a:srgbClr val="000000"/>
                          </a:solidFill>
                          <a:effectLst/>
                          <a:latin typeface="游ゴシック" panose="020B0400000000000000" pitchFamily="50" charset="-128"/>
                          <a:ea typeface="+mn-ea"/>
                        </a:rPr>
                        <a:t>スタブからの進捗報告（</a:t>
                      </a:r>
                      <a:r>
                        <a:rPr lang="en-US" altLang="ja-JP" sz="1200" b="0" i="0" u="none" strike="noStrike" dirty="0">
                          <a:solidFill>
                            <a:srgbClr val="000000"/>
                          </a:solidFill>
                          <a:effectLst/>
                          <a:latin typeface="游ゴシック" panose="020B0400000000000000" pitchFamily="50" charset="-128"/>
                          <a:ea typeface="+mn-ea"/>
                        </a:rPr>
                        <a:t>RUNNING / COMPLETED / ABORTED</a:t>
                      </a:r>
                      <a:r>
                        <a:rPr lang="ja-JP" altLang="en-US" sz="1200" b="0" i="0" u="none" strike="noStrike" dirty="0">
                          <a:solidFill>
                            <a:srgbClr val="000000"/>
                          </a:solidFill>
                          <a:effectLst/>
                          <a:latin typeface="游ゴシック" panose="020B0400000000000000" pitchFamily="50" charset="-128"/>
                          <a:ea typeface="+mn-ea"/>
                        </a:rPr>
                        <a:t>）を受信し、以下の通り連動更新を行う。</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4734428"/>
                  </a:ext>
                </a:extLst>
              </a:tr>
              <a:tr h="364305">
                <a:tc>
                  <a:txBody>
                    <a:bodyPr/>
                    <a:lstStyle/>
                    <a:p>
                      <a:pPr algn="l" fontAlgn="ctr">
                        <a:buNone/>
                      </a:pPr>
                      <a:r>
                        <a:rPr lang="ja-JP" altLang="en-US" sz="1400" b="1" i="0" u="none" strike="noStrike" dirty="0">
                          <a:solidFill>
                            <a:srgbClr val="000000"/>
                          </a:solidFill>
                          <a:effectLst/>
                          <a:latin typeface="游ゴシック" panose="020B0400000000000000" pitchFamily="50" charset="-128"/>
                          <a:ea typeface="游ゴシック" panose="020B0400000000000000" pitchFamily="50" charset="-128"/>
                        </a:rPr>
                        <a:t>スタブ死活監視機能</a:t>
                      </a:r>
                      <a:endParaRPr lang="ja-JP"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ja-JP" altLang="en-US" sz="1200" b="0" i="0" u="none" strike="noStrike" dirty="0">
                          <a:solidFill>
                            <a:srgbClr val="000000"/>
                          </a:solidFill>
                          <a:effectLst/>
                          <a:latin typeface="游ゴシック" panose="020B0400000000000000" pitchFamily="50" charset="-128"/>
                          <a:ea typeface="+mn-ea"/>
                        </a:rPr>
                        <a:t>現在時刻と最終通信時刻をチェック行う。スタブとの通信が発生する度に</a:t>
                      </a:r>
                      <a:r>
                        <a:rPr lang="en-US" altLang="ja-JP" sz="1200" b="0" i="0" u="none" strike="noStrike" dirty="0">
                          <a:solidFill>
                            <a:srgbClr val="000000"/>
                          </a:solidFill>
                          <a:effectLst/>
                          <a:latin typeface="游ゴシック" panose="020B0400000000000000" pitchFamily="50" charset="-128"/>
                          <a:ea typeface="+mn-ea"/>
                        </a:rPr>
                        <a:t>DB</a:t>
                      </a:r>
                      <a:r>
                        <a:rPr lang="ja-JP" altLang="en-US" sz="1200" b="0" i="0" u="none" strike="noStrike" dirty="0">
                          <a:solidFill>
                            <a:srgbClr val="000000"/>
                          </a:solidFill>
                          <a:effectLst/>
                          <a:latin typeface="游ゴシック" panose="020B0400000000000000" pitchFamily="50" charset="-128"/>
                          <a:ea typeface="+mn-ea"/>
                        </a:rPr>
                        <a:t>上の最終通信時刻を更新。</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792640"/>
                  </a:ext>
                </a:extLst>
              </a:tr>
            </a:tbl>
          </a:graphicData>
        </a:graphic>
      </p:graphicFrame>
    </p:spTree>
    <p:extLst>
      <p:ext uri="{BB962C8B-B14F-4D97-AF65-F5344CB8AC3E}">
        <p14:creationId xmlns:p14="http://schemas.microsoft.com/office/powerpoint/2010/main" val="2448224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ARCHITECTURE</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システム全体構成（3層構造）</a:t>
            </a:r>
            <a:endParaRPr lang="en-US" sz="3000" dirty="0"/>
          </a:p>
        </p:txBody>
      </p:sp>
      <p:sp>
        <p:nvSpPr>
          <p:cNvPr id="4" name="Shape 2"/>
          <p:cNvSpPr/>
          <p:nvPr/>
        </p:nvSpPr>
        <p:spPr>
          <a:xfrm>
            <a:off x="682283" y="2384474"/>
            <a:ext cx="3017520" cy="2011680"/>
          </a:xfrm>
          <a:prstGeom prst="roundRect">
            <a:avLst>
              <a:gd name="adj" fmla="val 4091"/>
            </a:avLst>
          </a:prstGeom>
          <a:solidFill>
            <a:srgbClr val="1565C0"/>
          </a:solidFill>
          <a:ln/>
          <a:effectLst>
            <a:outerShdw blurRad="101600" dist="38100" dir="5400000" algn="bl" rotWithShape="0">
              <a:srgbClr val="0D1B2A">
                <a:alpha val="12000"/>
              </a:srgbClr>
            </a:outerShdw>
          </a:effectLst>
        </p:spPr>
        <p:txBody>
          <a:bodyPr/>
          <a:lstStyle/>
          <a:p>
            <a:endParaRPr lang="ja-JP" altLang="en-US"/>
          </a:p>
        </p:txBody>
      </p:sp>
      <p:sp>
        <p:nvSpPr>
          <p:cNvPr id="5" name="Shape 3"/>
          <p:cNvSpPr/>
          <p:nvPr/>
        </p:nvSpPr>
        <p:spPr>
          <a:xfrm>
            <a:off x="1828800" y="2633472"/>
            <a:ext cx="640080" cy="640080"/>
          </a:xfrm>
          <a:prstGeom prst="ellipse">
            <a:avLst/>
          </a:prstGeom>
          <a:solidFill>
            <a:srgbClr val="FFFFFF"/>
          </a:solidFill>
          <a:ln/>
        </p:spPr>
        <p:txBody>
          <a:bodyPr/>
          <a:lstStyle/>
          <a:p>
            <a:endParaRPr lang="ja-JP" altLang="en-US"/>
          </a:p>
        </p:txBody>
      </p:sp>
      <p:pic>
        <p:nvPicPr>
          <p:cNvPr id="6" name="Image 0" descr="images/icons/icon_mobile.png"/>
          <p:cNvPicPr>
            <a:picLocks noChangeAspect="1"/>
          </p:cNvPicPr>
          <p:nvPr/>
        </p:nvPicPr>
        <p:blipFill>
          <a:blip r:embed="rId3"/>
          <a:stretch>
            <a:fillRect/>
          </a:stretch>
        </p:blipFill>
        <p:spPr>
          <a:xfrm>
            <a:off x="1995221" y="2799893"/>
            <a:ext cx="307238" cy="307238"/>
          </a:xfrm>
          <a:prstGeom prst="rect">
            <a:avLst/>
          </a:prstGeom>
        </p:spPr>
      </p:pic>
      <p:sp>
        <p:nvSpPr>
          <p:cNvPr id="7" name="Text 4"/>
          <p:cNvSpPr/>
          <p:nvPr/>
        </p:nvSpPr>
        <p:spPr>
          <a:xfrm>
            <a:off x="822960" y="3429000"/>
            <a:ext cx="265176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Yu Gothic" pitchFamily="34" charset="0"/>
                <a:ea typeface="Yu Gothic" pitchFamily="34" charset="-122"/>
                <a:cs typeface="Yu Gothic" pitchFamily="34" charset="-120"/>
              </a:rPr>
              <a:t>スマートフォン</a:t>
            </a:r>
            <a:endParaRPr lang="en-US" sz="1500" dirty="0"/>
          </a:p>
        </p:txBody>
      </p:sp>
      <p:sp>
        <p:nvSpPr>
          <p:cNvPr id="8" name="Text 5"/>
          <p:cNvSpPr/>
          <p:nvPr/>
        </p:nvSpPr>
        <p:spPr>
          <a:xfrm>
            <a:off x="822960" y="3749040"/>
            <a:ext cx="2651760" cy="274320"/>
          </a:xfrm>
          <a:prstGeom prst="rect">
            <a:avLst/>
          </a:prstGeom>
          <a:noFill/>
          <a:ln/>
        </p:spPr>
        <p:txBody>
          <a:bodyPr wrap="square" lIns="0" tIns="0" rIns="0" bIns="0" rtlCol="0" anchor="ctr"/>
          <a:lstStyle/>
          <a:p>
            <a:pPr marL="0" indent="0" algn="ctr">
              <a:buNone/>
            </a:pPr>
            <a:r>
              <a:rPr lang="en-US" sz="1100" dirty="0">
                <a:solidFill>
                  <a:srgbClr val="CFE0F5"/>
                </a:solidFill>
                <a:latin typeface="Yu Gothic" pitchFamily="34" charset="0"/>
                <a:ea typeface="Yu Gothic" pitchFamily="34" charset="-122"/>
                <a:cs typeface="Yu Gothic" pitchFamily="34" charset="-120"/>
              </a:rPr>
              <a:t>Webブラウザ（フロントエンド）</a:t>
            </a:r>
            <a:endParaRPr lang="en-US" sz="1100" dirty="0"/>
          </a:p>
        </p:txBody>
      </p:sp>
      <p:sp>
        <p:nvSpPr>
          <p:cNvPr id="9" name="Text 6"/>
          <p:cNvSpPr/>
          <p:nvPr/>
        </p:nvSpPr>
        <p:spPr>
          <a:xfrm>
            <a:off x="822960" y="4023360"/>
            <a:ext cx="2651760" cy="274320"/>
          </a:xfrm>
          <a:prstGeom prst="rect">
            <a:avLst/>
          </a:prstGeom>
          <a:noFill/>
          <a:ln/>
        </p:spPr>
        <p:txBody>
          <a:bodyPr wrap="square" lIns="0" tIns="0" rIns="0" bIns="0" rtlCol="0" anchor="ctr"/>
          <a:lstStyle/>
          <a:p>
            <a:pPr marL="0" indent="0" algn="ctr">
              <a:buNone/>
            </a:pPr>
            <a:r>
              <a:rPr lang="en-US" sz="950" i="1" dirty="0">
                <a:solidFill>
                  <a:srgbClr val="9CC2EF"/>
                </a:solidFill>
                <a:latin typeface="Yu Gothic" pitchFamily="34" charset="0"/>
                <a:ea typeface="Yu Gothic" pitchFamily="34" charset="-122"/>
                <a:cs typeface="Yu Gothic" pitchFamily="34" charset="-120"/>
              </a:rPr>
              <a:t>Razor Pages / Bootstrap5 / Vanilla JS</a:t>
            </a:r>
            <a:endParaRPr lang="en-US" sz="950" dirty="0"/>
          </a:p>
        </p:txBody>
      </p:sp>
      <p:sp>
        <p:nvSpPr>
          <p:cNvPr id="10" name="Shape 7"/>
          <p:cNvSpPr/>
          <p:nvPr/>
        </p:nvSpPr>
        <p:spPr>
          <a:xfrm>
            <a:off x="4572000" y="2377440"/>
            <a:ext cx="3017520" cy="2011680"/>
          </a:xfrm>
          <a:prstGeom prst="roundRect">
            <a:avLst>
              <a:gd name="adj" fmla="val 4091"/>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1" name="Shape 8"/>
          <p:cNvSpPr/>
          <p:nvPr/>
        </p:nvSpPr>
        <p:spPr>
          <a:xfrm>
            <a:off x="5760720" y="2633472"/>
            <a:ext cx="640080" cy="640080"/>
          </a:xfrm>
          <a:prstGeom prst="ellipse">
            <a:avLst/>
          </a:prstGeom>
          <a:solidFill>
            <a:srgbClr val="0D1B2A"/>
          </a:solidFill>
          <a:ln/>
        </p:spPr>
        <p:txBody>
          <a:bodyPr/>
          <a:lstStyle/>
          <a:p>
            <a:endParaRPr lang="ja-JP" altLang="en-US"/>
          </a:p>
        </p:txBody>
      </p:sp>
      <p:pic>
        <p:nvPicPr>
          <p:cNvPr id="12" name="Image 1" descr="images/icons/icon_stockers.png"/>
          <p:cNvPicPr>
            <a:picLocks noChangeAspect="1"/>
          </p:cNvPicPr>
          <p:nvPr/>
        </p:nvPicPr>
        <p:blipFill>
          <a:blip r:embed="rId4"/>
          <a:stretch>
            <a:fillRect/>
          </a:stretch>
        </p:blipFill>
        <p:spPr>
          <a:xfrm>
            <a:off x="5927141" y="2799893"/>
            <a:ext cx="307238" cy="307238"/>
          </a:xfrm>
          <a:prstGeom prst="rect">
            <a:avLst/>
          </a:prstGeom>
        </p:spPr>
      </p:pic>
      <p:sp>
        <p:nvSpPr>
          <p:cNvPr id="13" name="Text 9"/>
          <p:cNvSpPr/>
          <p:nvPr/>
        </p:nvSpPr>
        <p:spPr>
          <a:xfrm>
            <a:off x="4754880" y="3429000"/>
            <a:ext cx="2651760" cy="320040"/>
          </a:xfrm>
          <a:prstGeom prst="rect">
            <a:avLst/>
          </a:prstGeom>
          <a:noFill/>
          <a:ln/>
        </p:spPr>
        <p:txBody>
          <a:bodyPr wrap="square" lIns="0" tIns="0" rIns="0" bIns="0" rtlCol="0" anchor="ctr"/>
          <a:lstStyle/>
          <a:p>
            <a:pPr marL="0" indent="0" algn="ctr">
              <a:buNone/>
            </a:pPr>
            <a:r>
              <a:rPr lang="en-US" sz="1500" b="1" dirty="0">
                <a:solidFill>
                  <a:srgbClr val="1A2330"/>
                </a:solidFill>
                <a:latin typeface="Yu Gothic" pitchFamily="34" charset="0"/>
                <a:ea typeface="Yu Gothic" pitchFamily="34" charset="-122"/>
                <a:cs typeface="Yu Gothic" pitchFamily="34" charset="-120"/>
              </a:rPr>
              <a:t>ASP.NET Core API</a:t>
            </a:r>
            <a:endParaRPr lang="en-US" sz="1500" dirty="0"/>
          </a:p>
        </p:txBody>
      </p:sp>
      <p:sp>
        <p:nvSpPr>
          <p:cNvPr id="14" name="Text 10"/>
          <p:cNvSpPr/>
          <p:nvPr/>
        </p:nvSpPr>
        <p:spPr>
          <a:xfrm>
            <a:off x="4754880" y="3749040"/>
            <a:ext cx="2651760" cy="274320"/>
          </a:xfrm>
          <a:prstGeom prst="rect">
            <a:avLst/>
          </a:prstGeom>
          <a:noFill/>
          <a:ln/>
        </p:spPr>
        <p:txBody>
          <a:bodyPr wrap="square" lIns="0" tIns="0" rIns="0" bIns="0" rtlCol="0" anchor="ctr"/>
          <a:lstStyle/>
          <a:p>
            <a:pPr marL="0" indent="0" algn="ctr">
              <a:buNone/>
            </a:pPr>
            <a:r>
              <a:rPr lang="en-US" sz="1100" dirty="0">
                <a:solidFill>
                  <a:srgbClr val="55626F"/>
                </a:solidFill>
                <a:latin typeface="Yu Gothic" pitchFamily="34" charset="0"/>
                <a:ea typeface="Yu Gothic" pitchFamily="34" charset="-122"/>
                <a:cs typeface="Yu Gothic" pitchFamily="34" charset="-120"/>
              </a:rPr>
              <a:t>バックエンド（サーバー）</a:t>
            </a:r>
            <a:endParaRPr lang="en-US" sz="1100" dirty="0"/>
          </a:p>
        </p:txBody>
      </p:sp>
      <p:sp>
        <p:nvSpPr>
          <p:cNvPr id="15" name="Text 11"/>
          <p:cNvSpPr/>
          <p:nvPr/>
        </p:nvSpPr>
        <p:spPr>
          <a:xfrm>
            <a:off x="4754880" y="4023360"/>
            <a:ext cx="2651760" cy="274320"/>
          </a:xfrm>
          <a:prstGeom prst="rect">
            <a:avLst/>
          </a:prstGeom>
          <a:noFill/>
          <a:ln/>
        </p:spPr>
        <p:txBody>
          <a:bodyPr wrap="square" lIns="0" tIns="0" rIns="0" bIns="0" rtlCol="0" anchor="ctr"/>
          <a:lstStyle/>
          <a:p>
            <a:pPr marL="0" indent="0" algn="ctr">
              <a:buNone/>
            </a:pPr>
            <a:r>
              <a:rPr lang="en-US" sz="950" i="1" dirty="0">
                <a:solidFill>
                  <a:srgbClr val="8A97A3"/>
                </a:solidFill>
                <a:latin typeface="Yu Gothic" pitchFamily="34" charset="0"/>
                <a:ea typeface="Yu Gothic" pitchFamily="34" charset="-122"/>
                <a:cs typeface="Yu Gothic" pitchFamily="34" charset="-120"/>
              </a:rPr>
              <a:t>Controllers / SQL Server</a:t>
            </a:r>
            <a:endParaRPr lang="en-US" sz="950" dirty="0"/>
          </a:p>
        </p:txBody>
      </p:sp>
      <p:sp>
        <p:nvSpPr>
          <p:cNvPr id="16" name="Shape 12"/>
          <p:cNvSpPr/>
          <p:nvPr/>
        </p:nvSpPr>
        <p:spPr>
          <a:xfrm>
            <a:off x="8531352" y="2377440"/>
            <a:ext cx="3017520" cy="2011680"/>
          </a:xfrm>
          <a:prstGeom prst="roundRect">
            <a:avLst>
              <a:gd name="adj" fmla="val 4091"/>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7" name="Shape 13"/>
          <p:cNvSpPr/>
          <p:nvPr/>
        </p:nvSpPr>
        <p:spPr>
          <a:xfrm>
            <a:off x="9720072" y="2633472"/>
            <a:ext cx="640080" cy="640080"/>
          </a:xfrm>
          <a:prstGeom prst="ellipse">
            <a:avLst/>
          </a:prstGeom>
          <a:solidFill>
            <a:srgbClr val="F9A825"/>
          </a:solidFill>
          <a:ln/>
        </p:spPr>
        <p:txBody>
          <a:bodyPr/>
          <a:lstStyle/>
          <a:p>
            <a:endParaRPr lang="ja-JP" altLang="en-US"/>
          </a:p>
        </p:txBody>
      </p:sp>
      <p:pic>
        <p:nvPicPr>
          <p:cNvPr id="18" name="Image 2" descr="images/icons/icon_terminal.png"/>
          <p:cNvPicPr>
            <a:picLocks noChangeAspect="1"/>
          </p:cNvPicPr>
          <p:nvPr/>
        </p:nvPicPr>
        <p:blipFill>
          <a:blip r:embed="rId5"/>
          <a:stretch>
            <a:fillRect/>
          </a:stretch>
        </p:blipFill>
        <p:spPr>
          <a:xfrm>
            <a:off x="9886493" y="2799893"/>
            <a:ext cx="307238" cy="307238"/>
          </a:xfrm>
          <a:prstGeom prst="rect">
            <a:avLst/>
          </a:prstGeom>
        </p:spPr>
      </p:pic>
      <p:sp>
        <p:nvSpPr>
          <p:cNvPr id="19" name="Text 14"/>
          <p:cNvSpPr/>
          <p:nvPr/>
        </p:nvSpPr>
        <p:spPr>
          <a:xfrm>
            <a:off x="8714232" y="3429000"/>
            <a:ext cx="2651760" cy="320040"/>
          </a:xfrm>
          <a:prstGeom prst="rect">
            <a:avLst/>
          </a:prstGeom>
          <a:noFill/>
          <a:ln/>
        </p:spPr>
        <p:txBody>
          <a:bodyPr wrap="square" lIns="0" tIns="0" rIns="0" bIns="0" rtlCol="0" anchor="ctr"/>
          <a:lstStyle/>
          <a:p>
            <a:pPr marL="0" indent="0" algn="ctr">
              <a:buNone/>
            </a:pPr>
            <a:r>
              <a:rPr lang="en-US" sz="1500" b="1" dirty="0">
                <a:solidFill>
                  <a:srgbClr val="1A2330"/>
                </a:solidFill>
                <a:latin typeface="Yu Gothic" pitchFamily="34" charset="0"/>
                <a:ea typeface="Yu Gothic" pitchFamily="34" charset="-122"/>
                <a:cs typeface="Yu Gothic" pitchFamily="34" charset="-120"/>
              </a:rPr>
              <a:t>コンソールアプリ</a:t>
            </a:r>
            <a:endParaRPr lang="en-US" sz="1500" dirty="0"/>
          </a:p>
        </p:txBody>
      </p:sp>
      <p:sp>
        <p:nvSpPr>
          <p:cNvPr id="20" name="Text 15"/>
          <p:cNvSpPr/>
          <p:nvPr/>
        </p:nvSpPr>
        <p:spPr>
          <a:xfrm>
            <a:off x="8714232" y="3749040"/>
            <a:ext cx="2651760" cy="274320"/>
          </a:xfrm>
          <a:prstGeom prst="rect">
            <a:avLst/>
          </a:prstGeom>
          <a:noFill/>
          <a:ln/>
        </p:spPr>
        <p:txBody>
          <a:bodyPr wrap="square" lIns="0" tIns="0" rIns="0" bIns="0" rtlCol="0" anchor="ctr"/>
          <a:lstStyle/>
          <a:p>
            <a:pPr marL="0" indent="0" algn="ctr">
              <a:buNone/>
            </a:pPr>
            <a:r>
              <a:rPr lang="en-US" sz="1100" dirty="0">
                <a:solidFill>
                  <a:srgbClr val="55626F"/>
                </a:solidFill>
                <a:latin typeface="Yu Gothic" pitchFamily="34" charset="0"/>
                <a:ea typeface="Yu Gothic" pitchFamily="34" charset="-122"/>
                <a:cs typeface="Yu Gothic" pitchFamily="34" charset="-120"/>
              </a:rPr>
              <a:t>C# 常駐プログラム</a:t>
            </a:r>
            <a:endParaRPr lang="en-US" sz="1100" dirty="0"/>
          </a:p>
        </p:txBody>
      </p:sp>
      <p:sp>
        <p:nvSpPr>
          <p:cNvPr id="21" name="Text 16"/>
          <p:cNvSpPr/>
          <p:nvPr/>
        </p:nvSpPr>
        <p:spPr>
          <a:xfrm>
            <a:off x="8714232" y="4023360"/>
            <a:ext cx="2651760" cy="274320"/>
          </a:xfrm>
          <a:prstGeom prst="rect">
            <a:avLst/>
          </a:prstGeom>
          <a:noFill/>
          <a:ln/>
        </p:spPr>
        <p:txBody>
          <a:bodyPr wrap="square" lIns="0" tIns="0" rIns="0" bIns="0" rtlCol="0" anchor="ctr"/>
          <a:lstStyle/>
          <a:p>
            <a:pPr marL="0" indent="0" algn="ctr">
              <a:buNone/>
            </a:pPr>
            <a:r>
              <a:rPr lang="en-US" sz="950" i="1" dirty="0">
                <a:solidFill>
                  <a:srgbClr val="8A97A3"/>
                </a:solidFill>
                <a:latin typeface="Yu Gothic" pitchFamily="34" charset="0"/>
                <a:ea typeface="Yu Gothic" pitchFamily="34" charset="-122"/>
                <a:cs typeface="Yu Gothic" pitchFamily="34" charset="-120"/>
              </a:rPr>
              <a:t>実機（ストッカー機器）を制御</a:t>
            </a:r>
            <a:endParaRPr lang="en-US" sz="950" dirty="0"/>
          </a:p>
        </p:txBody>
      </p:sp>
      <p:sp>
        <p:nvSpPr>
          <p:cNvPr id="22" name="Shape 17"/>
          <p:cNvSpPr/>
          <p:nvPr/>
        </p:nvSpPr>
        <p:spPr>
          <a:xfrm>
            <a:off x="3657600" y="3383280"/>
            <a:ext cx="914400" cy="0"/>
          </a:xfrm>
          <a:prstGeom prst="line">
            <a:avLst/>
          </a:prstGeom>
          <a:noFill/>
          <a:ln w="28575">
            <a:solidFill>
              <a:srgbClr val="1565C0"/>
            </a:solidFill>
            <a:prstDash val="solid"/>
          </a:ln>
        </p:spPr>
        <p:txBody>
          <a:bodyPr/>
          <a:lstStyle/>
          <a:p>
            <a:endParaRPr lang="ja-JP" altLang="en-US"/>
          </a:p>
        </p:txBody>
      </p:sp>
      <p:sp>
        <p:nvSpPr>
          <p:cNvPr id="23" name="Text 18"/>
          <p:cNvSpPr/>
          <p:nvPr/>
        </p:nvSpPr>
        <p:spPr>
          <a:xfrm>
            <a:off x="3657600" y="2816352"/>
            <a:ext cx="914400" cy="502920"/>
          </a:xfrm>
          <a:prstGeom prst="rect">
            <a:avLst/>
          </a:prstGeom>
          <a:noFill/>
          <a:ln/>
        </p:spPr>
        <p:txBody>
          <a:bodyPr wrap="square" lIns="0" tIns="0" rIns="0" bIns="0" rtlCol="0" anchor="ctr"/>
          <a:lstStyle/>
          <a:p>
            <a:pPr marL="0" indent="0" algn="ctr">
              <a:buNone/>
            </a:pPr>
            <a:r>
              <a:rPr lang="en-US" sz="1050" b="1" dirty="0">
                <a:solidFill>
                  <a:srgbClr val="1565C0"/>
                </a:solidFill>
                <a:latin typeface="Yu Gothic" pitchFamily="34" charset="0"/>
                <a:ea typeface="Yu Gothic" pitchFamily="34" charset="-122"/>
                <a:cs typeface="Yu Gothic" pitchFamily="34" charset="-120"/>
              </a:rPr>
              <a:t>REST API</a:t>
            </a:r>
            <a:endParaRPr lang="en-US" sz="1050" dirty="0"/>
          </a:p>
          <a:p>
            <a:pPr marL="0" indent="0" algn="ctr">
              <a:buNone/>
            </a:pPr>
            <a:r>
              <a:rPr lang="en-US" sz="1050" b="1" dirty="0">
                <a:solidFill>
                  <a:srgbClr val="1565C0"/>
                </a:solidFill>
                <a:latin typeface="Yu Gothic" pitchFamily="34" charset="0"/>
                <a:ea typeface="Yu Gothic" pitchFamily="34" charset="-122"/>
                <a:cs typeface="Yu Gothic" pitchFamily="34" charset="-120"/>
              </a:rPr>
              <a:t>(JSON / HTTPS)</a:t>
            </a:r>
            <a:endParaRPr lang="en-US" sz="1050" dirty="0"/>
          </a:p>
        </p:txBody>
      </p:sp>
      <p:sp>
        <p:nvSpPr>
          <p:cNvPr id="24" name="Text 19"/>
          <p:cNvSpPr/>
          <p:nvPr/>
        </p:nvSpPr>
        <p:spPr>
          <a:xfrm>
            <a:off x="3678701" y="3476950"/>
            <a:ext cx="872197" cy="274320"/>
          </a:xfrm>
          <a:prstGeom prst="rect">
            <a:avLst/>
          </a:prstGeom>
          <a:noFill/>
          <a:ln/>
        </p:spPr>
        <p:txBody>
          <a:bodyPr wrap="square" lIns="0" tIns="0" rIns="0" bIns="0" rtlCol="0" anchor="ctr"/>
          <a:lstStyle/>
          <a:p>
            <a:pPr marL="0" indent="0" algn="ctr">
              <a:buNone/>
            </a:pPr>
            <a:r>
              <a:rPr lang="en-US" sz="950" i="1" dirty="0">
                <a:solidFill>
                  <a:srgbClr val="55626F"/>
                </a:solidFill>
                <a:latin typeface="Yu Gothic" pitchFamily="34" charset="0"/>
                <a:ea typeface="Yu Gothic" pitchFamily="34" charset="-122"/>
                <a:cs typeface="Yu Gothic" pitchFamily="34" charset="-120"/>
              </a:rPr>
              <a:t>3秒ごとに自動ポーリング</a:t>
            </a:r>
            <a:endParaRPr lang="en-US" sz="950" dirty="0"/>
          </a:p>
        </p:txBody>
      </p:sp>
      <p:sp>
        <p:nvSpPr>
          <p:cNvPr id="25" name="Shape 20"/>
          <p:cNvSpPr/>
          <p:nvPr/>
        </p:nvSpPr>
        <p:spPr>
          <a:xfrm>
            <a:off x="7589520" y="3383280"/>
            <a:ext cx="941832" cy="0"/>
          </a:xfrm>
          <a:prstGeom prst="line">
            <a:avLst/>
          </a:prstGeom>
          <a:noFill/>
          <a:ln w="28575">
            <a:solidFill>
              <a:srgbClr val="0D1B2A"/>
            </a:solidFill>
            <a:prstDash val="solid"/>
          </a:ln>
        </p:spPr>
        <p:txBody>
          <a:bodyPr/>
          <a:lstStyle/>
          <a:p>
            <a:endParaRPr lang="ja-JP" altLang="en-US"/>
          </a:p>
        </p:txBody>
      </p:sp>
      <p:sp>
        <p:nvSpPr>
          <p:cNvPr id="26" name="Text 21"/>
          <p:cNvSpPr/>
          <p:nvPr/>
        </p:nvSpPr>
        <p:spPr>
          <a:xfrm>
            <a:off x="7589520" y="2816352"/>
            <a:ext cx="941832" cy="502920"/>
          </a:xfrm>
          <a:prstGeom prst="rect">
            <a:avLst/>
          </a:prstGeom>
          <a:noFill/>
          <a:ln/>
        </p:spPr>
        <p:txBody>
          <a:bodyPr wrap="square" lIns="0" tIns="0" rIns="0" bIns="0" rtlCol="0" anchor="ctr"/>
          <a:lstStyle/>
          <a:p>
            <a:pPr marL="0" indent="0" algn="ctr">
              <a:buNone/>
            </a:pPr>
            <a:r>
              <a:rPr lang="en-US" sz="1050" b="1" dirty="0">
                <a:solidFill>
                  <a:srgbClr val="0D1B2A"/>
                </a:solidFill>
                <a:latin typeface="Yu Gothic" pitchFamily="34" charset="0"/>
                <a:ea typeface="Yu Gothic" pitchFamily="34" charset="-122"/>
                <a:cs typeface="Yu Gothic" pitchFamily="34" charset="-120"/>
              </a:rPr>
              <a:t>/api/stub/*</a:t>
            </a:r>
            <a:endParaRPr lang="en-US" sz="1050" dirty="0"/>
          </a:p>
          <a:p>
            <a:pPr marL="0" indent="0" algn="ctr">
              <a:buNone/>
            </a:pPr>
            <a:r>
              <a:rPr lang="en-US" sz="1050" b="1" dirty="0">
                <a:solidFill>
                  <a:srgbClr val="0D1B2A"/>
                </a:solidFill>
                <a:latin typeface="Yu Gothic" pitchFamily="34" charset="0"/>
                <a:ea typeface="Yu Gothic" pitchFamily="34" charset="-122"/>
                <a:cs typeface="Yu Gothic" pitchFamily="34" charset="-120"/>
              </a:rPr>
              <a:t>(死活監視・JOB取得)</a:t>
            </a:r>
            <a:endParaRPr lang="en-US" sz="1050" dirty="0"/>
          </a:p>
        </p:txBody>
      </p:sp>
      <p:sp>
        <p:nvSpPr>
          <p:cNvPr id="27" name="Shape 22"/>
          <p:cNvSpPr/>
          <p:nvPr/>
        </p:nvSpPr>
        <p:spPr>
          <a:xfrm>
            <a:off x="640080" y="4892040"/>
            <a:ext cx="10908792" cy="1234440"/>
          </a:xfrm>
          <a:prstGeom prst="roundRect">
            <a:avLst>
              <a:gd name="adj" fmla="val 6667"/>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8" name="Shape 23"/>
          <p:cNvSpPr/>
          <p:nvPr/>
        </p:nvSpPr>
        <p:spPr>
          <a:xfrm>
            <a:off x="914400" y="5166360"/>
            <a:ext cx="566928" cy="566928"/>
          </a:xfrm>
          <a:prstGeom prst="ellipse">
            <a:avLst/>
          </a:prstGeom>
          <a:solidFill>
            <a:srgbClr val="2E7D32"/>
          </a:solidFill>
          <a:ln/>
        </p:spPr>
        <p:txBody>
          <a:bodyPr/>
          <a:lstStyle/>
          <a:p>
            <a:endParaRPr lang="ja-JP" altLang="en-US"/>
          </a:p>
        </p:txBody>
      </p:sp>
      <p:pic>
        <p:nvPicPr>
          <p:cNvPr id="29" name="Image 3" descr="images/icons/icon_shield.png"/>
          <p:cNvPicPr>
            <a:picLocks noChangeAspect="1"/>
          </p:cNvPicPr>
          <p:nvPr/>
        </p:nvPicPr>
        <p:blipFill>
          <a:blip r:embed="rId6"/>
          <a:stretch>
            <a:fillRect/>
          </a:stretch>
        </p:blipFill>
        <p:spPr>
          <a:xfrm>
            <a:off x="1061801" y="5313761"/>
            <a:ext cx="272125" cy="272125"/>
          </a:xfrm>
          <a:prstGeom prst="rect">
            <a:avLst/>
          </a:prstGeom>
        </p:spPr>
      </p:pic>
      <p:sp>
        <p:nvSpPr>
          <p:cNvPr id="30" name="Text 24"/>
          <p:cNvSpPr/>
          <p:nvPr/>
        </p:nvSpPr>
        <p:spPr>
          <a:xfrm>
            <a:off x="1691640" y="5074920"/>
            <a:ext cx="9601200" cy="960120"/>
          </a:xfrm>
          <a:prstGeom prst="rect">
            <a:avLst/>
          </a:prstGeom>
          <a:noFill/>
          <a:ln/>
        </p:spPr>
        <p:txBody>
          <a:bodyPr wrap="square" rtlCol="0" anchor="ctr"/>
          <a:lstStyle/>
          <a:p>
            <a:pPr marL="0" indent="0">
              <a:lnSpc>
                <a:spcPct val="120000"/>
              </a:lnSpc>
              <a:buNone/>
            </a:pPr>
            <a:r>
              <a:rPr lang="en-US" sz="1250" b="1" dirty="0">
                <a:solidFill>
                  <a:srgbClr val="1A2330"/>
                </a:solidFill>
                <a:latin typeface="Yu Gothic" pitchFamily="34" charset="0"/>
                <a:ea typeface="Yu Gothic" pitchFamily="34" charset="-122"/>
                <a:cs typeface="Yu Gothic" pitchFamily="34" charset="-120"/>
              </a:rPr>
              <a:t>フロントエンド／バックエンドの完全分離設計　</a:t>
            </a:r>
            <a:r>
              <a:rPr lang="en-US" sz="1250" dirty="0">
                <a:solidFill>
                  <a:srgbClr val="55626F"/>
                </a:solidFill>
                <a:latin typeface="Yu Gothic" pitchFamily="34" charset="0"/>
                <a:ea typeface="Yu Gothic" pitchFamily="34" charset="-122"/>
                <a:cs typeface="Yu Gothic" pitchFamily="34" charset="-120"/>
              </a:rPr>
              <a:t>PageModel（C#）はDBへ直接アクセスせず、画面表示後にJavaScript（amhs-core.js）がREST APIを叩く構成。これにより、バックエンドの実装状況に関係なく、フロントエンド単体でのテストが可能になった。</a:t>
            </a:r>
            <a:endParaRPr lang="en-US" sz="1250" dirty="0"/>
          </a:p>
        </p:txBody>
      </p:sp>
      <p:sp>
        <p:nvSpPr>
          <p:cNvPr id="31" name="Text 25"/>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2" name="Text 26"/>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SCREENS</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実装した画面構成（5タブ構成）</a:t>
            </a:r>
            <a:endParaRPr lang="en-US" sz="3000" dirty="0"/>
          </a:p>
        </p:txBody>
      </p:sp>
      <p:sp>
        <p:nvSpPr>
          <p:cNvPr id="4" name="Shape 2"/>
          <p:cNvSpPr/>
          <p:nvPr/>
        </p:nvSpPr>
        <p:spPr>
          <a:xfrm>
            <a:off x="1840230" y="1444752"/>
            <a:ext cx="1555943" cy="2916936"/>
          </a:xfrm>
          <a:prstGeom prst="roundRect">
            <a:avLst>
              <a:gd name="adj" fmla="val 7052"/>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5" name="Image 0" descr="images/screen_main.png"/>
          <p:cNvPicPr>
            <a:picLocks noChangeAspect="1"/>
          </p:cNvPicPr>
          <p:nvPr/>
        </p:nvPicPr>
        <p:blipFill>
          <a:blip r:embed="rId3"/>
          <a:stretch>
            <a:fillRect/>
          </a:stretch>
        </p:blipFill>
        <p:spPr>
          <a:xfrm>
            <a:off x="1904238" y="1508760"/>
            <a:ext cx="1427927" cy="2788920"/>
          </a:xfrm>
          <a:prstGeom prst="rect">
            <a:avLst/>
          </a:prstGeom>
        </p:spPr>
      </p:pic>
      <p:sp>
        <p:nvSpPr>
          <p:cNvPr id="6" name="Text 3"/>
          <p:cNvSpPr/>
          <p:nvPr/>
        </p:nvSpPr>
        <p:spPr>
          <a:xfrm>
            <a:off x="1721358" y="4462272"/>
            <a:ext cx="1793687" cy="292608"/>
          </a:xfrm>
          <a:prstGeom prst="rect">
            <a:avLst/>
          </a:prstGeom>
          <a:noFill/>
          <a:ln/>
        </p:spPr>
        <p:txBody>
          <a:bodyPr wrap="square" lIns="0" tIns="0" rIns="0" bIns="0" rtlCol="0" anchor="ctr"/>
          <a:lstStyle/>
          <a:p>
            <a:pPr marL="0" indent="0" algn="ctr">
              <a:buNone/>
            </a:pPr>
            <a:r>
              <a:rPr lang="en-US" sz="1400" b="1" dirty="0">
                <a:solidFill>
                  <a:srgbClr val="0D1B2A"/>
                </a:solidFill>
                <a:latin typeface="Yu Gothic" pitchFamily="34" charset="0"/>
                <a:ea typeface="Yu Gothic" pitchFamily="34" charset="-122"/>
                <a:cs typeface="Yu Gothic" pitchFamily="34" charset="-120"/>
              </a:rPr>
              <a:t>① Main</a:t>
            </a:r>
            <a:endParaRPr lang="en-US" sz="1400" dirty="0"/>
          </a:p>
        </p:txBody>
      </p:sp>
      <p:sp>
        <p:nvSpPr>
          <p:cNvPr id="7" name="Text 4"/>
          <p:cNvSpPr/>
          <p:nvPr/>
        </p:nvSpPr>
        <p:spPr>
          <a:xfrm>
            <a:off x="1721358" y="4754880"/>
            <a:ext cx="1793687" cy="457200"/>
          </a:xfrm>
          <a:prstGeom prst="rect">
            <a:avLst/>
          </a:prstGeom>
          <a:noFill/>
          <a:ln/>
        </p:spPr>
        <p:txBody>
          <a:bodyPr wrap="square" lIns="0" tIns="0" rIns="0" bIns="0" rtlCol="0" anchor="ctr"/>
          <a:lstStyle/>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ディスパッチ</a:t>
            </a:r>
            <a:endParaRPr lang="en-US" sz="1050" dirty="0"/>
          </a:p>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コンソール</a:t>
            </a:r>
            <a:endParaRPr lang="en-US" sz="1050" dirty="0"/>
          </a:p>
        </p:txBody>
      </p:sp>
      <p:sp>
        <p:nvSpPr>
          <p:cNvPr id="8" name="Shape 5"/>
          <p:cNvSpPr/>
          <p:nvPr/>
        </p:nvSpPr>
        <p:spPr>
          <a:xfrm>
            <a:off x="3579053" y="1444752"/>
            <a:ext cx="1555943" cy="2916936"/>
          </a:xfrm>
          <a:prstGeom prst="roundRect">
            <a:avLst>
              <a:gd name="adj" fmla="val 7052"/>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9" name="Image 1" descr="images/screen_stockers.png"/>
          <p:cNvPicPr>
            <a:picLocks noChangeAspect="1"/>
          </p:cNvPicPr>
          <p:nvPr/>
        </p:nvPicPr>
        <p:blipFill>
          <a:blip r:embed="rId4"/>
          <a:stretch>
            <a:fillRect/>
          </a:stretch>
        </p:blipFill>
        <p:spPr>
          <a:xfrm>
            <a:off x="3643061" y="1508760"/>
            <a:ext cx="1427927" cy="2788920"/>
          </a:xfrm>
          <a:prstGeom prst="rect">
            <a:avLst/>
          </a:prstGeom>
        </p:spPr>
      </p:pic>
      <p:sp>
        <p:nvSpPr>
          <p:cNvPr id="10" name="Text 6"/>
          <p:cNvSpPr/>
          <p:nvPr/>
        </p:nvSpPr>
        <p:spPr>
          <a:xfrm>
            <a:off x="3460181" y="4462272"/>
            <a:ext cx="1793687" cy="292608"/>
          </a:xfrm>
          <a:prstGeom prst="rect">
            <a:avLst/>
          </a:prstGeom>
          <a:noFill/>
          <a:ln/>
        </p:spPr>
        <p:txBody>
          <a:bodyPr wrap="square" lIns="0" tIns="0" rIns="0" bIns="0" rtlCol="0" anchor="ctr"/>
          <a:lstStyle/>
          <a:p>
            <a:pPr marL="0" indent="0" algn="ctr">
              <a:buNone/>
            </a:pPr>
            <a:r>
              <a:rPr lang="en-US" sz="1400" b="1" dirty="0">
                <a:solidFill>
                  <a:srgbClr val="0D1B2A"/>
                </a:solidFill>
                <a:latin typeface="Yu Gothic" pitchFamily="34" charset="0"/>
                <a:ea typeface="Yu Gothic" pitchFamily="34" charset="-122"/>
                <a:cs typeface="Yu Gothic" pitchFamily="34" charset="-120"/>
              </a:rPr>
              <a:t>② Stockers</a:t>
            </a:r>
            <a:endParaRPr lang="en-US" sz="1400" dirty="0"/>
          </a:p>
        </p:txBody>
      </p:sp>
      <p:sp>
        <p:nvSpPr>
          <p:cNvPr id="11" name="Text 7"/>
          <p:cNvSpPr/>
          <p:nvPr/>
        </p:nvSpPr>
        <p:spPr>
          <a:xfrm>
            <a:off x="3460181" y="4754880"/>
            <a:ext cx="1793687" cy="457200"/>
          </a:xfrm>
          <a:prstGeom prst="rect">
            <a:avLst/>
          </a:prstGeom>
          <a:noFill/>
          <a:ln/>
        </p:spPr>
        <p:txBody>
          <a:bodyPr wrap="square" lIns="0" tIns="0" rIns="0" bIns="0" rtlCol="0" anchor="ctr"/>
          <a:lstStyle/>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ストッカー</a:t>
            </a:r>
            <a:endParaRPr lang="en-US" sz="1050" dirty="0"/>
          </a:p>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一覧</a:t>
            </a:r>
            <a:endParaRPr lang="en-US" sz="1050" dirty="0"/>
          </a:p>
        </p:txBody>
      </p:sp>
      <p:sp>
        <p:nvSpPr>
          <p:cNvPr id="12" name="Shape 8"/>
          <p:cNvSpPr/>
          <p:nvPr/>
        </p:nvSpPr>
        <p:spPr>
          <a:xfrm>
            <a:off x="5317876" y="1444752"/>
            <a:ext cx="1555943" cy="2916936"/>
          </a:xfrm>
          <a:prstGeom prst="roundRect">
            <a:avLst>
              <a:gd name="adj" fmla="val 7052"/>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13" name="Image 2" descr="images/screen_jobs.png"/>
          <p:cNvPicPr>
            <a:picLocks noChangeAspect="1"/>
          </p:cNvPicPr>
          <p:nvPr/>
        </p:nvPicPr>
        <p:blipFill>
          <a:blip r:embed="rId5"/>
          <a:stretch>
            <a:fillRect/>
          </a:stretch>
        </p:blipFill>
        <p:spPr>
          <a:xfrm>
            <a:off x="5381884" y="1508760"/>
            <a:ext cx="1427927" cy="2788920"/>
          </a:xfrm>
          <a:prstGeom prst="rect">
            <a:avLst/>
          </a:prstGeom>
        </p:spPr>
      </p:pic>
      <p:sp>
        <p:nvSpPr>
          <p:cNvPr id="14" name="Text 9"/>
          <p:cNvSpPr/>
          <p:nvPr/>
        </p:nvSpPr>
        <p:spPr>
          <a:xfrm>
            <a:off x="5199004" y="4462272"/>
            <a:ext cx="1793687" cy="292608"/>
          </a:xfrm>
          <a:prstGeom prst="rect">
            <a:avLst/>
          </a:prstGeom>
          <a:noFill/>
          <a:ln/>
        </p:spPr>
        <p:txBody>
          <a:bodyPr wrap="square" lIns="0" tIns="0" rIns="0" bIns="0" rtlCol="0" anchor="ctr"/>
          <a:lstStyle/>
          <a:p>
            <a:pPr marL="0" indent="0" algn="ctr">
              <a:buNone/>
            </a:pPr>
            <a:r>
              <a:rPr lang="en-US" sz="1400" b="1" dirty="0">
                <a:solidFill>
                  <a:srgbClr val="0D1B2A"/>
                </a:solidFill>
                <a:latin typeface="Yu Gothic" pitchFamily="34" charset="0"/>
                <a:ea typeface="Yu Gothic" pitchFamily="34" charset="-122"/>
                <a:cs typeface="Yu Gothic" pitchFamily="34" charset="-120"/>
              </a:rPr>
              <a:t>③ Jobs</a:t>
            </a:r>
            <a:endParaRPr lang="en-US" sz="1400" dirty="0"/>
          </a:p>
        </p:txBody>
      </p:sp>
      <p:sp>
        <p:nvSpPr>
          <p:cNvPr id="15" name="Text 10"/>
          <p:cNvSpPr/>
          <p:nvPr/>
        </p:nvSpPr>
        <p:spPr>
          <a:xfrm>
            <a:off x="5199004" y="4754880"/>
            <a:ext cx="1793687" cy="457200"/>
          </a:xfrm>
          <a:prstGeom prst="rect">
            <a:avLst/>
          </a:prstGeom>
          <a:noFill/>
          <a:ln/>
        </p:spPr>
        <p:txBody>
          <a:bodyPr wrap="square" lIns="0" tIns="0" rIns="0" bIns="0" rtlCol="0" anchor="ctr"/>
          <a:lstStyle/>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ジョブ</a:t>
            </a:r>
            <a:endParaRPr lang="en-US" sz="1050" dirty="0"/>
          </a:p>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監視</a:t>
            </a:r>
            <a:endParaRPr lang="en-US" sz="1050" dirty="0"/>
          </a:p>
        </p:txBody>
      </p:sp>
      <p:sp>
        <p:nvSpPr>
          <p:cNvPr id="16" name="Shape 11"/>
          <p:cNvSpPr/>
          <p:nvPr/>
        </p:nvSpPr>
        <p:spPr>
          <a:xfrm>
            <a:off x="7056699" y="1444752"/>
            <a:ext cx="1555943" cy="2916936"/>
          </a:xfrm>
          <a:prstGeom prst="roundRect">
            <a:avLst>
              <a:gd name="adj" fmla="val 7052"/>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17" name="Image 3" descr="images/screen_shelves.png"/>
          <p:cNvPicPr>
            <a:picLocks noChangeAspect="1"/>
          </p:cNvPicPr>
          <p:nvPr/>
        </p:nvPicPr>
        <p:blipFill>
          <a:blip r:embed="rId6"/>
          <a:stretch>
            <a:fillRect/>
          </a:stretch>
        </p:blipFill>
        <p:spPr>
          <a:xfrm>
            <a:off x="7120707" y="1508760"/>
            <a:ext cx="1427927" cy="2788920"/>
          </a:xfrm>
          <a:prstGeom prst="rect">
            <a:avLst/>
          </a:prstGeom>
        </p:spPr>
      </p:pic>
      <p:sp>
        <p:nvSpPr>
          <p:cNvPr id="18" name="Text 12"/>
          <p:cNvSpPr/>
          <p:nvPr/>
        </p:nvSpPr>
        <p:spPr>
          <a:xfrm>
            <a:off x="6937827" y="4462272"/>
            <a:ext cx="1793687" cy="292608"/>
          </a:xfrm>
          <a:prstGeom prst="rect">
            <a:avLst/>
          </a:prstGeom>
          <a:noFill/>
          <a:ln/>
        </p:spPr>
        <p:txBody>
          <a:bodyPr wrap="square" lIns="0" tIns="0" rIns="0" bIns="0" rtlCol="0" anchor="ctr"/>
          <a:lstStyle/>
          <a:p>
            <a:pPr marL="0" indent="0" algn="ctr">
              <a:buNone/>
            </a:pPr>
            <a:r>
              <a:rPr lang="en-US" sz="1400" b="1" dirty="0">
                <a:solidFill>
                  <a:srgbClr val="0D1B2A"/>
                </a:solidFill>
                <a:latin typeface="Yu Gothic" pitchFamily="34" charset="0"/>
                <a:ea typeface="Yu Gothic" pitchFamily="34" charset="-122"/>
                <a:cs typeface="Yu Gothic" pitchFamily="34" charset="-120"/>
              </a:rPr>
              <a:t>④ Shelves</a:t>
            </a:r>
            <a:endParaRPr lang="en-US" sz="1400" dirty="0"/>
          </a:p>
        </p:txBody>
      </p:sp>
      <p:sp>
        <p:nvSpPr>
          <p:cNvPr id="19" name="Text 13"/>
          <p:cNvSpPr/>
          <p:nvPr/>
        </p:nvSpPr>
        <p:spPr>
          <a:xfrm>
            <a:off x="6937827" y="4754880"/>
            <a:ext cx="1793687" cy="457200"/>
          </a:xfrm>
          <a:prstGeom prst="rect">
            <a:avLst/>
          </a:prstGeom>
          <a:noFill/>
          <a:ln/>
        </p:spPr>
        <p:txBody>
          <a:bodyPr wrap="square" lIns="0" tIns="0" rIns="0" bIns="0" rtlCol="0" anchor="ctr"/>
          <a:lstStyle/>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棚・在庫</a:t>
            </a:r>
            <a:endParaRPr lang="en-US" sz="1050" dirty="0"/>
          </a:p>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グリッド</a:t>
            </a:r>
            <a:endParaRPr lang="en-US" sz="1050" dirty="0"/>
          </a:p>
        </p:txBody>
      </p:sp>
      <p:sp>
        <p:nvSpPr>
          <p:cNvPr id="20" name="Shape 14"/>
          <p:cNvSpPr/>
          <p:nvPr/>
        </p:nvSpPr>
        <p:spPr>
          <a:xfrm>
            <a:off x="8795522" y="1444752"/>
            <a:ext cx="1555943" cy="2916936"/>
          </a:xfrm>
          <a:prstGeom prst="roundRect">
            <a:avLst>
              <a:gd name="adj" fmla="val 7052"/>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21" name="Image 4" descr="images/screen_history.png"/>
          <p:cNvPicPr>
            <a:picLocks noChangeAspect="1"/>
          </p:cNvPicPr>
          <p:nvPr/>
        </p:nvPicPr>
        <p:blipFill>
          <a:blip r:embed="rId7"/>
          <a:stretch>
            <a:fillRect/>
          </a:stretch>
        </p:blipFill>
        <p:spPr>
          <a:xfrm>
            <a:off x="8859530" y="1508760"/>
            <a:ext cx="1427927" cy="2788920"/>
          </a:xfrm>
          <a:prstGeom prst="rect">
            <a:avLst/>
          </a:prstGeom>
        </p:spPr>
      </p:pic>
      <p:sp>
        <p:nvSpPr>
          <p:cNvPr id="22" name="Text 15"/>
          <p:cNvSpPr/>
          <p:nvPr/>
        </p:nvSpPr>
        <p:spPr>
          <a:xfrm>
            <a:off x="8676650" y="4462272"/>
            <a:ext cx="1793687" cy="292608"/>
          </a:xfrm>
          <a:prstGeom prst="rect">
            <a:avLst/>
          </a:prstGeom>
          <a:noFill/>
          <a:ln/>
        </p:spPr>
        <p:txBody>
          <a:bodyPr wrap="square" lIns="0" tIns="0" rIns="0" bIns="0" rtlCol="0" anchor="ctr"/>
          <a:lstStyle/>
          <a:p>
            <a:pPr marL="0" indent="0" algn="ctr">
              <a:buNone/>
            </a:pPr>
            <a:r>
              <a:rPr lang="en-US" sz="1400" b="1" dirty="0">
                <a:solidFill>
                  <a:srgbClr val="0D1B2A"/>
                </a:solidFill>
                <a:latin typeface="Yu Gothic" pitchFamily="34" charset="0"/>
                <a:ea typeface="Yu Gothic" pitchFamily="34" charset="-122"/>
                <a:cs typeface="Yu Gothic" pitchFamily="34" charset="-120"/>
              </a:rPr>
              <a:t>⑤ History</a:t>
            </a:r>
            <a:endParaRPr lang="en-US" sz="1400" dirty="0"/>
          </a:p>
        </p:txBody>
      </p:sp>
      <p:sp>
        <p:nvSpPr>
          <p:cNvPr id="23" name="Text 16"/>
          <p:cNvSpPr/>
          <p:nvPr/>
        </p:nvSpPr>
        <p:spPr>
          <a:xfrm>
            <a:off x="8676650" y="4754880"/>
            <a:ext cx="1793687" cy="457200"/>
          </a:xfrm>
          <a:prstGeom prst="rect">
            <a:avLst/>
          </a:prstGeom>
          <a:noFill/>
          <a:ln/>
        </p:spPr>
        <p:txBody>
          <a:bodyPr wrap="square" lIns="0" tIns="0" rIns="0" bIns="0" rtlCol="0" anchor="ctr"/>
          <a:lstStyle/>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履歴</a:t>
            </a:r>
            <a:endParaRPr lang="en-US" sz="1050" dirty="0"/>
          </a:p>
          <a:p>
            <a:pPr marL="0" indent="0" algn="ctr">
              <a:lnSpc>
                <a:spcPct val="110000"/>
              </a:lnSpc>
              <a:buNone/>
            </a:pPr>
            <a:r>
              <a:rPr lang="en-US" sz="1050" dirty="0">
                <a:solidFill>
                  <a:srgbClr val="55626F"/>
                </a:solidFill>
                <a:latin typeface="Yu Gothic" pitchFamily="34" charset="0"/>
                <a:ea typeface="Yu Gothic" pitchFamily="34" charset="-122"/>
                <a:cs typeface="Yu Gothic" pitchFamily="34" charset="-120"/>
              </a:rPr>
              <a:t>ログ</a:t>
            </a:r>
            <a:endParaRPr lang="en-US" sz="1050" dirty="0"/>
          </a:p>
        </p:txBody>
      </p:sp>
      <p:sp>
        <p:nvSpPr>
          <p:cNvPr id="24" name="Shape 17"/>
          <p:cNvSpPr/>
          <p:nvPr/>
        </p:nvSpPr>
        <p:spPr>
          <a:xfrm>
            <a:off x="548640" y="5623560"/>
            <a:ext cx="11091672" cy="713232"/>
          </a:xfrm>
          <a:prstGeom prst="roundRect">
            <a:avLst>
              <a:gd name="adj" fmla="val 11538"/>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5" name="Text 18"/>
          <p:cNvSpPr/>
          <p:nvPr/>
        </p:nvSpPr>
        <p:spPr>
          <a:xfrm>
            <a:off x="868680" y="5623560"/>
            <a:ext cx="10515600" cy="713232"/>
          </a:xfrm>
          <a:prstGeom prst="rect">
            <a:avLst/>
          </a:prstGeom>
          <a:noFill/>
          <a:ln/>
        </p:spPr>
        <p:txBody>
          <a:bodyPr wrap="square" rtlCol="0" anchor="ctr"/>
          <a:lstStyle/>
          <a:p>
            <a:pPr marL="0" indent="0">
              <a:buNone/>
            </a:pPr>
            <a:r>
              <a:rPr lang="en-US" sz="1250" b="1" dirty="0">
                <a:solidFill>
                  <a:srgbClr val="1A2330"/>
                </a:solidFill>
                <a:latin typeface="Yu Gothic" pitchFamily="34" charset="0"/>
                <a:ea typeface="Yu Gothic" pitchFamily="34" charset="-122"/>
                <a:cs typeface="Yu Gothic" pitchFamily="34" charset="-120"/>
              </a:rPr>
              <a:t>共通レイアウト（App Shell）　</a:t>
            </a:r>
            <a:r>
              <a:rPr lang="en-US" sz="1250" dirty="0">
                <a:solidFill>
                  <a:srgbClr val="55626F"/>
                </a:solidFill>
                <a:latin typeface="Yu Gothic" pitchFamily="34" charset="0"/>
                <a:ea typeface="Yu Gothic" pitchFamily="34" charset="-122"/>
                <a:cs typeface="Yu Gothic" pitchFamily="34" charset="-120"/>
              </a:rPr>
              <a:t>ヘッダーと固定ボトムナビゲーションは _Layout.cshtml に1か所だけ実装し、全タブで共有。</a:t>
            </a:r>
            <a:endParaRPr lang="en-US" sz="1250" dirty="0"/>
          </a:p>
        </p:txBody>
      </p:sp>
      <p:sp>
        <p:nvSpPr>
          <p:cNvPr id="26" name="Text 19"/>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7" name="Text 20"/>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SCREEN 01 / MAIN</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Main画面（ディスパッチコンソール）</a:t>
            </a:r>
            <a:endParaRPr lang="en-US" sz="3000" dirty="0"/>
          </a:p>
        </p:txBody>
      </p:sp>
      <p:sp>
        <p:nvSpPr>
          <p:cNvPr id="4" name="Shape 2"/>
          <p:cNvSpPr/>
          <p:nvPr/>
        </p:nvSpPr>
        <p:spPr>
          <a:xfrm>
            <a:off x="850392" y="1536192"/>
            <a:ext cx="2254458" cy="4288536"/>
          </a:xfrm>
          <a:prstGeom prst="roundRect">
            <a:avLst>
              <a:gd name="adj" fmla="val 4867"/>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5" name="Image 0" descr="images/screen_main.png"/>
          <p:cNvPicPr>
            <a:picLocks noChangeAspect="1"/>
          </p:cNvPicPr>
          <p:nvPr/>
        </p:nvPicPr>
        <p:blipFill>
          <a:blip r:embed="rId3"/>
          <a:stretch>
            <a:fillRect/>
          </a:stretch>
        </p:blipFill>
        <p:spPr>
          <a:xfrm>
            <a:off x="914400" y="1600200"/>
            <a:ext cx="2126442" cy="4160520"/>
          </a:xfrm>
          <a:prstGeom prst="rect">
            <a:avLst/>
          </a:prstGeom>
        </p:spPr>
      </p:pic>
      <p:sp>
        <p:nvSpPr>
          <p:cNvPr id="6" name="Text 3"/>
          <p:cNvSpPr/>
          <p:nvPr/>
        </p:nvSpPr>
        <p:spPr>
          <a:xfrm>
            <a:off x="3818082" y="1627632"/>
            <a:ext cx="7824973" cy="685800"/>
          </a:xfrm>
          <a:prstGeom prst="rect">
            <a:avLst/>
          </a:prstGeom>
          <a:noFill/>
          <a:ln/>
        </p:spPr>
        <p:txBody>
          <a:bodyPr wrap="square" rtlCol="0" anchor="t"/>
          <a:lstStyle/>
          <a:p>
            <a:pPr marL="0" indent="0">
              <a:lnSpc>
                <a:spcPct val="120000"/>
              </a:lnSpc>
              <a:buNone/>
            </a:pPr>
            <a:r>
              <a:rPr lang="en-US" sz="1350" i="1" dirty="0">
                <a:solidFill>
                  <a:srgbClr val="55626F"/>
                </a:solidFill>
                <a:latin typeface="Yu Gothic" pitchFamily="34" charset="0"/>
                <a:ea typeface="Yu Gothic" pitchFamily="34" charset="-122"/>
                <a:cs typeface="Yu Gothic" pitchFamily="34" charset="-120"/>
              </a:rPr>
              <a:t>搬送指示の送信と、ストッカーの稼働状態をリアルタイムに確認する中心画面。</a:t>
            </a:r>
            <a:endParaRPr lang="en-US" sz="1350" dirty="0"/>
          </a:p>
        </p:txBody>
      </p:sp>
      <p:sp>
        <p:nvSpPr>
          <p:cNvPr id="7" name="Shape 4"/>
          <p:cNvSpPr/>
          <p:nvPr/>
        </p:nvSpPr>
        <p:spPr>
          <a:xfrm>
            <a:off x="3818082" y="2423160"/>
            <a:ext cx="7824973"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8" name="Shape 5"/>
          <p:cNvSpPr/>
          <p:nvPr/>
        </p:nvSpPr>
        <p:spPr>
          <a:xfrm>
            <a:off x="4019250" y="2651760"/>
            <a:ext cx="457200" cy="457200"/>
          </a:xfrm>
          <a:prstGeom prst="ellipse">
            <a:avLst/>
          </a:prstGeom>
          <a:solidFill>
            <a:srgbClr val="1565C0"/>
          </a:solidFill>
          <a:ln/>
        </p:spPr>
        <p:txBody>
          <a:bodyPr/>
          <a:lstStyle/>
          <a:p>
            <a:endParaRPr lang="ja-JP" altLang="en-US"/>
          </a:p>
        </p:txBody>
      </p:sp>
      <p:pic>
        <p:nvPicPr>
          <p:cNvPr id="9" name="Image 1" descr="images/icons/icon_route.png"/>
          <p:cNvPicPr>
            <a:picLocks noChangeAspect="1"/>
          </p:cNvPicPr>
          <p:nvPr/>
        </p:nvPicPr>
        <p:blipFill>
          <a:blip r:embed="rId4"/>
          <a:stretch>
            <a:fillRect/>
          </a:stretch>
        </p:blipFill>
        <p:spPr>
          <a:xfrm>
            <a:off x="4138122" y="2770632"/>
            <a:ext cx="219456" cy="219456"/>
          </a:xfrm>
          <a:prstGeom prst="rect">
            <a:avLst/>
          </a:prstGeom>
        </p:spPr>
      </p:pic>
      <p:sp>
        <p:nvSpPr>
          <p:cNvPr id="10" name="Text 6"/>
          <p:cNvSpPr/>
          <p:nvPr/>
        </p:nvSpPr>
        <p:spPr>
          <a:xfrm>
            <a:off x="4641042" y="2496312"/>
            <a:ext cx="6819133" cy="768096"/>
          </a:xfrm>
          <a:prstGeom prst="rect">
            <a:avLst/>
          </a:prstGeom>
          <a:noFill/>
          <a:ln/>
        </p:spPr>
        <p:txBody>
          <a:bodyPr wrap="square" lIns="0" tIns="0" rIns="0" bIns="0" rtlCol="0" anchor="ctr"/>
          <a:lstStyle/>
          <a:p>
            <a:pPr marL="0" indent="0">
              <a:lnSpc>
                <a:spcPct val="105000"/>
              </a:lnSpc>
              <a:buNone/>
            </a:pPr>
            <a:r>
              <a:rPr lang="en-US" sz="1150" b="1" dirty="0">
                <a:solidFill>
                  <a:srgbClr val="1565C0"/>
                </a:solidFill>
                <a:latin typeface="Yu Gothic" pitchFamily="34" charset="0"/>
                <a:ea typeface="Yu Gothic" pitchFamily="34" charset="-122"/>
                <a:cs typeface="Yu Gothic" pitchFamily="34" charset="-120"/>
              </a:rPr>
              <a:t>F-002　</a:t>
            </a:r>
            <a:r>
              <a:rPr lang="en-US" sz="1350" b="1" dirty="0">
                <a:solidFill>
                  <a:srgbClr val="1A2330"/>
                </a:solidFill>
                <a:latin typeface="Yu Gothic" pitchFamily="34" charset="0"/>
                <a:ea typeface="Yu Gothic" pitchFamily="34" charset="-122"/>
                <a:cs typeface="Yu Gothic" pitchFamily="34" charset="-120"/>
              </a:rPr>
              <a:t>搬送指示（TRANSFER）送信</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キャリアID・搬送元・搬送先を指定し POST /api/front/equipment/command を送信</a:t>
            </a:r>
            <a:endParaRPr lang="en-US" sz="1150" dirty="0"/>
          </a:p>
        </p:txBody>
      </p:sp>
      <p:sp>
        <p:nvSpPr>
          <p:cNvPr id="11" name="Shape 7"/>
          <p:cNvSpPr/>
          <p:nvPr/>
        </p:nvSpPr>
        <p:spPr>
          <a:xfrm>
            <a:off x="3818082" y="3502152"/>
            <a:ext cx="7824973"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2" name="Shape 8"/>
          <p:cNvSpPr/>
          <p:nvPr/>
        </p:nvSpPr>
        <p:spPr>
          <a:xfrm>
            <a:off x="4019250" y="3730752"/>
            <a:ext cx="457200" cy="457200"/>
          </a:xfrm>
          <a:prstGeom prst="ellipse">
            <a:avLst/>
          </a:prstGeom>
          <a:solidFill>
            <a:srgbClr val="C62828"/>
          </a:solidFill>
          <a:ln/>
        </p:spPr>
        <p:txBody>
          <a:bodyPr/>
          <a:lstStyle/>
          <a:p>
            <a:endParaRPr lang="ja-JP" altLang="en-US"/>
          </a:p>
        </p:txBody>
      </p:sp>
      <p:pic>
        <p:nvPicPr>
          <p:cNvPr id="13" name="Image 2" descr="images/icons/icon_shield.png"/>
          <p:cNvPicPr>
            <a:picLocks noChangeAspect="1"/>
          </p:cNvPicPr>
          <p:nvPr/>
        </p:nvPicPr>
        <p:blipFill>
          <a:blip r:embed="rId5"/>
          <a:stretch>
            <a:fillRect/>
          </a:stretch>
        </p:blipFill>
        <p:spPr>
          <a:xfrm>
            <a:off x="4138122" y="3849624"/>
            <a:ext cx="219456" cy="219456"/>
          </a:xfrm>
          <a:prstGeom prst="rect">
            <a:avLst/>
          </a:prstGeom>
        </p:spPr>
      </p:pic>
      <p:sp>
        <p:nvSpPr>
          <p:cNvPr id="14" name="Text 9"/>
          <p:cNvSpPr/>
          <p:nvPr/>
        </p:nvSpPr>
        <p:spPr>
          <a:xfrm>
            <a:off x="4641042" y="3575304"/>
            <a:ext cx="6819133" cy="768096"/>
          </a:xfrm>
          <a:prstGeom prst="rect">
            <a:avLst/>
          </a:prstGeom>
          <a:noFill/>
          <a:ln/>
        </p:spPr>
        <p:txBody>
          <a:bodyPr wrap="square" lIns="0" tIns="0" rIns="0" bIns="0" rtlCol="0" anchor="ctr"/>
          <a:lstStyle/>
          <a:p>
            <a:pPr marL="0" indent="0">
              <a:lnSpc>
                <a:spcPct val="105000"/>
              </a:lnSpc>
              <a:buNone/>
            </a:pPr>
            <a:r>
              <a:rPr lang="en-US" sz="1150" b="1" dirty="0">
                <a:solidFill>
                  <a:srgbClr val="C62828"/>
                </a:solidFill>
                <a:latin typeface="Yu Gothic" pitchFamily="34" charset="0"/>
                <a:ea typeface="Yu Gothic" pitchFamily="34" charset="-122"/>
                <a:cs typeface="Yu Gothic" pitchFamily="34" charset="-120"/>
              </a:rPr>
              <a:t>F-007　</a:t>
            </a:r>
            <a:r>
              <a:rPr lang="en-US" sz="1350" b="1" dirty="0">
                <a:solidFill>
                  <a:srgbClr val="1A2330"/>
                </a:solidFill>
                <a:latin typeface="Yu Gothic" pitchFamily="34" charset="0"/>
                <a:ea typeface="Yu Gothic" pitchFamily="34" charset="-122"/>
                <a:cs typeface="Yu Gothic" pitchFamily="34" charset="-120"/>
              </a:rPr>
              <a:t>安全インターロック</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OFFLINE または TRAVELING 中は搬送ボタンを自動的に無効化</a:t>
            </a:r>
            <a:endParaRPr lang="en-US" sz="1150" dirty="0"/>
          </a:p>
        </p:txBody>
      </p:sp>
      <p:sp>
        <p:nvSpPr>
          <p:cNvPr id="15" name="Shape 10"/>
          <p:cNvSpPr/>
          <p:nvPr/>
        </p:nvSpPr>
        <p:spPr>
          <a:xfrm>
            <a:off x="3818082" y="4581144"/>
            <a:ext cx="7824973"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6" name="Shape 11"/>
          <p:cNvSpPr/>
          <p:nvPr/>
        </p:nvSpPr>
        <p:spPr>
          <a:xfrm>
            <a:off x="4019250" y="4809744"/>
            <a:ext cx="457200" cy="457200"/>
          </a:xfrm>
          <a:prstGeom prst="ellipse">
            <a:avLst/>
          </a:prstGeom>
          <a:solidFill>
            <a:srgbClr val="F9A825"/>
          </a:solidFill>
          <a:ln/>
        </p:spPr>
        <p:txBody>
          <a:bodyPr/>
          <a:lstStyle/>
          <a:p>
            <a:endParaRPr lang="ja-JP" altLang="en-US"/>
          </a:p>
        </p:txBody>
      </p:sp>
      <p:pic>
        <p:nvPicPr>
          <p:cNvPr id="17" name="Image 3" descr="images/icons/icon_bug.png"/>
          <p:cNvPicPr>
            <a:picLocks noChangeAspect="1"/>
          </p:cNvPicPr>
          <p:nvPr/>
        </p:nvPicPr>
        <p:blipFill>
          <a:blip r:embed="rId6"/>
          <a:stretch>
            <a:fillRect/>
          </a:stretch>
        </p:blipFill>
        <p:spPr>
          <a:xfrm>
            <a:off x="4138122" y="4928616"/>
            <a:ext cx="219456" cy="219456"/>
          </a:xfrm>
          <a:prstGeom prst="rect">
            <a:avLst/>
          </a:prstGeom>
        </p:spPr>
      </p:pic>
      <p:sp>
        <p:nvSpPr>
          <p:cNvPr id="18" name="Text 12"/>
          <p:cNvSpPr/>
          <p:nvPr/>
        </p:nvSpPr>
        <p:spPr>
          <a:xfrm>
            <a:off x="4641042" y="4654296"/>
            <a:ext cx="6819133" cy="768096"/>
          </a:xfrm>
          <a:prstGeom prst="rect">
            <a:avLst/>
          </a:prstGeom>
          <a:noFill/>
          <a:ln/>
        </p:spPr>
        <p:txBody>
          <a:bodyPr wrap="square" lIns="0" tIns="0" rIns="0" bIns="0" rtlCol="0" anchor="ctr"/>
          <a:lstStyle/>
          <a:p>
            <a:pPr marL="0" indent="0">
              <a:lnSpc>
                <a:spcPct val="105000"/>
              </a:lnSpc>
              <a:buNone/>
            </a:pPr>
            <a:r>
              <a:rPr lang="en-US" sz="1150" b="1" dirty="0">
                <a:solidFill>
                  <a:srgbClr val="F9A825"/>
                </a:solidFill>
                <a:latin typeface="Yu Gothic" pitchFamily="34" charset="0"/>
                <a:ea typeface="Yu Gothic" pitchFamily="34" charset="-122"/>
                <a:cs typeface="Yu Gothic" pitchFamily="34" charset="-120"/>
              </a:rPr>
              <a:t>開発用　</a:t>
            </a:r>
            <a:r>
              <a:rPr lang="en-US" sz="1350" b="1" dirty="0">
                <a:solidFill>
                  <a:srgbClr val="1A2330"/>
                </a:solidFill>
                <a:latin typeface="Yu Gothic" pitchFamily="34" charset="0"/>
                <a:ea typeface="Yu Gothic" pitchFamily="34" charset="-122"/>
                <a:cs typeface="Yu Gothic" pitchFamily="34" charset="-120"/>
              </a:rPr>
              <a:t>通信テストパネル</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3秒ポーリングの結果とAPI応答コードをリアルタイム表示</a:t>
            </a:r>
            <a:endParaRPr lang="en-US" sz="1150" dirty="0"/>
          </a:p>
        </p:txBody>
      </p:sp>
      <p:sp>
        <p:nvSpPr>
          <p:cNvPr id="19" name="Text 1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0" name="Text 14"/>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SCREEN 02 / STOCKERS</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err="1">
                <a:solidFill>
                  <a:srgbClr val="1A2330"/>
                </a:solidFill>
                <a:latin typeface="Yu Gothic" pitchFamily="34" charset="0"/>
                <a:ea typeface="Yu Gothic" pitchFamily="34" charset="-122"/>
                <a:cs typeface="Yu Gothic" pitchFamily="34" charset="-120"/>
              </a:rPr>
              <a:t>Stockers画面（ストッカー一覧</a:t>
            </a:r>
            <a:r>
              <a:rPr lang="en-US" sz="3000" b="1" dirty="0">
                <a:solidFill>
                  <a:srgbClr val="1A2330"/>
                </a:solidFill>
                <a:latin typeface="Yu Gothic" pitchFamily="34" charset="0"/>
                <a:ea typeface="Yu Gothic" pitchFamily="34" charset="-122"/>
                <a:cs typeface="Yu Gothic" pitchFamily="34" charset="-120"/>
              </a:rPr>
              <a:t>）</a:t>
            </a:r>
            <a:endParaRPr lang="en-US" sz="3000" dirty="0"/>
          </a:p>
        </p:txBody>
      </p:sp>
      <p:sp>
        <p:nvSpPr>
          <p:cNvPr id="4" name="Shape 2"/>
          <p:cNvSpPr/>
          <p:nvPr/>
        </p:nvSpPr>
        <p:spPr>
          <a:xfrm>
            <a:off x="850392" y="1536192"/>
            <a:ext cx="2261531" cy="4288536"/>
          </a:xfrm>
          <a:prstGeom prst="roundRect">
            <a:avLst>
              <a:gd name="adj" fmla="val 4852"/>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5" name="Image 0" descr="images/screen_stockers.png"/>
          <p:cNvPicPr>
            <a:picLocks noChangeAspect="1"/>
          </p:cNvPicPr>
          <p:nvPr/>
        </p:nvPicPr>
        <p:blipFill>
          <a:blip r:embed="rId3"/>
          <a:stretch>
            <a:fillRect/>
          </a:stretch>
        </p:blipFill>
        <p:spPr>
          <a:xfrm>
            <a:off x="914400" y="1600200"/>
            <a:ext cx="2133515" cy="4160520"/>
          </a:xfrm>
          <a:prstGeom prst="rect">
            <a:avLst/>
          </a:prstGeom>
        </p:spPr>
      </p:pic>
      <p:sp>
        <p:nvSpPr>
          <p:cNvPr id="6" name="Text 3"/>
          <p:cNvSpPr/>
          <p:nvPr/>
        </p:nvSpPr>
        <p:spPr>
          <a:xfrm>
            <a:off x="3825155" y="1627632"/>
            <a:ext cx="7817901" cy="685800"/>
          </a:xfrm>
          <a:prstGeom prst="rect">
            <a:avLst/>
          </a:prstGeom>
          <a:noFill/>
          <a:ln/>
        </p:spPr>
        <p:txBody>
          <a:bodyPr wrap="square" rtlCol="0" anchor="t"/>
          <a:lstStyle/>
          <a:p>
            <a:pPr marL="0" indent="0">
              <a:lnSpc>
                <a:spcPct val="120000"/>
              </a:lnSpc>
              <a:buNone/>
            </a:pPr>
            <a:r>
              <a:rPr lang="en-US" sz="1350" i="1" dirty="0">
                <a:solidFill>
                  <a:srgbClr val="55626F"/>
                </a:solidFill>
                <a:latin typeface="Yu Gothic" pitchFamily="34" charset="0"/>
                <a:ea typeface="Yu Gothic" pitchFamily="34" charset="-122"/>
                <a:cs typeface="Yu Gothic" pitchFamily="34" charset="-120"/>
              </a:rPr>
              <a:t>全ストッカーの接続状態・稼働状態をBootstrapカード形式で一覧表示。</a:t>
            </a:r>
            <a:endParaRPr lang="en-US" sz="1350" dirty="0"/>
          </a:p>
        </p:txBody>
      </p:sp>
      <p:sp>
        <p:nvSpPr>
          <p:cNvPr id="7" name="Shape 4"/>
          <p:cNvSpPr/>
          <p:nvPr/>
        </p:nvSpPr>
        <p:spPr>
          <a:xfrm>
            <a:off x="3825155" y="2423160"/>
            <a:ext cx="7817901"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8" name="Shape 5"/>
          <p:cNvSpPr/>
          <p:nvPr/>
        </p:nvSpPr>
        <p:spPr>
          <a:xfrm>
            <a:off x="4026323" y="2651760"/>
            <a:ext cx="457200" cy="457200"/>
          </a:xfrm>
          <a:prstGeom prst="ellipse">
            <a:avLst/>
          </a:prstGeom>
          <a:solidFill>
            <a:srgbClr val="1565C0"/>
          </a:solidFill>
          <a:ln/>
        </p:spPr>
        <p:txBody>
          <a:bodyPr/>
          <a:lstStyle/>
          <a:p>
            <a:endParaRPr lang="ja-JP" altLang="en-US"/>
          </a:p>
        </p:txBody>
      </p:sp>
      <p:pic>
        <p:nvPicPr>
          <p:cNvPr id="9" name="Image 1" descr="images/icons/icon_database.png"/>
          <p:cNvPicPr>
            <a:picLocks noChangeAspect="1"/>
          </p:cNvPicPr>
          <p:nvPr/>
        </p:nvPicPr>
        <p:blipFill>
          <a:blip r:embed="rId4"/>
          <a:stretch>
            <a:fillRect/>
          </a:stretch>
        </p:blipFill>
        <p:spPr>
          <a:xfrm>
            <a:off x="4145195" y="2770632"/>
            <a:ext cx="219456" cy="219456"/>
          </a:xfrm>
          <a:prstGeom prst="rect">
            <a:avLst/>
          </a:prstGeom>
        </p:spPr>
      </p:pic>
      <p:sp>
        <p:nvSpPr>
          <p:cNvPr id="10" name="Text 6"/>
          <p:cNvSpPr/>
          <p:nvPr/>
        </p:nvSpPr>
        <p:spPr>
          <a:xfrm>
            <a:off x="4648115" y="2496312"/>
            <a:ext cx="6812061" cy="768096"/>
          </a:xfrm>
          <a:prstGeom prst="rect">
            <a:avLst/>
          </a:prstGeom>
          <a:noFill/>
          <a:ln/>
        </p:spPr>
        <p:txBody>
          <a:bodyPr wrap="square" lIns="0" tIns="0" rIns="0" bIns="0" rtlCol="0" anchor="ctr"/>
          <a:lstStyle/>
          <a:p>
            <a:pPr marL="0" indent="0">
              <a:lnSpc>
                <a:spcPct val="105000"/>
              </a:lnSpc>
              <a:buNone/>
            </a:pPr>
            <a:r>
              <a:rPr lang="en-US" sz="1150" b="1" dirty="0">
                <a:solidFill>
                  <a:srgbClr val="1565C0"/>
                </a:solidFill>
                <a:latin typeface="Yu Gothic" pitchFamily="34" charset="0"/>
                <a:ea typeface="Yu Gothic" pitchFamily="34" charset="-122"/>
                <a:cs typeface="Yu Gothic" pitchFamily="34" charset="-120"/>
              </a:rPr>
              <a:t>F-009　</a:t>
            </a:r>
            <a:r>
              <a:rPr lang="en-US" sz="1350" b="1" dirty="0">
                <a:solidFill>
                  <a:srgbClr val="1A2330"/>
                </a:solidFill>
                <a:latin typeface="Yu Gothic" pitchFamily="34" charset="0"/>
                <a:ea typeface="Yu Gothic" pitchFamily="34" charset="-122"/>
                <a:cs typeface="Yu Gothic" pitchFamily="34" charset="-120"/>
              </a:rPr>
              <a:t>ストッカー状態一覧</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GET /api/front/stockers を3秒ごとに取得し自動更新</a:t>
            </a:r>
            <a:endParaRPr lang="en-US" sz="1150" dirty="0"/>
          </a:p>
        </p:txBody>
      </p:sp>
      <p:sp>
        <p:nvSpPr>
          <p:cNvPr id="11" name="Shape 7"/>
          <p:cNvSpPr/>
          <p:nvPr/>
        </p:nvSpPr>
        <p:spPr>
          <a:xfrm>
            <a:off x="3825155" y="3502152"/>
            <a:ext cx="7817901"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2" name="Shape 8"/>
          <p:cNvSpPr/>
          <p:nvPr/>
        </p:nvSpPr>
        <p:spPr>
          <a:xfrm>
            <a:off x="4026323" y="3730752"/>
            <a:ext cx="457200" cy="457200"/>
          </a:xfrm>
          <a:prstGeom prst="ellipse">
            <a:avLst/>
          </a:prstGeom>
          <a:solidFill>
            <a:srgbClr val="55626F"/>
          </a:solidFill>
          <a:ln/>
        </p:spPr>
        <p:txBody>
          <a:bodyPr/>
          <a:lstStyle/>
          <a:p>
            <a:endParaRPr lang="ja-JP" altLang="en-US"/>
          </a:p>
        </p:txBody>
      </p:sp>
      <p:pic>
        <p:nvPicPr>
          <p:cNvPr id="13" name="Image 2" descr="images/icons/icon_warning.png"/>
          <p:cNvPicPr>
            <a:picLocks noChangeAspect="1"/>
          </p:cNvPicPr>
          <p:nvPr/>
        </p:nvPicPr>
        <p:blipFill>
          <a:blip r:embed="rId5"/>
          <a:stretch>
            <a:fillRect/>
          </a:stretch>
        </p:blipFill>
        <p:spPr>
          <a:xfrm>
            <a:off x="4145195" y="3849624"/>
            <a:ext cx="219456" cy="219456"/>
          </a:xfrm>
          <a:prstGeom prst="rect">
            <a:avLst/>
          </a:prstGeom>
        </p:spPr>
      </p:pic>
      <p:sp>
        <p:nvSpPr>
          <p:cNvPr id="14" name="Text 9"/>
          <p:cNvSpPr/>
          <p:nvPr/>
        </p:nvSpPr>
        <p:spPr>
          <a:xfrm>
            <a:off x="4648115" y="3575304"/>
            <a:ext cx="6812061" cy="768096"/>
          </a:xfrm>
          <a:prstGeom prst="rect">
            <a:avLst/>
          </a:prstGeom>
          <a:noFill/>
          <a:ln/>
        </p:spPr>
        <p:txBody>
          <a:bodyPr wrap="square" lIns="0" tIns="0" rIns="0" bIns="0" rtlCol="0" anchor="ctr"/>
          <a:lstStyle/>
          <a:p>
            <a:pPr marL="0" indent="0">
              <a:lnSpc>
                <a:spcPct val="105000"/>
              </a:lnSpc>
              <a:buNone/>
            </a:pPr>
            <a:r>
              <a:rPr lang="en-US" sz="1150" b="1" dirty="0">
                <a:solidFill>
                  <a:srgbClr val="55626F"/>
                </a:solidFill>
                <a:latin typeface="Yu Gothic" pitchFamily="34" charset="0"/>
                <a:ea typeface="Yu Gothic" pitchFamily="34" charset="-122"/>
                <a:cs typeface="Yu Gothic" pitchFamily="34" charset="-120"/>
              </a:rPr>
              <a:t>R-004　</a:t>
            </a:r>
            <a:r>
              <a:rPr lang="en-US" sz="1350" b="1" dirty="0">
                <a:solidFill>
                  <a:srgbClr val="1A2330"/>
                </a:solidFill>
                <a:latin typeface="Yu Gothic" pitchFamily="34" charset="0"/>
                <a:ea typeface="Yu Gothic" pitchFamily="34" charset="-122"/>
                <a:cs typeface="Yu Gothic" pitchFamily="34" charset="-120"/>
              </a:rPr>
              <a:t>OFFLINE時のグレーアウト</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接続が切れているストッカーはカード全体を視覚的に減光表示</a:t>
            </a:r>
            <a:endParaRPr lang="en-US" sz="1150" dirty="0"/>
          </a:p>
        </p:txBody>
      </p:sp>
      <p:sp>
        <p:nvSpPr>
          <p:cNvPr id="15" name="Shape 10"/>
          <p:cNvSpPr/>
          <p:nvPr/>
        </p:nvSpPr>
        <p:spPr>
          <a:xfrm>
            <a:off x="3825155" y="4581144"/>
            <a:ext cx="7817901"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6" name="Shape 11"/>
          <p:cNvSpPr/>
          <p:nvPr/>
        </p:nvSpPr>
        <p:spPr>
          <a:xfrm>
            <a:off x="4026323" y="4809744"/>
            <a:ext cx="457200" cy="457200"/>
          </a:xfrm>
          <a:prstGeom prst="ellipse">
            <a:avLst/>
          </a:prstGeom>
          <a:solidFill>
            <a:srgbClr val="2E7D32"/>
          </a:solidFill>
          <a:ln/>
        </p:spPr>
        <p:txBody>
          <a:bodyPr/>
          <a:lstStyle/>
          <a:p>
            <a:endParaRPr lang="ja-JP" altLang="en-US"/>
          </a:p>
        </p:txBody>
      </p:sp>
      <p:pic>
        <p:nvPicPr>
          <p:cNvPr id="17" name="Image 3" descr="images/icons/icon_check.png"/>
          <p:cNvPicPr>
            <a:picLocks noChangeAspect="1"/>
          </p:cNvPicPr>
          <p:nvPr/>
        </p:nvPicPr>
        <p:blipFill>
          <a:blip r:embed="rId6"/>
          <a:stretch>
            <a:fillRect/>
          </a:stretch>
        </p:blipFill>
        <p:spPr>
          <a:xfrm>
            <a:off x="4145195" y="4928616"/>
            <a:ext cx="219456" cy="219456"/>
          </a:xfrm>
          <a:prstGeom prst="rect">
            <a:avLst/>
          </a:prstGeom>
        </p:spPr>
      </p:pic>
      <p:sp>
        <p:nvSpPr>
          <p:cNvPr id="18" name="Text 12"/>
          <p:cNvSpPr/>
          <p:nvPr/>
        </p:nvSpPr>
        <p:spPr>
          <a:xfrm>
            <a:off x="4648115" y="4654296"/>
            <a:ext cx="6812061" cy="768096"/>
          </a:xfrm>
          <a:prstGeom prst="rect">
            <a:avLst/>
          </a:prstGeom>
          <a:noFill/>
          <a:ln/>
        </p:spPr>
        <p:txBody>
          <a:bodyPr wrap="square" lIns="0" tIns="0" rIns="0" bIns="0" rtlCol="0" anchor="ctr"/>
          <a:lstStyle/>
          <a:p>
            <a:pPr marL="0" indent="0">
              <a:lnSpc>
                <a:spcPct val="105000"/>
              </a:lnSpc>
              <a:buNone/>
            </a:pPr>
            <a:r>
              <a:rPr lang="en-US" sz="1150" b="1" dirty="0">
                <a:solidFill>
                  <a:srgbClr val="2E7D32"/>
                </a:solidFill>
                <a:latin typeface="Yu Gothic" pitchFamily="34" charset="0"/>
                <a:ea typeface="Yu Gothic" pitchFamily="34" charset="-122"/>
                <a:cs typeface="Yu Gothic" pitchFamily="34" charset="-120"/>
              </a:rPr>
              <a:t>デザイン　</a:t>
            </a:r>
            <a:r>
              <a:rPr lang="en-US" sz="1350" b="1" dirty="0">
                <a:solidFill>
                  <a:srgbClr val="1A2330"/>
                </a:solidFill>
                <a:latin typeface="Yu Gothic" pitchFamily="34" charset="0"/>
                <a:ea typeface="Yu Gothic" pitchFamily="34" charset="-122"/>
                <a:cs typeface="Yu Gothic" pitchFamily="34" charset="-120"/>
              </a:rPr>
              <a:t>Active／Reservedバッジ</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登録状態をひとめで判別できるよう色分けバッジで表示</a:t>
            </a:r>
            <a:endParaRPr lang="en-US" sz="1150" dirty="0"/>
          </a:p>
        </p:txBody>
      </p:sp>
      <p:sp>
        <p:nvSpPr>
          <p:cNvPr id="19" name="Text 1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0" name="Text 14"/>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SCREEN 03 / JOBS</a:t>
            </a:r>
            <a:endParaRPr lang="en-US" sz="1300" dirty="0"/>
          </a:p>
        </p:txBody>
      </p:sp>
      <p:sp>
        <p:nvSpPr>
          <p:cNvPr id="3" name="Text 1"/>
          <p:cNvSpPr/>
          <p:nvPr/>
        </p:nvSpPr>
        <p:spPr>
          <a:xfrm>
            <a:off x="548640" y="610538"/>
            <a:ext cx="10515600" cy="640080"/>
          </a:xfrm>
          <a:prstGeom prst="rect">
            <a:avLst/>
          </a:prstGeom>
          <a:noFill/>
          <a:ln/>
        </p:spPr>
        <p:txBody>
          <a:bodyPr wrap="square" lIns="0" tIns="0" rIns="0" bIns="0" rtlCol="0" anchor="ctr"/>
          <a:lstStyle/>
          <a:p>
            <a:pPr marL="0" indent="0">
              <a:buNone/>
            </a:pPr>
            <a:r>
              <a:rPr lang="en-US" sz="3000" b="1" dirty="0" err="1">
                <a:solidFill>
                  <a:srgbClr val="1A2330"/>
                </a:solidFill>
                <a:latin typeface="Yu Gothic" pitchFamily="34" charset="0"/>
                <a:ea typeface="Yu Gothic" pitchFamily="34" charset="-122"/>
                <a:cs typeface="Yu Gothic" pitchFamily="34" charset="-120"/>
              </a:rPr>
              <a:t>Jobs画面（ジョブ監視</a:t>
            </a:r>
            <a:r>
              <a:rPr lang="en-US" sz="3000" b="1" dirty="0">
                <a:solidFill>
                  <a:srgbClr val="1A2330"/>
                </a:solidFill>
                <a:latin typeface="Yu Gothic" pitchFamily="34" charset="0"/>
                <a:ea typeface="Yu Gothic" pitchFamily="34" charset="-122"/>
                <a:cs typeface="Yu Gothic" pitchFamily="34" charset="-120"/>
              </a:rPr>
              <a:t>）</a:t>
            </a:r>
            <a:endParaRPr lang="en-US" sz="3000" dirty="0"/>
          </a:p>
        </p:txBody>
      </p:sp>
      <p:sp>
        <p:nvSpPr>
          <p:cNvPr id="4" name="Shape 2"/>
          <p:cNvSpPr/>
          <p:nvPr/>
        </p:nvSpPr>
        <p:spPr>
          <a:xfrm>
            <a:off x="850392" y="1536192"/>
            <a:ext cx="2262779" cy="4288536"/>
          </a:xfrm>
          <a:prstGeom prst="roundRect">
            <a:avLst>
              <a:gd name="adj" fmla="val 4849"/>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5" name="Image 0" descr="images/screen_jobs.png"/>
          <p:cNvPicPr>
            <a:picLocks noChangeAspect="1"/>
          </p:cNvPicPr>
          <p:nvPr/>
        </p:nvPicPr>
        <p:blipFill>
          <a:blip r:embed="rId3"/>
          <a:stretch>
            <a:fillRect/>
          </a:stretch>
        </p:blipFill>
        <p:spPr>
          <a:xfrm>
            <a:off x="914400" y="1600200"/>
            <a:ext cx="2134763" cy="4160520"/>
          </a:xfrm>
          <a:prstGeom prst="rect">
            <a:avLst/>
          </a:prstGeom>
        </p:spPr>
      </p:pic>
      <p:sp>
        <p:nvSpPr>
          <p:cNvPr id="6" name="Text 3"/>
          <p:cNvSpPr/>
          <p:nvPr/>
        </p:nvSpPr>
        <p:spPr>
          <a:xfrm>
            <a:off x="3826403" y="1627632"/>
            <a:ext cx="7816652" cy="685800"/>
          </a:xfrm>
          <a:prstGeom prst="rect">
            <a:avLst/>
          </a:prstGeom>
          <a:noFill/>
          <a:ln/>
        </p:spPr>
        <p:txBody>
          <a:bodyPr wrap="square" rtlCol="0" anchor="t"/>
          <a:lstStyle/>
          <a:p>
            <a:pPr>
              <a:lnSpc>
                <a:spcPct val="120000"/>
              </a:lnSpc>
            </a:pPr>
            <a:r>
              <a:rPr lang="en-US" sz="1350" i="1" dirty="0">
                <a:solidFill>
                  <a:srgbClr val="55626F"/>
                </a:solidFill>
                <a:latin typeface="Yu Gothic" pitchFamily="34" charset="0"/>
                <a:ea typeface="Yu Gothic" pitchFamily="34" charset="-122"/>
                <a:cs typeface="Yu Gothic" pitchFamily="34" charset="-120"/>
              </a:rPr>
              <a:t>PENDING</a:t>
            </a:r>
            <a:r>
              <a:rPr lang="en-US" altLang="ja-JP" sz="1350" i="1" dirty="0">
                <a:solidFill>
                  <a:srgbClr val="55626F"/>
                </a:solidFill>
                <a:latin typeface="Yu Gothic" pitchFamily="34" charset="0"/>
                <a:ea typeface="Yu Gothic" pitchFamily="34" charset="-122"/>
                <a:cs typeface="Yu Gothic" pitchFamily="34" charset="-120"/>
              </a:rPr>
              <a:t>/</a:t>
            </a:r>
            <a:r>
              <a:rPr lang="en-US" sz="1350" i="1" dirty="0">
                <a:solidFill>
                  <a:srgbClr val="55626F"/>
                </a:solidFill>
                <a:latin typeface="Yu Gothic" pitchFamily="34" charset="0"/>
                <a:ea typeface="Yu Gothic" pitchFamily="34" charset="-122"/>
                <a:cs typeface="Yu Gothic" pitchFamily="34" charset="-120"/>
              </a:rPr>
              <a:t>RUNNING</a:t>
            </a:r>
            <a:r>
              <a:rPr lang="en-US" altLang="ja-JP" sz="1350" i="1" dirty="0">
                <a:solidFill>
                  <a:srgbClr val="55626F"/>
                </a:solidFill>
                <a:latin typeface="Yu Gothic" pitchFamily="34" charset="0"/>
                <a:ea typeface="Yu Gothic" pitchFamily="34" charset="-122"/>
                <a:cs typeface="Yu Gothic" pitchFamily="34" charset="-120"/>
              </a:rPr>
              <a:t>/COMPLETED/ABORTED</a:t>
            </a:r>
            <a:r>
              <a:rPr lang="en-US" sz="1350" i="1" dirty="0">
                <a:solidFill>
                  <a:srgbClr val="55626F"/>
                </a:solidFill>
                <a:latin typeface="Yu Gothic" pitchFamily="34" charset="0"/>
                <a:ea typeface="Yu Gothic" pitchFamily="34" charset="-122"/>
                <a:cs typeface="Yu Gothic" pitchFamily="34" charset="-120"/>
              </a:rPr>
              <a:t>の</a:t>
            </a:r>
            <a:r>
              <a:rPr lang="ja-JP" altLang="en-US" sz="1350" i="1" dirty="0">
                <a:solidFill>
                  <a:srgbClr val="55626F"/>
                </a:solidFill>
                <a:latin typeface="Yu Gothic" pitchFamily="34" charset="0"/>
                <a:ea typeface="Yu Gothic" pitchFamily="34" charset="-122"/>
                <a:cs typeface="Yu Gothic" pitchFamily="34" charset="-120"/>
              </a:rPr>
              <a:t>アクティブ</a:t>
            </a:r>
            <a:r>
              <a:rPr lang="en-US" sz="1350" i="1" dirty="0">
                <a:solidFill>
                  <a:srgbClr val="55626F"/>
                </a:solidFill>
                <a:latin typeface="Yu Gothic" pitchFamily="34" charset="0"/>
                <a:ea typeface="Yu Gothic" pitchFamily="34" charset="-122"/>
                <a:cs typeface="Yu Gothic" pitchFamily="34" charset="-120"/>
              </a:rPr>
              <a:t>ジョブを一覧化し、削除も可能。</a:t>
            </a:r>
            <a:endParaRPr lang="en-US" sz="1350" dirty="0"/>
          </a:p>
        </p:txBody>
      </p:sp>
      <p:sp>
        <p:nvSpPr>
          <p:cNvPr id="7" name="Shape 4"/>
          <p:cNvSpPr/>
          <p:nvPr/>
        </p:nvSpPr>
        <p:spPr>
          <a:xfrm>
            <a:off x="3826403" y="2423160"/>
            <a:ext cx="7816652"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8" name="Shape 5"/>
          <p:cNvSpPr/>
          <p:nvPr/>
        </p:nvSpPr>
        <p:spPr>
          <a:xfrm>
            <a:off x="4027571" y="2651760"/>
            <a:ext cx="457200" cy="457200"/>
          </a:xfrm>
          <a:prstGeom prst="ellipse">
            <a:avLst/>
          </a:prstGeom>
          <a:solidFill>
            <a:srgbClr val="1565C0"/>
          </a:solidFill>
          <a:ln/>
        </p:spPr>
        <p:txBody>
          <a:bodyPr/>
          <a:lstStyle/>
          <a:p>
            <a:endParaRPr lang="ja-JP" altLang="en-US"/>
          </a:p>
        </p:txBody>
      </p:sp>
      <p:pic>
        <p:nvPicPr>
          <p:cNvPr id="9" name="Image 1" descr="images/icons/icon_sync.png"/>
          <p:cNvPicPr>
            <a:picLocks noChangeAspect="1"/>
          </p:cNvPicPr>
          <p:nvPr/>
        </p:nvPicPr>
        <p:blipFill>
          <a:blip r:embed="rId4"/>
          <a:stretch>
            <a:fillRect/>
          </a:stretch>
        </p:blipFill>
        <p:spPr>
          <a:xfrm>
            <a:off x="4146443" y="2770632"/>
            <a:ext cx="219456" cy="219456"/>
          </a:xfrm>
          <a:prstGeom prst="rect">
            <a:avLst/>
          </a:prstGeom>
        </p:spPr>
      </p:pic>
      <p:sp>
        <p:nvSpPr>
          <p:cNvPr id="10" name="Text 6"/>
          <p:cNvSpPr/>
          <p:nvPr/>
        </p:nvSpPr>
        <p:spPr>
          <a:xfrm>
            <a:off x="4649363" y="2496312"/>
            <a:ext cx="6810812" cy="768096"/>
          </a:xfrm>
          <a:prstGeom prst="rect">
            <a:avLst/>
          </a:prstGeom>
          <a:noFill/>
          <a:ln/>
        </p:spPr>
        <p:txBody>
          <a:bodyPr wrap="square" lIns="0" tIns="0" rIns="0" bIns="0" rtlCol="0" anchor="ctr"/>
          <a:lstStyle/>
          <a:p>
            <a:pPr marL="0" indent="0">
              <a:lnSpc>
                <a:spcPct val="105000"/>
              </a:lnSpc>
              <a:buNone/>
            </a:pPr>
            <a:r>
              <a:rPr lang="en-US" sz="1150" b="1" dirty="0">
                <a:solidFill>
                  <a:srgbClr val="1565C0"/>
                </a:solidFill>
                <a:latin typeface="Yu Gothic" pitchFamily="34" charset="0"/>
                <a:ea typeface="Yu Gothic" pitchFamily="34" charset="-122"/>
                <a:cs typeface="Yu Gothic" pitchFamily="34" charset="-120"/>
              </a:rPr>
              <a:t>F-004　</a:t>
            </a:r>
            <a:r>
              <a:rPr lang="en-US" sz="1350" b="1" dirty="0">
                <a:solidFill>
                  <a:srgbClr val="1A2330"/>
                </a:solidFill>
                <a:latin typeface="Yu Gothic" pitchFamily="34" charset="0"/>
                <a:ea typeface="Yu Gothic" pitchFamily="34" charset="-122"/>
                <a:cs typeface="Yu Gothic" pitchFamily="34" charset="-120"/>
              </a:rPr>
              <a:t>アクティブジョブ監視</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GET /api/front/jobs/active を3秒ごとに自動取得・表示</a:t>
            </a:r>
            <a:endParaRPr lang="en-US" sz="1150" dirty="0"/>
          </a:p>
        </p:txBody>
      </p:sp>
      <p:sp>
        <p:nvSpPr>
          <p:cNvPr id="11" name="Shape 7"/>
          <p:cNvSpPr/>
          <p:nvPr/>
        </p:nvSpPr>
        <p:spPr>
          <a:xfrm>
            <a:off x="3826403" y="3502152"/>
            <a:ext cx="7816652"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2" name="Shape 8"/>
          <p:cNvSpPr/>
          <p:nvPr/>
        </p:nvSpPr>
        <p:spPr>
          <a:xfrm>
            <a:off x="4027571" y="3730752"/>
            <a:ext cx="457200" cy="457200"/>
          </a:xfrm>
          <a:prstGeom prst="ellipse">
            <a:avLst/>
          </a:prstGeom>
          <a:solidFill>
            <a:srgbClr val="1565C0"/>
          </a:solidFill>
          <a:ln/>
        </p:spPr>
        <p:txBody>
          <a:bodyPr/>
          <a:lstStyle/>
          <a:p>
            <a:endParaRPr lang="ja-JP" altLang="en-US"/>
          </a:p>
        </p:txBody>
      </p:sp>
      <p:pic>
        <p:nvPicPr>
          <p:cNvPr id="13" name="Image 2" descr="images/icons/icon_main.png"/>
          <p:cNvPicPr>
            <a:picLocks noChangeAspect="1"/>
          </p:cNvPicPr>
          <p:nvPr/>
        </p:nvPicPr>
        <p:blipFill>
          <a:blip r:embed="rId5"/>
          <a:stretch>
            <a:fillRect/>
          </a:stretch>
        </p:blipFill>
        <p:spPr>
          <a:xfrm>
            <a:off x="4146443" y="3849624"/>
            <a:ext cx="219456" cy="219456"/>
          </a:xfrm>
          <a:prstGeom prst="rect">
            <a:avLst/>
          </a:prstGeom>
        </p:spPr>
      </p:pic>
      <p:sp>
        <p:nvSpPr>
          <p:cNvPr id="14" name="Text 9"/>
          <p:cNvSpPr/>
          <p:nvPr/>
        </p:nvSpPr>
        <p:spPr>
          <a:xfrm>
            <a:off x="4649363" y="3575304"/>
            <a:ext cx="6810812" cy="768096"/>
          </a:xfrm>
          <a:prstGeom prst="rect">
            <a:avLst/>
          </a:prstGeom>
          <a:noFill/>
          <a:ln/>
        </p:spPr>
        <p:txBody>
          <a:bodyPr wrap="square" lIns="0" tIns="0" rIns="0" bIns="0" rtlCol="0" anchor="ctr"/>
          <a:lstStyle/>
          <a:p>
            <a:pPr marL="0" indent="0">
              <a:lnSpc>
                <a:spcPct val="105000"/>
              </a:lnSpc>
              <a:buNone/>
            </a:pPr>
            <a:r>
              <a:rPr lang="en-US" sz="1350" b="1" dirty="0">
                <a:solidFill>
                  <a:srgbClr val="1A2330"/>
                </a:solidFill>
                <a:latin typeface="Yu Gothic" pitchFamily="34" charset="0"/>
                <a:ea typeface="Yu Gothic" pitchFamily="34" charset="-122"/>
                <a:cs typeface="Yu Gothic" pitchFamily="34" charset="-120"/>
              </a:rPr>
              <a:t>ステータス別バッジ色分け</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PENDING(橙) / RUNNING(青) を一目で識別可能に</a:t>
            </a:r>
            <a:endParaRPr lang="en-US" sz="1150" dirty="0"/>
          </a:p>
        </p:txBody>
      </p:sp>
      <p:sp>
        <p:nvSpPr>
          <p:cNvPr id="15" name="Shape 10"/>
          <p:cNvSpPr/>
          <p:nvPr/>
        </p:nvSpPr>
        <p:spPr>
          <a:xfrm>
            <a:off x="3826403" y="4581144"/>
            <a:ext cx="7816652"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6" name="Shape 11"/>
          <p:cNvSpPr/>
          <p:nvPr/>
        </p:nvSpPr>
        <p:spPr>
          <a:xfrm>
            <a:off x="4027571" y="4809744"/>
            <a:ext cx="457200" cy="457200"/>
          </a:xfrm>
          <a:prstGeom prst="ellipse">
            <a:avLst/>
          </a:prstGeom>
          <a:solidFill>
            <a:srgbClr val="C62828"/>
          </a:solidFill>
          <a:ln/>
        </p:spPr>
        <p:txBody>
          <a:bodyPr/>
          <a:lstStyle/>
          <a:p>
            <a:endParaRPr lang="ja-JP" altLang="en-US"/>
          </a:p>
        </p:txBody>
      </p:sp>
      <p:pic>
        <p:nvPicPr>
          <p:cNvPr id="17" name="Image 3" descr="images/icons/icon_warning.png"/>
          <p:cNvPicPr>
            <a:picLocks noChangeAspect="1"/>
          </p:cNvPicPr>
          <p:nvPr/>
        </p:nvPicPr>
        <p:blipFill>
          <a:blip r:embed="rId6"/>
          <a:stretch>
            <a:fillRect/>
          </a:stretch>
        </p:blipFill>
        <p:spPr>
          <a:xfrm>
            <a:off x="4146443" y="4928616"/>
            <a:ext cx="219456" cy="219456"/>
          </a:xfrm>
          <a:prstGeom prst="rect">
            <a:avLst/>
          </a:prstGeom>
        </p:spPr>
      </p:pic>
      <p:sp>
        <p:nvSpPr>
          <p:cNvPr id="18" name="Text 12"/>
          <p:cNvSpPr/>
          <p:nvPr/>
        </p:nvSpPr>
        <p:spPr>
          <a:xfrm>
            <a:off x="4649363" y="4654296"/>
            <a:ext cx="6810812" cy="768096"/>
          </a:xfrm>
          <a:prstGeom prst="rect">
            <a:avLst/>
          </a:prstGeom>
          <a:noFill/>
          <a:ln/>
        </p:spPr>
        <p:txBody>
          <a:bodyPr wrap="square" lIns="0" tIns="0" rIns="0" bIns="0" rtlCol="0" anchor="ctr"/>
          <a:lstStyle/>
          <a:p>
            <a:pPr marL="0" indent="0">
              <a:lnSpc>
                <a:spcPct val="105000"/>
              </a:lnSpc>
              <a:buNone/>
            </a:pPr>
            <a:r>
              <a:rPr lang="en-US" sz="1350" b="1" dirty="0">
                <a:solidFill>
                  <a:srgbClr val="1A2330"/>
                </a:solidFill>
                <a:latin typeface="Yu Gothic" pitchFamily="34" charset="0"/>
                <a:ea typeface="Yu Gothic" pitchFamily="34" charset="-122"/>
                <a:cs typeface="Yu Gothic" pitchFamily="34" charset="-120"/>
              </a:rPr>
              <a:t>ジョブ削除機能</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DELETE /api/front/jobs/{jobId} で個別ジョブを削除</a:t>
            </a:r>
            <a:endParaRPr lang="en-US" sz="1150" dirty="0"/>
          </a:p>
        </p:txBody>
      </p:sp>
      <p:sp>
        <p:nvSpPr>
          <p:cNvPr id="19" name="Text 1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0" name="Text 14"/>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SCREEN 04 / SHELVES</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Shelves画面（棚・在庫グリッド）</a:t>
            </a:r>
            <a:endParaRPr lang="en-US" sz="3000" dirty="0"/>
          </a:p>
        </p:txBody>
      </p:sp>
      <p:sp>
        <p:nvSpPr>
          <p:cNvPr id="4" name="Shape 2"/>
          <p:cNvSpPr/>
          <p:nvPr/>
        </p:nvSpPr>
        <p:spPr>
          <a:xfrm>
            <a:off x="850392" y="1536192"/>
            <a:ext cx="2268187" cy="4288536"/>
          </a:xfrm>
          <a:prstGeom prst="roundRect">
            <a:avLst>
              <a:gd name="adj" fmla="val 4838"/>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5" name="Image 0" descr="images/screen_shelves.png"/>
          <p:cNvPicPr>
            <a:picLocks noChangeAspect="1"/>
          </p:cNvPicPr>
          <p:nvPr/>
        </p:nvPicPr>
        <p:blipFill>
          <a:blip r:embed="rId3"/>
          <a:stretch>
            <a:fillRect/>
          </a:stretch>
        </p:blipFill>
        <p:spPr>
          <a:xfrm>
            <a:off x="914400" y="1600200"/>
            <a:ext cx="2140171" cy="4160520"/>
          </a:xfrm>
          <a:prstGeom prst="rect">
            <a:avLst/>
          </a:prstGeom>
        </p:spPr>
      </p:pic>
      <p:sp>
        <p:nvSpPr>
          <p:cNvPr id="6" name="Text 3"/>
          <p:cNvSpPr/>
          <p:nvPr/>
        </p:nvSpPr>
        <p:spPr>
          <a:xfrm>
            <a:off x="3831811" y="1627632"/>
            <a:ext cx="7811244" cy="685800"/>
          </a:xfrm>
          <a:prstGeom prst="rect">
            <a:avLst/>
          </a:prstGeom>
          <a:noFill/>
          <a:ln/>
        </p:spPr>
        <p:txBody>
          <a:bodyPr wrap="square" rtlCol="0" anchor="t"/>
          <a:lstStyle/>
          <a:p>
            <a:pPr marL="0" indent="0">
              <a:lnSpc>
                <a:spcPct val="120000"/>
              </a:lnSpc>
              <a:buNone/>
            </a:pPr>
            <a:r>
              <a:rPr lang="en-US" sz="1350" i="1" dirty="0">
                <a:solidFill>
                  <a:srgbClr val="55626F"/>
                </a:solidFill>
                <a:latin typeface="Yu Gothic" pitchFamily="34" charset="0"/>
                <a:ea typeface="Yu Gothic" pitchFamily="34" charset="-122"/>
                <a:cs typeface="Yu Gothic" pitchFamily="34" charset="-120"/>
              </a:rPr>
              <a:t>選択中ストッカーの棚配置を3列グリッドで色分け表示。</a:t>
            </a:r>
            <a:endParaRPr lang="en-US" sz="1350" dirty="0"/>
          </a:p>
        </p:txBody>
      </p:sp>
      <p:sp>
        <p:nvSpPr>
          <p:cNvPr id="7" name="Shape 4"/>
          <p:cNvSpPr/>
          <p:nvPr/>
        </p:nvSpPr>
        <p:spPr>
          <a:xfrm>
            <a:off x="3831811" y="2423160"/>
            <a:ext cx="7811244"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8" name="Shape 5"/>
          <p:cNvSpPr/>
          <p:nvPr/>
        </p:nvSpPr>
        <p:spPr>
          <a:xfrm>
            <a:off x="4032979" y="2651760"/>
            <a:ext cx="457200" cy="457200"/>
          </a:xfrm>
          <a:prstGeom prst="ellipse">
            <a:avLst/>
          </a:prstGeom>
          <a:solidFill>
            <a:srgbClr val="1565C0"/>
          </a:solidFill>
          <a:ln/>
        </p:spPr>
        <p:txBody>
          <a:bodyPr/>
          <a:lstStyle/>
          <a:p>
            <a:endParaRPr lang="ja-JP" altLang="en-US"/>
          </a:p>
        </p:txBody>
      </p:sp>
      <p:pic>
        <p:nvPicPr>
          <p:cNvPr id="9" name="Image 1" descr="images/icons/icon_database.png"/>
          <p:cNvPicPr>
            <a:picLocks noChangeAspect="1"/>
          </p:cNvPicPr>
          <p:nvPr/>
        </p:nvPicPr>
        <p:blipFill>
          <a:blip r:embed="rId4"/>
          <a:stretch>
            <a:fillRect/>
          </a:stretch>
        </p:blipFill>
        <p:spPr>
          <a:xfrm>
            <a:off x="4151851" y="2770632"/>
            <a:ext cx="219456" cy="219456"/>
          </a:xfrm>
          <a:prstGeom prst="rect">
            <a:avLst/>
          </a:prstGeom>
        </p:spPr>
      </p:pic>
      <p:sp>
        <p:nvSpPr>
          <p:cNvPr id="10" name="Text 6"/>
          <p:cNvSpPr/>
          <p:nvPr/>
        </p:nvSpPr>
        <p:spPr>
          <a:xfrm>
            <a:off x="4654771" y="2496312"/>
            <a:ext cx="6805404" cy="768096"/>
          </a:xfrm>
          <a:prstGeom prst="rect">
            <a:avLst/>
          </a:prstGeom>
          <a:noFill/>
          <a:ln/>
        </p:spPr>
        <p:txBody>
          <a:bodyPr wrap="square" lIns="0" tIns="0" rIns="0" bIns="0" rtlCol="0" anchor="ctr"/>
          <a:lstStyle/>
          <a:p>
            <a:pPr marL="0" indent="0">
              <a:lnSpc>
                <a:spcPct val="105000"/>
              </a:lnSpc>
              <a:buNone/>
            </a:pPr>
            <a:r>
              <a:rPr lang="en-US" sz="1150" b="1" dirty="0">
                <a:solidFill>
                  <a:srgbClr val="1565C0"/>
                </a:solidFill>
                <a:latin typeface="Yu Gothic" pitchFamily="34" charset="0"/>
                <a:ea typeface="Yu Gothic" pitchFamily="34" charset="-122"/>
                <a:cs typeface="Yu Gothic" pitchFamily="34" charset="-120"/>
              </a:rPr>
              <a:t>F-005　</a:t>
            </a:r>
            <a:r>
              <a:rPr lang="en-US" sz="1350" b="1" dirty="0">
                <a:solidFill>
                  <a:srgbClr val="1A2330"/>
                </a:solidFill>
                <a:latin typeface="Yu Gothic" pitchFamily="34" charset="0"/>
                <a:ea typeface="Yu Gothic" pitchFamily="34" charset="-122"/>
                <a:cs typeface="Yu Gothic" pitchFamily="34" charset="-120"/>
              </a:rPr>
              <a:t>Activeのみ表示フィルタ</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ドロップダウンには status==="Active" のストッカーのみ抽出表示</a:t>
            </a:r>
            <a:endParaRPr lang="en-US" sz="1150" dirty="0"/>
          </a:p>
        </p:txBody>
      </p:sp>
      <p:sp>
        <p:nvSpPr>
          <p:cNvPr id="11" name="Shape 7"/>
          <p:cNvSpPr/>
          <p:nvPr/>
        </p:nvSpPr>
        <p:spPr>
          <a:xfrm>
            <a:off x="3831811" y="3502152"/>
            <a:ext cx="7811244"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2" name="Shape 8"/>
          <p:cNvSpPr/>
          <p:nvPr/>
        </p:nvSpPr>
        <p:spPr>
          <a:xfrm>
            <a:off x="4032979" y="3730752"/>
            <a:ext cx="457200" cy="457200"/>
          </a:xfrm>
          <a:prstGeom prst="ellipse">
            <a:avLst/>
          </a:prstGeom>
          <a:solidFill>
            <a:srgbClr val="1565C0"/>
          </a:solidFill>
          <a:ln/>
        </p:spPr>
        <p:txBody>
          <a:bodyPr/>
          <a:lstStyle/>
          <a:p>
            <a:endParaRPr lang="ja-JP" altLang="en-US"/>
          </a:p>
        </p:txBody>
      </p:sp>
      <p:pic>
        <p:nvPicPr>
          <p:cNvPr id="13" name="Image 2" descr="images/icons/icon_shelves.png"/>
          <p:cNvPicPr>
            <a:picLocks noChangeAspect="1"/>
          </p:cNvPicPr>
          <p:nvPr/>
        </p:nvPicPr>
        <p:blipFill>
          <a:blip r:embed="rId5"/>
          <a:stretch>
            <a:fillRect/>
          </a:stretch>
        </p:blipFill>
        <p:spPr>
          <a:xfrm>
            <a:off x="4151851" y="3849624"/>
            <a:ext cx="219456" cy="219456"/>
          </a:xfrm>
          <a:prstGeom prst="rect">
            <a:avLst/>
          </a:prstGeom>
        </p:spPr>
      </p:pic>
      <p:sp>
        <p:nvSpPr>
          <p:cNvPr id="14" name="Text 9"/>
          <p:cNvSpPr/>
          <p:nvPr/>
        </p:nvSpPr>
        <p:spPr>
          <a:xfrm>
            <a:off x="4654771" y="3575304"/>
            <a:ext cx="6805404" cy="768096"/>
          </a:xfrm>
          <a:prstGeom prst="rect">
            <a:avLst/>
          </a:prstGeom>
          <a:noFill/>
          <a:ln/>
        </p:spPr>
        <p:txBody>
          <a:bodyPr wrap="square" lIns="0" tIns="0" rIns="0" bIns="0" rtlCol="0" anchor="ctr"/>
          <a:lstStyle/>
          <a:p>
            <a:pPr marL="0" indent="0">
              <a:lnSpc>
                <a:spcPct val="105000"/>
              </a:lnSpc>
              <a:buNone/>
            </a:pPr>
            <a:r>
              <a:rPr lang="en-US" sz="1350" b="1" dirty="0">
                <a:solidFill>
                  <a:srgbClr val="1A2330"/>
                </a:solidFill>
                <a:latin typeface="Yu Gothic" pitchFamily="34" charset="0"/>
                <a:ea typeface="Yu Gothic" pitchFamily="34" charset="-122"/>
                <a:cs typeface="Yu Gothic" pitchFamily="34" charset="-120"/>
              </a:rPr>
              <a:t>在庫状態を3色で表示</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空き(灰)／占有中(黄)／Alarm(赤) を棚セルの色で即時判別</a:t>
            </a:r>
            <a:endParaRPr lang="en-US" sz="1150" dirty="0"/>
          </a:p>
        </p:txBody>
      </p:sp>
      <p:sp>
        <p:nvSpPr>
          <p:cNvPr id="15" name="Shape 10"/>
          <p:cNvSpPr/>
          <p:nvPr/>
        </p:nvSpPr>
        <p:spPr>
          <a:xfrm>
            <a:off x="3831811" y="4581144"/>
            <a:ext cx="7811244"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6" name="Shape 11"/>
          <p:cNvSpPr/>
          <p:nvPr/>
        </p:nvSpPr>
        <p:spPr>
          <a:xfrm>
            <a:off x="4032979" y="4809744"/>
            <a:ext cx="457200" cy="457200"/>
          </a:xfrm>
          <a:prstGeom prst="ellipse">
            <a:avLst/>
          </a:prstGeom>
          <a:solidFill>
            <a:srgbClr val="2E7D32"/>
          </a:solidFill>
          <a:ln/>
        </p:spPr>
        <p:txBody>
          <a:bodyPr/>
          <a:lstStyle/>
          <a:p>
            <a:endParaRPr lang="ja-JP" altLang="en-US"/>
          </a:p>
        </p:txBody>
      </p:sp>
      <p:pic>
        <p:nvPicPr>
          <p:cNvPr id="17" name="Image 3" descr="images/icons/icon_check.png"/>
          <p:cNvPicPr>
            <a:picLocks noChangeAspect="1"/>
          </p:cNvPicPr>
          <p:nvPr/>
        </p:nvPicPr>
        <p:blipFill>
          <a:blip r:embed="rId6"/>
          <a:stretch>
            <a:fillRect/>
          </a:stretch>
        </p:blipFill>
        <p:spPr>
          <a:xfrm>
            <a:off x="4151851" y="4928616"/>
            <a:ext cx="219456" cy="219456"/>
          </a:xfrm>
          <a:prstGeom prst="rect">
            <a:avLst/>
          </a:prstGeom>
        </p:spPr>
      </p:pic>
      <p:sp>
        <p:nvSpPr>
          <p:cNvPr id="18" name="Text 12"/>
          <p:cNvSpPr/>
          <p:nvPr/>
        </p:nvSpPr>
        <p:spPr>
          <a:xfrm>
            <a:off x="4654771" y="4654296"/>
            <a:ext cx="6805404" cy="768096"/>
          </a:xfrm>
          <a:prstGeom prst="rect">
            <a:avLst/>
          </a:prstGeom>
          <a:noFill/>
          <a:ln/>
        </p:spPr>
        <p:txBody>
          <a:bodyPr wrap="square" lIns="0" tIns="0" rIns="0" bIns="0" rtlCol="0" anchor="ctr"/>
          <a:lstStyle/>
          <a:p>
            <a:pPr marL="0" indent="0">
              <a:lnSpc>
                <a:spcPct val="105000"/>
              </a:lnSpc>
              <a:buNone/>
            </a:pPr>
            <a:r>
              <a:rPr lang="en-US" sz="1350" b="1" dirty="0">
                <a:solidFill>
                  <a:srgbClr val="1A2330"/>
                </a:solidFill>
                <a:latin typeface="Yu Gothic" pitchFamily="34" charset="0"/>
                <a:ea typeface="Yu Gothic" pitchFamily="34" charset="-122"/>
                <a:cs typeface="Yu Gothic" pitchFamily="34" charset="-120"/>
              </a:rPr>
              <a:t>タップで状態確認</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各セルをタップして空き・占有・Alarmの表示を切替（デモ用）</a:t>
            </a:r>
            <a:endParaRPr lang="en-US" sz="1150" dirty="0"/>
          </a:p>
        </p:txBody>
      </p:sp>
      <p:sp>
        <p:nvSpPr>
          <p:cNvPr id="19" name="Text 1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0" name="Text 14"/>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SCREEN 05 / HISTORY</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err="1">
                <a:solidFill>
                  <a:srgbClr val="1A2330"/>
                </a:solidFill>
                <a:latin typeface="Yu Gothic" pitchFamily="34" charset="0"/>
                <a:ea typeface="Yu Gothic" pitchFamily="34" charset="-122"/>
                <a:cs typeface="Yu Gothic" pitchFamily="34" charset="-120"/>
              </a:rPr>
              <a:t>History画面（履歴ログ</a:t>
            </a:r>
            <a:r>
              <a:rPr lang="en-US" sz="3000" b="1" dirty="0">
                <a:solidFill>
                  <a:srgbClr val="1A2330"/>
                </a:solidFill>
                <a:latin typeface="Yu Gothic" pitchFamily="34" charset="0"/>
                <a:ea typeface="Yu Gothic" pitchFamily="34" charset="-122"/>
                <a:cs typeface="Yu Gothic" pitchFamily="34" charset="-120"/>
              </a:rPr>
              <a:t>）</a:t>
            </a:r>
            <a:endParaRPr lang="en-US" sz="3000" dirty="0"/>
          </a:p>
        </p:txBody>
      </p:sp>
      <p:sp>
        <p:nvSpPr>
          <p:cNvPr id="4" name="Shape 2"/>
          <p:cNvSpPr/>
          <p:nvPr/>
        </p:nvSpPr>
        <p:spPr>
          <a:xfrm>
            <a:off x="850392" y="1536192"/>
            <a:ext cx="2275260" cy="4288536"/>
          </a:xfrm>
          <a:prstGeom prst="roundRect">
            <a:avLst>
              <a:gd name="adj" fmla="val 4823"/>
            </a:avLst>
          </a:prstGeom>
          <a:solidFill>
            <a:srgbClr val="0D1B2A"/>
          </a:solidFill>
          <a:ln/>
          <a:effectLst>
            <a:outerShdw blurRad="127000" dist="50800" dir="5400000" algn="bl" rotWithShape="0">
              <a:srgbClr val="0D1B2A">
                <a:alpha val="18000"/>
              </a:srgbClr>
            </a:outerShdw>
          </a:effectLst>
        </p:spPr>
        <p:txBody>
          <a:bodyPr/>
          <a:lstStyle/>
          <a:p>
            <a:endParaRPr lang="ja-JP" altLang="en-US"/>
          </a:p>
        </p:txBody>
      </p:sp>
      <p:pic>
        <p:nvPicPr>
          <p:cNvPr id="5" name="Image 0" descr="images/screen_history.png"/>
          <p:cNvPicPr>
            <a:picLocks noChangeAspect="1"/>
          </p:cNvPicPr>
          <p:nvPr/>
        </p:nvPicPr>
        <p:blipFill>
          <a:blip r:embed="rId3"/>
          <a:stretch>
            <a:fillRect/>
          </a:stretch>
        </p:blipFill>
        <p:spPr>
          <a:xfrm>
            <a:off x="914400" y="1600200"/>
            <a:ext cx="2147244" cy="4160520"/>
          </a:xfrm>
          <a:prstGeom prst="rect">
            <a:avLst/>
          </a:prstGeom>
        </p:spPr>
      </p:pic>
      <p:sp>
        <p:nvSpPr>
          <p:cNvPr id="6" name="Text 3"/>
          <p:cNvSpPr/>
          <p:nvPr/>
        </p:nvSpPr>
        <p:spPr>
          <a:xfrm>
            <a:off x="3838884" y="1627632"/>
            <a:ext cx="7804171" cy="685800"/>
          </a:xfrm>
          <a:prstGeom prst="rect">
            <a:avLst/>
          </a:prstGeom>
          <a:noFill/>
          <a:ln/>
        </p:spPr>
        <p:txBody>
          <a:bodyPr wrap="square" rtlCol="0" anchor="t"/>
          <a:lstStyle/>
          <a:p>
            <a:pPr marL="0" indent="0">
              <a:lnSpc>
                <a:spcPct val="120000"/>
              </a:lnSpc>
              <a:buNone/>
            </a:pPr>
            <a:r>
              <a:rPr lang="en-US" sz="1350" i="1" dirty="0">
                <a:solidFill>
                  <a:srgbClr val="55626F"/>
                </a:solidFill>
                <a:latin typeface="Yu Gothic" pitchFamily="34" charset="0"/>
                <a:ea typeface="Yu Gothic" pitchFamily="34" charset="-122"/>
                <a:cs typeface="Yu Gothic" pitchFamily="34" charset="-120"/>
              </a:rPr>
              <a:t>システムイベント・アラーム履歴を最新件まで表示。</a:t>
            </a:r>
            <a:endParaRPr lang="en-US" sz="1350" dirty="0"/>
          </a:p>
        </p:txBody>
      </p:sp>
      <p:sp>
        <p:nvSpPr>
          <p:cNvPr id="7" name="Shape 4"/>
          <p:cNvSpPr/>
          <p:nvPr/>
        </p:nvSpPr>
        <p:spPr>
          <a:xfrm>
            <a:off x="3838884" y="2423160"/>
            <a:ext cx="7804171"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8" name="Shape 5"/>
          <p:cNvSpPr/>
          <p:nvPr/>
        </p:nvSpPr>
        <p:spPr>
          <a:xfrm>
            <a:off x="4040052" y="2651760"/>
            <a:ext cx="457200" cy="457200"/>
          </a:xfrm>
          <a:prstGeom prst="ellipse">
            <a:avLst/>
          </a:prstGeom>
          <a:solidFill>
            <a:srgbClr val="1565C0"/>
          </a:solidFill>
          <a:ln/>
        </p:spPr>
        <p:txBody>
          <a:bodyPr/>
          <a:lstStyle/>
          <a:p>
            <a:endParaRPr lang="ja-JP" altLang="en-US"/>
          </a:p>
        </p:txBody>
      </p:sp>
      <p:pic>
        <p:nvPicPr>
          <p:cNvPr id="9" name="Image 1" descr="images/icons/icon_history.png"/>
          <p:cNvPicPr>
            <a:picLocks noChangeAspect="1"/>
          </p:cNvPicPr>
          <p:nvPr/>
        </p:nvPicPr>
        <p:blipFill>
          <a:blip r:embed="rId4"/>
          <a:stretch>
            <a:fillRect/>
          </a:stretch>
        </p:blipFill>
        <p:spPr>
          <a:xfrm>
            <a:off x="4158924" y="2770632"/>
            <a:ext cx="219456" cy="219456"/>
          </a:xfrm>
          <a:prstGeom prst="rect">
            <a:avLst/>
          </a:prstGeom>
        </p:spPr>
      </p:pic>
      <p:sp>
        <p:nvSpPr>
          <p:cNvPr id="10" name="Text 6"/>
          <p:cNvSpPr/>
          <p:nvPr/>
        </p:nvSpPr>
        <p:spPr>
          <a:xfrm>
            <a:off x="4661844" y="2496312"/>
            <a:ext cx="6798331" cy="768096"/>
          </a:xfrm>
          <a:prstGeom prst="rect">
            <a:avLst/>
          </a:prstGeom>
          <a:noFill/>
          <a:ln/>
        </p:spPr>
        <p:txBody>
          <a:bodyPr wrap="square" lIns="0" tIns="0" rIns="0" bIns="0" rtlCol="0" anchor="ctr"/>
          <a:lstStyle/>
          <a:p>
            <a:pPr marL="0" indent="0">
              <a:lnSpc>
                <a:spcPct val="105000"/>
              </a:lnSpc>
              <a:buNone/>
            </a:pPr>
            <a:r>
              <a:rPr lang="en-US" sz="1150" b="1" dirty="0">
                <a:solidFill>
                  <a:srgbClr val="1565C0"/>
                </a:solidFill>
                <a:latin typeface="Yu Gothic" pitchFamily="34" charset="0"/>
                <a:ea typeface="Yu Gothic" pitchFamily="34" charset="-122"/>
                <a:cs typeface="Yu Gothic" pitchFamily="34" charset="-120"/>
              </a:rPr>
              <a:t>F-006　</a:t>
            </a:r>
            <a:r>
              <a:rPr lang="en-US" sz="1350" b="1" dirty="0">
                <a:solidFill>
                  <a:srgbClr val="1A2330"/>
                </a:solidFill>
                <a:latin typeface="Yu Gothic" pitchFamily="34" charset="0"/>
                <a:ea typeface="Yu Gothic" pitchFamily="34" charset="-122"/>
                <a:cs typeface="Yu Gothic" pitchFamily="34" charset="-120"/>
              </a:rPr>
              <a:t>履歴ログ表示</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GET /api/front/logs/recent?stockerId=... を取得し最新順に表示</a:t>
            </a:r>
            <a:endParaRPr lang="en-US" sz="1150" dirty="0"/>
          </a:p>
        </p:txBody>
      </p:sp>
      <p:sp>
        <p:nvSpPr>
          <p:cNvPr id="11" name="Shape 7"/>
          <p:cNvSpPr/>
          <p:nvPr/>
        </p:nvSpPr>
        <p:spPr>
          <a:xfrm>
            <a:off x="3838884" y="3502152"/>
            <a:ext cx="7804171"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2" name="Shape 8"/>
          <p:cNvSpPr/>
          <p:nvPr/>
        </p:nvSpPr>
        <p:spPr>
          <a:xfrm>
            <a:off x="4040052" y="3730752"/>
            <a:ext cx="457200" cy="457200"/>
          </a:xfrm>
          <a:prstGeom prst="ellipse">
            <a:avLst/>
          </a:prstGeom>
          <a:solidFill>
            <a:srgbClr val="1565C0"/>
          </a:solidFill>
          <a:ln/>
        </p:spPr>
        <p:txBody>
          <a:bodyPr/>
          <a:lstStyle/>
          <a:p>
            <a:endParaRPr lang="ja-JP" altLang="en-US"/>
          </a:p>
        </p:txBody>
      </p:sp>
      <p:pic>
        <p:nvPicPr>
          <p:cNvPr id="13" name="Image 2" descr="images/icons/icon_exchange.png"/>
          <p:cNvPicPr>
            <a:picLocks noChangeAspect="1"/>
          </p:cNvPicPr>
          <p:nvPr/>
        </p:nvPicPr>
        <p:blipFill>
          <a:blip r:embed="rId5"/>
          <a:stretch>
            <a:fillRect/>
          </a:stretch>
        </p:blipFill>
        <p:spPr>
          <a:xfrm>
            <a:off x="4158924" y="3849624"/>
            <a:ext cx="219456" cy="219456"/>
          </a:xfrm>
          <a:prstGeom prst="rect">
            <a:avLst/>
          </a:prstGeom>
        </p:spPr>
      </p:pic>
      <p:sp>
        <p:nvSpPr>
          <p:cNvPr id="14" name="Text 9"/>
          <p:cNvSpPr/>
          <p:nvPr/>
        </p:nvSpPr>
        <p:spPr>
          <a:xfrm>
            <a:off x="4661844" y="3575304"/>
            <a:ext cx="6798331" cy="768096"/>
          </a:xfrm>
          <a:prstGeom prst="rect">
            <a:avLst/>
          </a:prstGeom>
          <a:noFill/>
          <a:ln/>
        </p:spPr>
        <p:txBody>
          <a:bodyPr wrap="square" lIns="0" tIns="0" rIns="0" bIns="0" rtlCol="0" anchor="ctr"/>
          <a:lstStyle/>
          <a:p>
            <a:pPr marL="0" indent="0">
              <a:lnSpc>
                <a:spcPct val="105000"/>
              </a:lnSpc>
              <a:buNone/>
            </a:pPr>
            <a:r>
              <a:rPr lang="en-US" sz="1350" b="1" dirty="0">
                <a:solidFill>
                  <a:srgbClr val="1A2330"/>
                </a:solidFill>
                <a:latin typeface="Yu Gothic" pitchFamily="34" charset="0"/>
                <a:ea typeface="Yu Gothic" pitchFamily="34" charset="-122"/>
                <a:cs typeface="Yu Gothic" pitchFamily="34" charset="-120"/>
              </a:rPr>
              <a:t>「すべて(ALL)」対応ドロップダウン</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全件表示と個別ストッカー絞り込みの両方に対応するよう改修</a:t>
            </a:r>
            <a:endParaRPr lang="en-US" sz="1150" dirty="0"/>
          </a:p>
        </p:txBody>
      </p:sp>
      <p:sp>
        <p:nvSpPr>
          <p:cNvPr id="15" name="Shape 10"/>
          <p:cNvSpPr/>
          <p:nvPr/>
        </p:nvSpPr>
        <p:spPr>
          <a:xfrm>
            <a:off x="3838884" y="4581144"/>
            <a:ext cx="7804171" cy="914400"/>
          </a:xfrm>
          <a:prstGeom prst="roundRect">
            <a:avLst>
              <a:gd name="adj" fmla="val 9000"/>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6" name="Shape 11"/>
          <p:cNvSpPr/>
          <p:nvPr/>
        </p:nvSpPr>
        <p:spPr>
          <a:xfrm>
            <a:off x="4040052" y="4809744"/>
            <a:ext cx="457200" cy="457200"/>
          </a:xfrm>
          <a:prstGeom prst="ellipse">
            <a:avLst/>
          </a:prstGeom>
          <a:solidFill>
            <a:srgbClr val="F9A825"/>
          </a:solidFill>
          <a:ln/>
        </p:spPr>
        <p:txBody>
          <a:bodyPr/>
          <a:lstStyle/>
          <a:p>
            <a:endParaRPr lang="ja-JP" altLang="en-US"/>
          </a:p>
        </p:txBody>
      </p:sp>
      <p:pic>
        <p:nvPicPr>
          <p:cNvPr id="17" name="Image 3" descr="images/icons/icon_warning.png"/>
          <p:cNvPicPr>
            <a:picLocks noChangeAspect="1"/>
          </p:cNvPicPr>
          <p:nvPr/>
        </p:nvPicPr>
        <p:blipFill>
          <a:blip r:embed="rId6"/>
          <a:stretch>
            <a:fillRect/>
          </a:stretch>
        </p:blipFill>
        <p:spPr>
          <a:xfrm>
            <a:off x="4158924" y="4928616"/>
            <a:ext cx="219456" cy="219456"/>
          </a:xfrm>
          <a:prstGeom prst="rect">
            <a:avLst/>
          </a:prstGeom>
        </p:spPr>
      </p:pic>
      <p:sp>
        <p:nvSpPr>
          <p:cNvPr id="18" name="Text 12"/>
          <p:cNvSpPr/>
          <p:nvPr/>
        </p:nvSpPr>
        <p:spPr>
          <a:xfrm>
            <a:off x="4661844" y="4654296"/>
            <a:ext cx="6798331" cy="768096"/>
          </a:xfrm>
          <a:prstGeom prst="rect">
            <a:avLst/>
          </a:prstGeom>
          <a:noFill/>
          <a:ln/>
        </p:spPr>
        <p:txBody>
          <a:bodyPr wrap="square" lIns="0" tIns="0" rIns="0" bIns="0" rtlCol="0" anchor="ctr"/>
          <a:lstStyle/>
          <a:p>
            <a:pPr marL="0" indent="0">
              <a:lnSpc>
                <a:spcPct val="105000"/>
              </a:lnSpc>
              <a:buNone/>
            </a:pPr>
            <a:r>
              <a:rPr lang="en-US" sz="1350" b="1" dirty="0">
                <a:solidFill>
                  <a:srgbClr val="1A2330"/>
                </a:solidFill>
                <a:latin typeface="Yu Gothic" pitchFamily="34" charset="0"/>
                <a:ea typeface="Yu Gothic" pitchFamily="34" charset="-122"/>
                <a:cs typeface="Yu Gothic" pitchFamily="34" charset="-120"/>
              </a:rPr>
              <a:t>ログレベル別バッジ</a:t>
            </a:r>
            <a:endParaRPr lang="en-US" sz="1150" dirty="0"/>
          </a:p>
          <a:p>
            <a:pPr marL="0" indent="0">
              <a:lnSpc>
                <a:spcPct val="105000"/>
              </a:lnSpc>
              <a:buNone/>
            </a:pPr>
            <a:r>
              <a:rPr lang="en-US" sz="1150" dirty="0">
                <a:solidFill>
                  <a:srgbClr val="55626F"/>
                </a:solidFill>
                <a:latin typeface="Yu Gothic" pitchFamily="34" charset="0"/>
                <a:ea typeface="Yu Gothic" pitchFamily="34" charset="-122"/>
                <a:cs typeface="Yu Gothic" pitchFamily="34" charset="-120"/>
              </a:rPr>
              <a:t>INFO（灰）／ WARN（黄）／ ALARM（赤）で重要度を視覚化</a:t>
            </a:r>
            <a:endParaRPr lang="en-US" sz="1150" dirty="0"/>
          </a:p>
        </p:txBody>
      </p:sp>
      <p:sp>
        <p:nvSpPr>
          <p:cNvPr id="19" name="Text 1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20" name="Text 14"/>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PWA</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PWA（Progressive Web App）対応</a:t>
            </a:r>
            <a:endParaRPr lang="en-US" sz="3000" dirty="0"/>
          </a:p>
        </p:txBody>
      </p:sp>
      <p:sp>
        <p:nvSpPr>
          <p:cNvPr id="4" name="Shape 2"/>
          <p:cNvSpPr/>
          <p:nvPr/>
        </p:nvSpPr>
        <p:spPr>
          <a:xfrm>
            <a:off x="548640" y="1600200"/>
            <a:ext cx="5184000" cy="2514600"/>
          </a:xfrm>
          <a:prstGeom prst="roundRect">
            <a:avLst>
              <a:gd name="adj" fmla="val 3273"/>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5" name="Shape 3"/>
          <p:cNvSpPr/>
          <p:nvPr/>
        </p:nvSpPr>
        <p:spPr>
          <a:xfrm>
            <a:off x="822960" y="1828800"/>
            <a:ext cx="530352" cy="530352"/>
          </a:xfrm>
          <a:prstGeom prst="ellipse">
            <a:avLst/>
          </a:prstGeom>
          <a:solidFill>
            <a:srgbClr val="1565C0"/>
          </a:solidFill>
          <a:ln/>
        </p:spPr>
        <p:txBody>
          <a:bodyPr/>
          <a:lstStyle/>
          <a:p>
            <a:endParaRPr lang="ja-JP" altLang="en-US"/>
          </a:p>
        </p:txBody>
      </p:sp>
      <p:pic>
        <p:nvPicPr>
          <p:cNvPr id="6" name="Image 0" descr="images/icons/icon_mobile.png"/>
          <p:cNvPicPr>
            <a:picLocks noChangeAspect="1"/>
          </p:cNvPicPr>
          <p:nvPr/>
        </p:nvPicPr>
        <p:blipFill>
          <a:blip r:embed="rId3"/>
          <a:stretch>
            <a:fillRect/>
          </a:stretch>
        </p:blipFill>
        <p:spPr>
          <a:xfrm>
            <a:off x="960852" y="1966692"/>
            <a:ext cx="254569" cy="254569"/>
          </a:xfrm>
          <a:prstGeom prst="rect">
            <a:avLst/>
          </a:prstGeom>
        </p:spPr>
      </p:pic>
      <p:sp>
        <p:nvSpPr>
          <p:cNvPr id="7" name="Text 4"/>
          <p:cNvSpPr/>
          <p:nvPr/>
        </p:nvSpPr>
        <p:spPr>
          <a:xfrm>
            <a:off x="1508760" y="1856232"/>
            <a:ext cx="3931920" cy="411480"/>
          </a:xfrm>
          <a:prstGeom prst="rect">
            <a:avLst/>
          </a:prstGeom>
          <a:noFill/>
          <a:ln/>
        </p:spPr>
        <p:txBody>
          <a:bodyPr wrap="square" lIns="0" tIns="0" rIns="0" bIns="0" rtlCol="0" anchor="ctr"/>
          <a:lstStyle/>
          <a:p>
            <a:pPr marL="0" indent="0">
              <a:buNone/>
            </a:pPr>
            <a:r>
              <a:rPr lang="en-US" sz="1500" b="1" dirty="0">
                <a:solidFill>
                  <a:srgbClr val="1A2330"/>
                </a:solidFill>
                <a:latin typeface="Consolas" pitchFamily="34" charset="0"/>
                <a:ea typeface="Consolas" pitchFamily="34" charset="-122"/>
                <a:cs typeface="Consolas" pitchFamily="34" charset="-120"/>
              </a:rPr>
              <a:t>manifest.json</a:t>
            </a:r>
            <a:endParaRPr lang="en-US" sz="1500" dirty="0"/>
          </a:p>
        </p:txBody>
      </p:sp>
      <p:sp>
        <p:nvSpPr>
          <p:cNvPr id="8" name="Text 5"/>
          <p:cNvSpPr/>
          <p:nvPr/>
        </p:nvSpPr>
        <p:spPr>
          <a:xfrm>
            <a:off x="822960" y="2377440"/>
            <a:ext cx="4572000" cy="1645920"/>
          </a:xfrm>
          <a:prstGeom prst="rect">
            <a:avLst/>
          </a:prstGeom>
          <a:noFill/>
          <a:ln/>
        </p:spPr>
        <p:txBody>
          <a:bodyPr wrap="square" rtlCol="0" anchor="t"/>
          <a:lstStyle/>
          <a:p>
            <a:pPr marL="177800" indent="-177800">
              <a:lnSpc>
                <a:spcPct val="115000"/>
              </a:lnSpc>
              <a:spcAft>
                <a:spcPts val="1000"/>
              </a:spcAft>
              <a:buSzPct val="100000"/>
              <a:buChar char="●"/>
            </a:pPr>
            <a:r>
              <a:rPr lang="en-US" sz="1250" dirty="0">
                <a:solidFill>
                  <a:srgbClr val="1A2330"/>
                </a:solidFill>
                <a:latin typeface="Yu Gothic" pitchFamily="34" charset="0"/>
                <a:ea typeface="Yu Gothic" pitchFamily="34" charset="-122"/>
                <a:cs typeface="Yu Gothic" pitchFamily="34" charset="-120"/>
              </a:rPr>
              <a:t>display: "standalone" → ブラウザUIなしで起動</a:t>
            </a:r>
            <a:endParaRPr lang="en-US" sz="1250" dirty="0"/>
          </a:p>
          <a:p>
            <a:pPr marL="177800" indent="-177800">
              <a:lnSpc>
                <a:spcPct val="115000"/>
              </a:lnSpc>
              <a:spcAft>
                <a:spcPts val="1000"/>
              </a:spcAft>
              <a:buSzPct val="100000"/>
              <a:buChar char="●"/>
            </a:pPr>
            <a:r>
              <a:rPr lang="en-US" sz="1250" dirty="0">
                <a:solidFill>
                  <a:srgbClr val="1A2330"/>
                </a:solidFill>
                <a:latin typeface="Yu Gothic" pitchFamily="34" charset="0"/>
                <a:ea typeface="Yu Gothic" pitchFamily="34" charset="-122"/>
                <a:cs typeface="Yu Gothic" pitchFamily="34" charset="-120"/>
              </a:rPr>
              <a:t>orientation: "portrait" → 縦画面に固定</a:t>
            </a:r>
            <a:endParaRPr lang="en-US" sz="1250" dirty="0"/>
          </a:p>
          <a:p>
            <a:pPr marL="177800" indent="-177800">
              <a:lnSpc>
                <a:spcPct val="115000"/>
              </a:lnSpc>
              <a:spcAft>
                <a:spcPts val="1000"/>
              </a:spcAft>
              <a:buSzPct val="100000"/>
              <a:buChar char="●"/>
            </a:pPr>
            <a:r>
              <a:rPr lang="en-US" sz="1250" dirty="0">
                <a:solidFill>
                  <a:srgbClr val="1A2330"/>
                </a:solidFill>
                <a:latin typeface="Yu Gothic" pitchFamily="34" charset="0"/>
                <a:ea typeface="Yu Gothic" pitchFamily="34" charset="-122"/>
                <a:cs typeface="Yu Gothic" pitchFamily="34" charset="-120"/>
              </a:rPr>
              <a:t>192px／512px／maskable アイコンを用意</a:t>
            </a:r>
            <a:endParaRPr lang="en-US" sz="1250" dirty="0"/>
          </a:p>
        </p:txBody>
      </p:sp>
      <p:sp>
        <p:nvSpPr>
          <p:cNvPr id="9" name="Shape 6"/>
          <p:cNvSpPr/>
          <p:nvPr/>
        </p:nvSpPr>
        <p:spPr>
          <a:xfrm>
            <a:off x="6522415" y="1600200"/>
            <a:ext cx="5184000" cy="2514600"/>
          </a:xfrm>
          <a:prstGeom prst="roundRect">
            <a:avLst>
              <a:gd name="adj" fmla="val 3273"/>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0" name="Shape 7"/>
          <p:cNvSpPr/>
          <p:nvPr/>
        </p:nvSpPr>
        <p:spPr>
          <a:xfrm>
            <a:off x="6796735" y="1828800"/>
            <a:ext cx="530352" cy="530352"/>
          </a:xfrm>
          <a:prstGeom prst="ellipse">
            <a:avLst/>
          </a:prstGeom>
          <a:solidFill>
            <a:srgbClr val="0D1B2A"/>
          </a:solidFill>
          <a:ln/>
        </p:spPr>
        <p:txBody>
          <a:bodyPr/>
          <a:lstStyle/>
          <a:p>
            <a:endParaRPr lang="ja-JP" altLang="en-US"/>
          </a:p>
        </p:txBody>
      </p:sp>
      <p:pic>
        <p:nvPicPr>
          <p:cNvPr id="11" name="Image 1" descr="images/icons/icon_sync.png"/>
          <p:cNvPicPr>
            <a:picLocks noChangeAspect="1"/>
          </p:cNvPicPr>
          <p:nvPr/>
        </p:nvPicPr>
        <p:blipFill>
          <a:blip r:embed="rId4"/>
          <a:stretch>
            <a:fillRect/>
          </a:stretch>
        </p:blipFill>
        <p:spPr>
          <a:xfrm>
            <a:off x="6934627" y="1966692"/>
            <a:ext cx="254569" cy="254569"/>
          </a:xfrm>
          <a:prstGeom prst="rect">
            <a:avLst/>
          </a:prstGeom>
        </p:spPr>
      </p:pic>
      <p:sp>
        <p:nvSpPr>
          <p:cNvPr id="12" name="Text 8"/>
          <p:cNvSpPr/>
          <p:nvPr/>
        </p:nvSpPr>
        <p:spPr>
          <a:xfrm>
            <a:off x="7482535" y="1856232"/>
            <a:ext cx="3931920" cy="411480"/>
          </a:xfrm>
          <a:prstGeom prst="rect">
            <a:avLst/>
          </a:prstGeom>
          <a:noFill/>
          <a:ln/>
        </p:spPr>
        <p:txBody>
          <a:bodyPr wrap="square" lIns="0" tIns="0" rIns="0" bIns="0" rtlCol="0" anchor="ctr"/>
          <a:lstStyle/>
          <a:p>
            <a:pPr marL="0" indent="0">
              <a:buNone/>
            </a:pPr>
            <a:r>
              <a:rPr lang="en-US" sz="1500" b="1" dirty="0">
                <a:solidFill>
                  <a:srgbClr val="1A2330"/>
                </a:solidFill>
                <a:latin typeface="Consolas" pitchFamily="34" charset="0"/>
                <a:ea typeface="Consolas" pitchFamily="34" charset="-122"/>
                <a:cs typeface="Consolas" pitchFamily="34" charset="-120"/>
              </a:rPr>
              <a:t>sw.js（Service Worker）</a:t>
            </a:r>
            <a:endParaRPr lang="en-US" sz="1500" dirty="0"/>
          </a:p>
        </p:txBody>
      </p:sp>
      <p:sp>
        <p:nvSpPr>
          <p:cNvPr id="13" name="Text 9"/>
          <p:cNvSpPr/>
          <p:nvPr/>
        </p:nvSpPr>
        <p:spPr>
          <a:xfrm>
            <a:off x="7345375" y="2377440"/>
            <a:ext cx="4572000" cy="1645920"/>
          </a:xfrm>
          <a:prstGeom prst="rect">
            <a:avLst/>
          </a:prstGeom>
          <a:noFill/>
          <a:ln/>
        </p:spPr>
        <p:txBody>
          <a:bodyPr wrap="square" rtlCol="0" anchor="t"/>
          <a:lstStyle/>
          <a:p>
            <a:pPr marL="177800" indent="-177800">
              <a:lnSpc>
                <a:spcPct val="115000"/>
              </a:lnSpc>
              <a:spcAft>
                <a:spcPts val="1000"/>
              </a:spcAft>
              <a:buSzPct val="100000"/>
              <a:buChar char="●"/>
            </a:pPr>
            <a:r>
              <a:rPr lang="en-US" sz="1250" dirty="0">
                <a:solidFill>
                  <a:srgbClr val="1A2330"/>
                </a:solidFill>
                <a:latin typeface="Yu Gothic" pitchFamily="34" charset="0"/>
                <a:ea typeface="Yu Gothic" pitchFamily="34" charset="-122"/>
                <a:cs typeface="Yu Gothic" pitchFamily="34" charset="-120"/>
              </a:rPr>
              <a:t>App Shell（HTML/CSS/JS）をCache-Firstで保存</a:t>
            </a:r>
            <a:endParaRPr lang="en-US" sz="1250" dirty="0"/>
          </a:p>
          <a:p>
            <a:pPr marL="177800" indent="-177800">
              <a:lnSpc>
                <a:spcPct val="115000"/>
              </a:lnSpc>
              <a:spcAft>
                <a:spcPts val="1000"/>
              </a:spcAft>
              <a:buSzPct val="100000"/>
              <a:buChar char="●"/>
            </a:pPr>
            <a:r>
              <a:rPr lang="en-US" sz="1250" dirty="0">
                <a:solidFill>
                  <a:srgbClr val="1A2330"/>
                </a:solidFill>
                <a:latin typeface="Yu Gothic" pitchFamily="34" charset="0"/>
                <a:ea typeface="Yu Gothic" pitchFamily="34" charset="-122"/>
                <a:cs typeface="Yu Gothic" pitchFamily="34" charset="-120"/>
              </a:rPr>
              <a:t>/api/* は常にキャッシュ対象外（データの新鮮さを優先）</a:t>
            </a:r>
            <a:endParaRPr lang="en-US" sz="1250" dirty="0"/>
          </a:p>
          <a:p>
            <a:pPr marL="177800" indent="-177800">
              <a:lnSpc>
                <a:spcPct val="115000"/>
              </a:lnSpc>
              <a:spcAft>
                <a:spcPts val="1000"/>
              </a:spcAft>
              <a:buSzPct val="100000"/>
              <a:buChar char="●"/>
            </a:pPr>
            <a:r>
              <a:rPr lang="en-US" sz="1250" dirty="0">
                <a:solidFill>
                  <a:srgbClr val="1A2330"/>
                </a:solidFill>
                <a:latin typeface="Yu Gothic" pitchFamily="34" charset="0"/>
                <a:ea typeface="Yu Gothic" pitchFamily="34" charset="-122"/>
                <a:cs typeface="Yu Gothic" pitchFamily="34" charset="-120"/>
              </a:rPr>
              <a:t>オフライン時もApp Shellの枠組みは表示可能</a:t>
            </a:r>
            <a:endParaRPr lang="en-US" sz="1250" dirty="0"/>
          </a:p>
        </p:txBody>
      </p:sp>
      <p:sp>
        <p:nvSpPr>
          <p:cNvPr id="14" name="Text 10"/>
          <p:cNvSpPr/>
          <p:nvPr/>
        </p:nvSpPr>
        <p:spPr>
          <a:xfrm>
            <a:off x="548640" y="4343400"/>
            <a:ext cx="7315200" cy="365760"/>
          </a:xfrm>
          <a:prstGeom prst="rect">
            <a:avLst/>
          </a:prstGeom>
          <a:noFill/>
          <a:ln/>
        </p:spPr>
        <p:txBody>
          <a:bodyPr wrap="square" lIns="0" tIns="0" rIns="0" bIns="0" rtlCol="0" anchor="ctr"/>
          <a:lstStyle/>
          <a:p>
            <a:pPr marL="0" indent="0">
              <a:buNone/>
            </a:pPr>
            <a:r>
              <a:rPr lang="en-US" sz="1600" b="1" dirty="0">
                <a:solidFill>
                  <a:srgbClr val="0D1B2A"/>
                </a:solidFill>
                <a:latin typeface="Yu Gothic" pitchFamily="34" charset="0"/>
                <a:ea typeface="Yu Gothic" pitchFamily="34" charset="-122"/>
                <a:cs typeface="Yu Gothic" pitchFamily="34" charset="-120"/>
              </a:rPr>
              <a:t>スマートフォン実機インストール手順</a:t>
            </a:r>
            <a:endParaRPr lang="en-US" sz="1600" dirty="0"/>
          </a:p>
        </p:txBody>
      </p:sp>
      <p:sp>
        <p:nvSpPr>
          <p:cNvPr id="15" name="Shape 11"/>
          <p:cNvSpPr/>
          <p:nvPr/>
        </p:nvSpPr>
        <p:spPr>
          <a:xfrm>
            <a:off x="548640" y="4800600"/>
            <a:ext cx="2587752" cy="1417320"/>
          </a:xfrm>
          <a:prstGeom prst="roundRect">
            <a:avLst>
              <a:gd name="adj" fmla="val 5806"/>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6" name="Shape 12"/>
          <p:cNvSpPr/>
          <p:nvPr/>
        </p:nvSpPr>
        <p:spPr>
          <a:xfrm>
            <a:off x="1586484" y="4956048"/>
            <a:ext cx="512064" cy="512064"/>
          </a:xfrm>
          <a:prstGeom prst="ellipse">
            <a:avLst/>
          </a:prstGeom>
          <a:solidFill>
            <a:srgbClr val="1565C0"/>
          </a:solidFill>
          <a:ln/>
        </p:spPr>
        <p:txBody>
          <a:bodyPr/>
          <a:lstStyle/>
          <a:p>
            <a:endParaRPr lang="ja-JP" altLang="en-US"/>
          </a:p>
        </p:txBody>
      </p:sp>
      <p:pic>
        <p:nvPicPr>
          <p:cNvPr id="17" name="Image 2" descr="images/icons/icon_shield.png"/>
          <p:cNvPicPr>
            <a:picLocks noChangeAspect="1"/>
          </p:cNvPicPr>
          <p:nvPr/>
        </p:nvPicPr>
        <p:blipFill>
          <a:blip r:embed="rId5"/>
          <a:stretch>
            <a:fillRect/>
          </a:stretch>
        </p:blipFill>
        <p:spPr>
          <a:xfrm>
            <a:off x="1719621" y="5089185"/>
            <a:ext cx="245791" cy="245791"/>
          </a:xfrm>
          <a:prstGeom prst="rect">
            <a:avLst/>
          </a:prstGeom>
        </p:spPr>
      </p:pic>
      <p:sp>
        <p:nvSpPr>
          <p:cNvPr id="18" name="Text 13"/>
          <p:cNvSpPr/>
          <p:nvPr/>
        </p:nvSpPr>
        <p:spPr>
          <a:xfrm>
            <a:off x="658368" y="5504688"/>
            <a:ext cx="2368296" cy="274320"/>
          </a:xfrm>
          <a:prstGeom prst="rect">
            <a:avLst/>
          </a:prstGeom>
          <a:noFill/>
          <a:ln/>
        </p:spPr>
        <p:txBody>
          <a:bodyPr wrap="square" lIns="0" tIns="0" rIns="0" bIns="0" rtlCol="0" anchor="ctr"/>
          <a:lstStyle/>
          <a:p>
            <a:pPr marL="0" indent="0" algn="ctr">
              <a:buNone/>
            </a:pPr>
            <a:r>
              <a:rPr lang="en-US" sz="1200" b="1" dirty="0">
                <a:solidFill>
                  <a:srgbClr val="1A2330"/>
                </a:solidFill>
                <a:latin typeface="Yu Gothic" pitchFamily="34" charset="0"/>
                <a:ea typeface="Yu Gothic" pitchFamily="34" charset="-122"/>
                <a:cs typeface="Yu Gothic" pitchFamily="34" charset="-120"/>
              </a:rPr>
              <a:t>①証明書の信頼</a:t>
            </a:r>
            <a:endParaRPr lang="en-US" sz="1200" dirty="0"/>
          </a:p>
        </p:txBody>
      </p:sp>
      <p:sp>
        <p:nvSpPr>
          <p:cNvPr id="19" name="Text 14"/>
          <p:cNvSpPr/>
          <p:nvPr/>
        </p:nvSpPr>
        <p:spPr>
          <a:xfrm>
            <a:off x="658368" y="5779008"/>
            <a:ext cx="2368296" cy="457200"/>
          </a:xfrm>
          <a:prstGeom prst="rect">
            <a:avLst/>
          </a:prstGeom>
          <a:noFill/>
          <a:ln/>
        </p:spPr>
        <p:txBody>
          <a:bodyPr wrap="square" lIns="0" tIns="0" rIns="0" bIns="0" rtlCol="0" anchor="ctr"/>
          <a:lstStyle/>
          <a:p>
            <a:pPr marL="0" indent="0" algn="ctr">
              <a:lnSpc>
                <a:spcPct val="105000"/>
              </a:lnSpc>
              <a:buNone/>
            </a:pPr>
            <a:r>
              <a:rPr lang="en-US" sz="880" dirty="0">
                <a:solidFill>
                  <a:srgbClr val="55626F"/>
                </a:solidFill>
                <a:latin typeface="Yu Gothic" pitchFamily="34" charset="0"/>
                <a:ea typeface="Yu Gothic" pitchFamily="34" charset="-122"/>
                <a:cs typeface="Yu Gothic" pitchFamily="34" charset="-120"/>
              </a:rPr>
              <a:t>mkcert で生成した証明書をAndroidのCA証明書として信頼登録</a:t>
            </a:r>
            <a:endParaRPr lang="en-US" sz="880" dirty="0"/>
          </a:p>
        </p:txBody>
      </p:sp>
      <p:sp>
        <p:nvSpPr>
          <p:cNvPr id="20" name="Shape 15"/>
          <p:cNvSpPr/>
          <p:nvPr/>
        </p:nvSpPr>
        <p:spPr>
          <a:xfrm>
            <a:off x="3300984" y="4800600"/>
            <a:ext cx="2587752" cy="1417320"/>
          </a:xfrm>
          <a:prstGeom prst="roundRect">
            <a:avLst>
              <a:gd name="adj" fmla="val 5806"/>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1" name="Shape 16"/>
          <p:cNvSpPr/>
          <p:nvPr/>
        </p:nvSpPr>
        <p:spPr>
          <a:xfrm>
            <a:off x="4338828" y="4956048"/>
            <a:ext cx="512064" cy="512064"/>
          </a:xfrm>
          <a:prstGeom prst="ellipse">
            <a:avLst/>
          </a:prstGeom>
          <a:solidFill>
            <a:srgbClr val="1565C0"/>
          </a:solidFill>
          <a:ln/>
        </p:spPr>
        <p:txBody>
          <a:bodyPr/>
          <a:lstStyle/>
          <a:p>
            <a:endParaRPr lang="ja-JP" altLang="en-US"/>
          </a:p>
        </p:txBody>
      </p:sp>
      <p:pic>
        <p:nvPicPr>
          <p:cNvPr id="22" name="Image 3" descr="images/icons/icon_wifi.png"/>
          <p:cNvPicPr>
            <a:picLocks noChangeAspect="1"/>
          </p:cNvPicPr>
          <p:nvPr/>
        </p:nvPicPr>
        <p:blipFill>
          <a:blip r:embed="rId6"/>
          <a:stretch>
            <a:fillRect/>
          </a:stretch>
        </p:blipFill>
        <p:spPr>
          <a:xfrm>
            <a:off x="4471965" y="5089185"/>
            <a:ext cx="245791" cy="245791"/>
          </a:xfrm>
          <a:prstGeom prst="rect">
            <a:avLst/>
          </a:prstGeom>
        </p:spPr>
      </p:pic>
      <p:sp>
        <p:nvSpPr>
          <p:cNvPr id="23" name="Text 17"/>
          <p:cNvSpPr/>
          <p:nvPr/>
        </p:nvSpPr>
        <p:spPr>
          <a:xfrm>
            <a:off x="3410712" y="5504688"/>
            <a:ext cx="2368296" cy="274320"/>
          </a:xfrm>
          <a:prstGeom prst="rect">
            <a:avLst/>
          </a:prstGeom>
          <a:noFill/>
          <a:ln/>
        </p:spPr>
        <p:txBody>
          <a:bodyPr wrap="square" lIns="0" tIns="0" rIns="0" bIns="0" rtlCol="0" anchor="ctr"/>
          <a:lstStyle/>
          <a:p>
            <a:pPr marL="0" indent="0" algn="ctr">
              <a:buNone/>
            </a:pPr>
            <a:r>
              <a:rPr lang="en-US" sz="1200" b="1" dirty="0">
                <a:solidFill>
                  <a:srgbClr val="1A2330"/>
                </a:solidFill>
                <a:latin typeface="Yu Gothic" pitchFamily="34" charset="0"/>
                <a:ea typeface="Yu Gothic" pitchFamily="34" charset="-122"/>
                <a:cs typeface="Yu Gothic" pitchFamily="34" charset="-120"/>
              </a:rPr>
              <a:t>②同一Wi-Fi接続</a:t>
            </a:r>
            <a:endParaRPr lang="en-US" sz="1200" dirty="0"/>
          </a:p>
        </p:txBody>
      </p:sp>
      <p:sp>
        <p:nvSpPr>
          <p:cNvPr id="24" name="Text 18"/>
          <p:cNvSpPr/>
          <p:nvPr/>
        </p:nvSpPr>
        <p:spPr>
          <a:xfrm>
            <a:off x="3410712" y="5779008"/>
            <a:ext cx="2368296" cy="457200"/>
          </a:xfrm>
          <a:prstGeom prst="rect">
            <a:avLst/>
          </a:prstGeom>
          <a:noFill/>
          <a:ln/>
        </p:spPr>
        <p:txBody>
          <a:bodyPr wrap="square" lIns="0" tIns="0" rIns="0" bIns="0" rtlCol="0" anchor="ctr"/>
          <a:lstStyle/>
          <a:p>
            <a:pPr marL="0" indent="0" algn="ctr">
              <a:lnSpc>
                <a:spcPct val="105000"/>
              </a:lnSpc>
              <a:buNone/>
            </a:pPr>
            <a:r>
              <a:rPr lang="en-US" sz="880" dirty="0">
                <a:solidFill>
                  <a:srgbClr val="55626F"/>
                </a:solidFill>
                <a:latin typeface="Yu Gothic" pitchFamily="34" charset="0"/>
                <a:ea typeface="Yu Gothic" pitchFamily="34" charset="-122"/>
                <a:cs typeface="Yu Gothic" pitchFamily="34" charset="-120"/>
              </a:rPr>
              <a:t>PCのIPアドレス＋ポートへHTTPS接続（Service WorkerはHTTPS必須）</a:t>
            </a:r>
            <a:endParaRPr lang="en-US" sz="880" dirty="0"/>
          </a:p>
        </p:txBody>
      </p:sp>
      <p:sp>
        <p:nvSpPr>
          <p:cNvPr id="25" name="Shape 19"/>
          <p:cNvSpPr/>
          <p:nvPr/>
        </p:nvSpPr>
        <p:spPr>
          <a:xfrm>
            <a:off x="6053328" y="4800600"/>
            <a:ext cx="2587752" cy="1417320"/>
          </a:xfrm>
          <a:prstGeom prst="roundRect">
            <a:avLst>
              <a:gd name="adj" fmla="val 5806"/>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6" name="Shape 20"/>
          <p:cNvSpPr/>
          <p:nvPr/>
        </p:nvSpPr>
        <p:spPr>
          <a:xfrm>
            <a:off x="7091172" y="4956048"/>
            <a:ext cx="512064" cy="512064"/>
          </a:xfrm>
          <a:prstGeom prst="ellipse">
            <a:avLst/>
          </a:prstGeom>
          <a:solidFill>
            <a:srgbClr val="1565C0"/>
          </a:solidFill>
          <a:ln/>
        </p:spPr>
        <p:txBody>
          <a:bodyPr/>
          <a:lstStyle/>
          <a:p>
            <a:endParaRPr lang="ja-JP" altLang="en-US"/>
          </a:p>
        </p:txBody>
      </p:sp>
      <p:pic>
        <p:nvPicPr>
          <p:cNvPr id="27" name="Image 4" descr="images/icons/icon_check.png"/>
          <p:cNvPicPr>
            <a:picLocks noChangeAspect="1"/>
          </p:cNvPicPr>
          <p:nvPr/>
        </p:nvPicPr>
        <p:blipFill>
          <a:blip r:embed="rId7"/>
          <a:stretch>
            <a:fillRect/>
          </a:stretch>
        </p:blipFill>
        <p:spPr>
          <a:xfrm>
            <a:off x="7224309" y="5089185"/>
            <a:ext cx="245791" cy="245791"/>
          </a:xfrm>
          <a:prstGeom prst="rect">
            <a:avLst/>
          </a:prstGeom>
        </p:spPr>
      </p:pic>
      <p:sp>
        <p:nvSpPr>
          <p:cNvPr id="28" name="Text 21"/>
          <p:cNvSpPr/>
          <p:nvPr/>
        </p:nvSpPr>
        <p:spPr>
          <a:xfrm>
            <a:off x="6163056" y="5504688"/>
            <a:ext cx="2368296" cy="274320"/>
          </a:xfrm>
          <a:prstGeom prst="rect">
            <a:avLst/>
          </a:prstGeom>
          <a:noFill/>
          <a:ln/>
        </p:spPr>
        <p:txBody>
          <a:bodyPr wrap="square" lIns="0" tIns="0" rIns="0" bIns="0" rtlCol="0" anchor="ctr"/>
          <a:lstStyle/>
          <a:p>
            <a:pPr marL="0" indent="0" algn="ctr">
              <a:buNone/>
            </a:pPr>
            <a:r>
              <a:rPr lang="en-US" sz="1200" b="1" dirty="0">
                <a:solidFill>
                  <a:srgbClr val="1A2330"/>
                </a:solidFill>
                <a:latin typeface="Yu Gothic" pitchFamily="34" charset="0"/>
                <a:ea typeface="Yu Gothic" pitchFamily="34" charset="-122"/>
                <a:cs typeface="Yu Gothic" pitchFamily="34" charset="-120"/>
              </a:rPr>
              <a:t>③インストール</a:t>
            </a:r>
            <a:endParaRPr lang="en-US" sz="1200" dirty="0"/>
          </a:p>
        </p:txBody>
      </p:sp>
      <p:sp>
        <p:nvSpPr>
          <p:cNvPr id="29" name="Text 22"/>
          <p:cNvSpPr/>
          <p:nvPr/>
        </p:nvSpPr>
        <p:spPr>
          <a:xfrm>
            <a:off x="6163056" y="5779008"/>
            <a:ext cx="2368296" cy="457200"/>
          </a:xfrm>
          <a:prstGeom prst="rect">
            <a:avLst/>
          </a:prstGeom>
          <a:noFill/>
          <a:ln/>
        </p:spPr>
        <p:txBody>
          <a:bodyPr wrap="square" lIns="0" tIns="0" rIns="0" bIns="0" rtlCol="0" anchor="ctr"/>
          <a:lstStyle/>
          <a:p>
            <a:pPr marL="0" indent="0" algn="ctr">
              <a:lnSpc>
                <a:spcPct val="105000"/>
              </a:lnSpc>
              <a:buNone/>
            </a:pPr>
            <a:r>
              <a:rPr lang="en-US" sz="880" dirty="0">
                <a:solidFill>
                  <a:srgbClr val="55626F"/>
                </a:solidFill>
                <a:latin typeface="Yu Gothic" pitchFamily="34" charset="0"/>
                <a:ea typeface="Yu Gothic" pitchFamily="34" charset="-122"/>
                <a:cs typeface="Yu Gothic" pitchFamily="34" charset="-120"/>
              </a:rPr>
              <a:t>Chromeの「ホーム画面に追加」からアイコンを追加</a:t>
            </a:r>
            <a:endParaRPr lang="en-US" sz="880" dirty="0"/>
          </a:p>
        </p:txBody>
      </p:sp>
      <p:sp>
        <p:nvSpPr>
          <p:cNvPr id="30" name="Shape 23"/>
          <p:cNvSpPr/>
          <p:nvPr/>
        </p:nvSpPr>
        <p:spPr>
          <a:xfrm>
            <a:off x="8805672" y="4800600"/>
            <a:ext cx="2587752" cy="1417320"/>
          </a:xfrm>
          <a:prstGeom prst="roundRect">
            <a:avLst>
              <a:gd name="adj" fmla="val 5806"/>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31" name="Shape 24"/>
          <p:cNvSpPr/>
          <p:nvPr/>
        </p:nvSpPr>
        <p:spPr>
          <a:xfrm>
            <a:off x="9843516" y="4956048"/>
            <a:ext cx="512064" cy="512064"/>
          </a:xfrm>
          <a:prstGeom prst="ellipse">
            <a:avLst/>
          </a:prstGeom>
          <a:solidFill>
            <a:srgbClr val="1565C0"/>
          </a:solidFill>
          <a:ln/>
        </p:spPr>
        <p:txBody>
          <a:bodyPr/>
          <a:lstStyle/>
          <a:p>
            <a:endParaRPr lang="ja-JP" altLang="en-US"/>
          </a:p>
        </p:txBody>
      </p:sp>
      <p:pic>
        <p:nvPicPr>
          <p:cNvPr id="32" name="Image 5" descr="images/icons/icon_android.png"/>
          <p:cNvPicPr>
            <a:picLocks noChangeAspect="1"/>
          </p:cNvPicPr>
          <p:nvPr/>
        </p:nvPicPr>
        <p:blipFill>
          <a:blip r:embed="rId8"/>
          <a:stretch>
            <a:fillRect/>
          </a:stretch>
        </p:blipFill>
        <p:spPr>
          <a:xfrm>
            <a:off x="9976653" y="5089185"/>
            <a:ext cx="245791" cy="245791"/>
          </a:xfrm>
          <a:prstGeom prst="rect">
            <a:avLst/>
          </a:prstGeom>
        </p:spPr>
      </p:pic>
      <p:sp>
        <p:nvSpPr>
          <p:cNvPr id="33" name="Text 25"/>
          <p:cNvSpPr/>
          <p:nvPr/>
        </p:nvSpPr>
        <p:spPr>
          <a:xfrm>
            <a:off x="8915400" y="5504688"/>
            <a:ext cx="2368296" cy="274320"/>
          </a:xfrm>
          <a:prstGeom prst="rect">
            <a:avLst/>
          </a:prstGeom>
          <a:noFill/>
          <a:ln/>
        </p:spPr>
        <p:txBody>
          <a:bodyPr wrap="square" lIns="0" tIns="0" rIns="0" bIns="0" rtlCol="0" anchor="ctr"/>
          <a:lstStyle/>
          <a:p>
            <a:pPr marL="0" indent="0" algn="ctr">
              <a:buNone/>
            </a:pPr>
            <a:r>
              <a:rPr lang="en-US" sz="1200" b="1" dirty="0">
                <a:solidFill>
                  <a:srgbClr val="1A2330"/>
                </a:solidFill>
                <a:latin typeface="Yu Gothic" pitchFamily="34" charset="0"/>
                <a:ea typeface="Yu Gothic" pitchFamily="34" charset="-122"/>
                <a:cs typeface="Yu Gothic" pitchFamily="34" charset="-120"/>
              </a:rPr>
              <a:t>④動作確認</a:t>
            </a:r>
            <a:endParaRPr lang="en-US" sz="1200" dirty="0"/>
          </a:p>
        </p:txBody>
      </p:sp>
      <p:sp>
        <p:nvSpPr>
          <p:cNvPr id="34" name="Text 26"/>
          <p:cNvSpPr/>
          <p:nvPr/>
        </p:nvSpPr>
        <p:spPr>
          <a:xfrm>
            <a:off x="8915400" y="5779008"/>
            <a:ext cx="2368296" cy="457200"/>
          </a:xfrm>
          <a:prstGeom prst="rect">
            <a:avLst/>
          </a:prstGeom>
          <a:noFill/>
          <a:ln/>
        </p:spPr>
        <p:txBody>
          <a:bodyPr wrap="square" lIns="0" tIns="0" rIns="0" bIns="0" rtlCol="0" anchor="ctr"/>
          <a:lstStyle/>
          <a:p>
            <a:pPr marL="0" indent="0" algn="ctr">
              <a:lnSpc>
                <a:spcPct val="105000"/>
              </a:lnSpc>
              <a:buNone/>
            </a:pPr>
            <a:r>
              <a:rPr lang="en-US" sz="880" dirty="0">
                <a:solidFill>
                  <a:srgbClr val="55626F"/>
                </a:solidFill>
                <a:latin typeface="Yu Gothic" pitchFamily="34" charset="0"/>
                <a:ea typeface="Yu Gothic" pitchFamily="34" charset="-122"/>
                <a:cs typeface="Yu Gothic" pitchFamily="34" charset="-120"/>
              </a:rPr>
              <a:t>スタンドアロン起動・縦画面固定・オフライン表示を確認</a:t>
            </a:r>
            <a:endParaRPr lang="en-US" sz="880" dirty="0"/>
          </a:p>
        </p:txBody>
      </p:sp>
      <p:sp>
        <p:nvSpPr>
          <p:cNvPr id="35" name="Text 27"/>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6" name="Text 28"/>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DEBUG TOOLS</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通信テスト・デバッグ機能（Main画面）</a:t>
            </a:r>
            <a:endParaRPr lang="en-US" sz="3000" dirty="0"/>
          </a:p>
        </p:txBody>
      </p:sp>
      <p:sp>
        <p:nvSpPr>
          <p:cNvPr id="4" name="Text 2"/>
          <p:cNvSpPr/>
          <p:nvPr/>
        </p:nvSpPr>
        <p:spPr>
          <a:xfrm>
            <a:off x="548640" y="1508760"/>
            <a:ext cx="11091672" cy="502920"/>
          </a:xfrm>
          <a:prstGeom prst="rect">
            <a:avLst/>
          </a:prstGeom>
          <a:noFill/>
          <a:ln/>
        </p:spPr>
        <p:txBody>
          <a:bodyPr wrap="square" rtlCol="0" anchor="ctr"/>
          <a:lstStyle/>
          <a:p>
            <a:pPr marL="0" indent="0">
              <a:lnSpc>
                <a:spcPct val="120000"/>
              </a:lnSpc>
              <a:buNone/>
            </a:pPr>
            <a:r>
              <a:rPr lang="en-US" sz="1300" dirty="0">
                <a:solidFill>
                  <a:srgbClr val="55626F"/>
                </a:solidFill>
                <a:latin typeface="Yu Gothic" pitchFamily="34" charset="0"/>
                <a:ea typeface="Yu Gothic" pitchFamily="34" charset="-122"/>
                <a:cs typeface="Yu Gothic" pitchFamily="34" charset="-120"/>
              </a:rPr>
              <a:t>コンソールアプリ（C#）が実装される前から、サーバー側エンドポイントを単体で検証できるよう、4段階のライフサイクルを疑似送信するデバッグパネルをMain画面に実装。</a:t>
            </a:r>
            <a:endParaRPr lang="en-US" sz="1300" dirty="0"/>
          </a:p>
        </p:txBody>
      </p:sp>
      <p:sp>
        <p:nvSpPr>
          <p:cNvPr id="5" name="Shape 3"/>
          <p:cNvSpPr/>
          <p:nvPr/>
        </p:nvSpPr>
        <p:spPr>
          <a:xfrm>
            <a:off x="548640" y="2194560"/>
            <a:ext cx="2587752" cy="1554480"/>
          </a:xfrm>
          <a:prstGeom prst="roundRect">
            <a:avLst>
              <a:gd name="adj" fmla="val 5294"/>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6" name="Shape 4"/>
          <p:cNvSpPr/>
          <p:nvPr/>
        </p:nvSpPr>
        <p:spPr>
          <a:xfrm>
            <a:off x="1586484" y="2359152"/>
            <a:ext cx="512064" cy="512064"/>
          </a:xfrm>
          <a:prstGeom prst="ellipse">
            <a:avLst/>
          </a:prstGeom>
          <a:solidFill>
            <a:srgbClr val="1565C0"/>
          </a:solidFill>
          <a:ln/>
        </p:spPr>
        <p:txBody>
          <a:bodyPr/>
          <a:lstStyle/>
          <a:p>
            <a:endParaRPr lang="ja-JP" altLang="en-US"/>
          </a:p>
        </p:txBody>
      </p:sp>
      <p:pic>
        <p:nvPicPr>
          <p:cNvPr id="7" name="Image 0" descr="images/icons/icon_sync.png"/>
          <p:cNvPicPr>
            <a:picLocks noChangeAspect="1"/>
          </p:cNvPicPr>
          <p:nvPr/>
        </p:nvPicPr>
        <p:blipFill>
          <a:blip r:embed="rId3"/>
          <a:stretch>
            <a:fillRect/>
          </a:stretch>
        </p:blipFill>
        <p:spPr>
          <a:xfrm>
            <a:off x="1719621" y="2492289"/>
            <a:ext cx="245791" cy="245791"/>
          </a:xfrm>
          <a:prstGeom prst="rect">
            <a:avLst/>
          </a:prstGeom>
        </p:spPr>
      </p:pic>
      <p:sp>
        <p:nvSpPr>
          <p:cNvPr id="8" name="Text 5"/>
          <p:cNvSpPr/>
          <p:nvPr/>
        </p:nvSpPr>
        <p:spPr>
          <a:xfrm>
            <a:off x="640080" y="2944368"/>
            <a:ext cx="2404872" cy="274320"/>
          </a:xfrm>
          <a:prstGeom prst="rect">
            <a:avLst/>
          </a:prstGeom>
          <a:noFill/>
          <a:ln/>
        </p:spPr>
        <p:txBody>
          <a:bodyPr wrap="square" lIns="0" tIns="0" rIns="0" bIns="0" rtlCol="0" anchor="ctr"/>
          <a:lstStyle/>
          <a:p>
            <a:pPr marL="0" indent="0" algn="ctr">
              <a:buNone/>
            </a:pPr>
            <a:r>
              <a:rPr lang="en-US" sz="1300" b="1" dirty="0">
                <a:solidFill>
                  <a:srgbClr val="1A2330"/>
                </a:solidFill>
                <a:latin typeface="Yu Gothic" pitchFamily="34" charset="0"/>
                <a:ea typeface="Yu Gothic" pitchFamily="34" charset="-122"/>
                <a:cs typeface="Yu Gothic" pitchFamily="34" charset="-120"/>
              </a:rPr>
              <a:t>① Polling</a:t>
            </a:r>
            <a:endParaRPr lang="en-US" sz="1300" dirty="0"/>
          </a:p>
        </p:txBody>
      </p:sp>
      <p:sp>
        <p:nvSpPr>
          <p:cNvPr id="9" name="Text 6"/>
          <p:cNvSpPr/>
          <p:nvPr/>
        </p:nvSpPr>
        <p:spPr>
          <a:xfrm>
            <a:off x="640080" y="3200400"/>
            <a:ext cx="2404872" cy="228600"/>
          </a:xfrm>
          <a:prstGeom prst="rect">
            <a:avLst/>
          </a:prstGeom>
          <a:noFill/>
          <a:ln/>
        </p:spPr>
        <p:txBody>
          <a:bodyPr wrap="square" lIns="0" tIns="0" rIns="0" bIns="0" rtlCol="0" anchor="ctr"/>
          <a:lstStyle/>
          <a:p>
            <a:pPr marL="0" indent="0" algn="ctr">
              <a:buNone/>
            </a:pPr>
            <a:r>
              <a:rPr lang="en-US" sz="750" dirty="0">
                <a:solidFill>
                  <a:srgbClr val="1565C0"/>
                </a:solidFill>
                <a:latin typeface="Consolas" pitchFamily="34" charset="0"/>
                <a:ea typeface="Consolas" pitchFamily="34" charset="-122"/>
                <a:cs typeface="Consolas" pitchFamily="34" charset="-120"/>
              </a:rPr>
              <a:t>/api/stub/equipment/polling</a:t>
            </a:r>
            <a:endParaRPr lang="en-US" sz="750" dirty="0"/>
          </a:p>
        </p:txBody>
      </p:sp>
      <p:sp>
        <p:nvSpPr>
          <p:cNvPr id="10" name="Text 7"/>
          <p:cNvSpPr/>
          <p:nvPr/>
        </p:nvSpPr>
        <p:spPr>
          <a:xfrm>
            <a:off x="640080" y="3438144"/>
            <a:ext cx="2404872" cy="274320"/>
          </a:xfrm>
          <a:prstGeom prst="rect">
            <a:avLst/>
          </a:prstGeom>
          <a:noFill/>
          <a:ln/>
        </p:spPr>
        <p:txBody>
          <a:bodyPr wrap="square" lIns="0" tIns="0" rIns="0" bIns="0" rtlCol="0" anchor="ctr"/>
          <a:lstStyle/>
          <a:p>
            <a:pPr marL="0" indent="0" algn="ctr">
              <a:buNone/>
            </a:pPr>
            <a:r>
              <a:rPr lang="en-US" sz="900" dirty="0">
                <a:solidFill>
                  <a:srgbClr val="55626F"/>
                </a:solidFill>
                <a:latin typeface="Yu Gothic" pitchFamily="34" charset="0"/>
                <a:ea typeface="Yu Gothic" pitchFamily="34" charset="-122"/>
                <a:cs typeface="Yu Gothic" pitchFamily="34" charset="-120"/>
              </a:rPr>
              <a:t>保留JOBの有無を確認</a:t>
            </a:r>
            <a:endParaRPr lang="en-US" sz="900" dirty="0"/>
          </a:p>
        </p:txBody>
      </p:sp>
      <p:sp>
        <p:nvSpPr>
          <p:cNvPr id="11" name="Text 8"/>
          <p:cNvSpPr/>
          <p:nvPr/>
        </p:nvSpPr>
        <p:spPr>
          <a:xfrm>
            <a:off x="3136392" y="2697480"/>
            <a:ext cx="164592" cy="365760"/>
          </a:xfrm>
          <a:prstGeom prst="rect">
            <a:avLst/>
          </a:prstGeom>
          <a:noFill/>
          <a:ln/>
        </p:spPr>
        <p:txBody>
          <a:bodyPr wrap="square" lIns="0" tIns="0" rIns="0" bIns="0" rtlCol="0" anchor="ctr"/>
          <a:lstStyle/>
          <a:p>
            <a:pPr marL="0" indent="0" algn="ctr">
              <a:buNone/>
            </a:pPr>
            <a:r>
              <a:rPr lang="en-US" sz="1600" b="1" dirty="0">
                <a:solidFill>
                  <a:srgbClr val="B9C2CB"/>
                </a:solidFill>
                <a:latin typeface="Yu Gothic" pitchFamily="34" charset="0"/>
                <a:ea typeface="Yu Gothic" pitchFamily="34" charset="-122"/>
                <a:cs typeface="Yu Gothic" pitchFamily="34" charset="-120"/>
              </a:rPr>
              <a:t>→</a:t>
            </a:r>
            <a:endParaRPr lang="en-US" sz="1600" dirty="0"/>
          </a:p>
        </p:txBody>
      </p:sp>
      <p:sp>
        <p:nvSpPr>
          <p:cNvPr id="12" name="Shape 9"/>
          <p:cNvSpPr/>
          <p:nvPr/>
        </p:nvSpPr>
        <p:spPr>
          <a:xfrm>
            <a:off x="3300984" y="2194560"/>
            <a:ext cx="2587752" cy="1554480"/>
          </a:xfrm>
          <a:prstGeom prst="roundRect">
            <a:avLst>
              <a:gd name="adj" fmla="val 5294"/>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13" name="Shape 10"/>
          <p:cNvSpPr/>
          <p:nvPr/>
        </p:nvSpPr>
        <p:spPr>
          <a:xfrm>
            <a:off x="4338828" y="2359152"/>
            <a:ext cx="512064" cy="512064"/>
          </a:xfrm>
          <a:prstGeom prst="ellipse">
            <a:avLst/>
          </a:prstGeom>
          <a:solidFill>
            <a:srgbClr val="1565C0"/>
          </a:solidFill>
          <a:ln/>
        </p:spPr>
        <p:txBody>
          <a:bodyPr/>
          <a:lstStyle/>
          <a:p>
            <a:endParaRPr lang="ja-JP" altLang="en-US"/>
          </a:p>
        </p:txBody>
      </p:sp>
      <p:pic>
        <p:nvPicPr>
          <p:cNvPr id="14" name="Image 1" descr="images/icons/icon_wifi.png"/>
          <p:cNvPicPr>
            <a:picLocks noChangeAspect="1"/>
          </p:cNvPicPr>
          <p:nvPr/>
        </p:nvPicPr>
        <p:blipFill>
          <a:blip r:embed="rId4"/>
          <a:stretch>
            <a:fillRect/>
          </a:stretch>
        </p:blipFill>
        <p:spPr>
          <a:xfrm>
            <a:off x="4471965" y="2492289"/>
            <a:ext cx="245791" cy="245791"/>
          </a:xfrm>
          <a:prstGeom prst="rect">
            <a:avLst/>
          </a:prstGeom>
        </p:spPr>
      </p:pic>
      <p:sp>
        <p:nvSpPr>
          <p:cNvPr id="15" name="Text 11"/>
          <p:cNvSpPr/>
          <p:nvPr/>
        </p:nvSpPr>
        <p:spPr>
          <a:xfrm>
            <a:off x="3392424" y="2944368"/>
            <a:ext cx="2404872" cy="274320"/>
          </a:xfrm>
          <a:prstGeom prst="rect">
            <a:avLst/>
          </a:prstGeom>
          <a:noFill/>
          <a:ln/>
        </p:spPr>
        <p:txBody>
          <a:bodyPr wrap="square" lIns="0" tIns="0" rIns="0" bIns="0" rtlCol="0" anchor="ctr"/>
          <a:lstStyle/>
          <a:p>
            <a:pPr marL="0" indent="0" algn="ctr">
              <a:buNone/>
            </a:pPr>
            <a:r>
              <a:rPr lang="en-US" sz="1300" b="1" dirty="0">
                <a:solidFill>
                  <a:srgbClr val="1A2330"/>
                </a:solidFill>
                <a:latin typeface="Yu Gothic" pitchFamily="34" charset="0"/>
                <a:ea typeface="Yu Gothic" pitchFamily="34" charset="-122"/>
                <a:cs typeface="Yu Gothic" pitchFamily="34" charset="-120"/>
              </a:rPr>
              <a:t>② Online</a:t>
            </a:r>
            <a:endParaRPr lang="en-US" sz="1300" dirty="0"/>
          </a:p>
        </p:txBody>
      </p:sp>
      <p:sp>
        <p:nvSpPr>
          <p:cNvPr id="16" name="Text 12"/>
          <p:cNvSpPr/>
          <p:nvPr/>
        </p:nvSpPr>
        <p:spPr>
          <a:xfrm>
            <a:off x="3392424" y="3200400"/>
            <a:ext cx="2404872" cy="228600"/>
          </a:xfrm>
          <a:prstGeom prst="rect">
            <a:avLst/>
          </a:prstGeom>
          <a:noFill/>
          <a:ln/>
        </p:spPr>
        <p:txBody>
          <a:bodyPr wrap="square" lIns="0" tIns="0" rIns="0" bIns="0" rtlCol="0" anchor="ctr"/>
          <a:lstStyle/>
          <a:p>
            <a:pPr marL="0" indent="0" algn="ctr">
              <a:buNone/>
            </a:pPr>
            <a:r>
              <a:rPr lang="en-US" sz="750" dirty="0">
                <a:solidFill>
                  <a:srgbClr val="1565C0"/>
                </a:solidFill>
                <a:latin typeface="Consolas" pitchFamily="34" charset="0"/>
                <a:ea typeface="Consolas" pitchFamily="34" charset="-122"/>
                <a:cs typeface="Consolas" pitchFamily="34" charset="-120"/>
              </a:rPr>
              <a:t>/api/stub/equipment/online</a:t>
            </a:r>
            <a:endParaRPr lang="en-US" sz="750" dirty="0"/>
          </a:p>
        </p:txBody>
      </p:sp>
      <p:sp>
        <p:nvSpPr>
          <p:cNvPr id="17" name="Text 13"/>
          <p:cNvSpPr/>
          <p:nvPr/>
        </p:nvSpPr>
        <p:spPr>
          <a:xfrm>
            <a:off x="3392424" y="3438144"/>
            <a:ext cx="2404872" cy="274320"/>
          </a:xfrm>
          <a:prstGeom prst="rect">
            <a:avLst/>
          </a:prstGeom>
          <a:noFill/>
          <a:ln/>
        </p:spPr>
        <p:txBody>
          <a:bodyPr wrap="square" lIns="0" tIns="0" rIns="0" bIns="0" rtlCol="0" anchor="ctr"/>
          <a:lstStyle/>
          <a:p>
            <a:pPr marL="0" indent="0" algn="ctr">
              <a:buNone/>
            </a:pPr>
            <a:r>
              <a:rPr lang="en-US" sz="900" dirty="0">
                <a:solidFill>
                  <a:srgbClr val="55626F"/>
                </a:solidFill>
                <a:latin typeface="Yu Gothic" pitchFamily="34" charset="0"/>
                <a:ea typeface="Yu Gothic" pitchFamily="34" charset="-122"/>
                <a:cs typeface="Yu Gothic" pitchFamily="34" charset="-120"/>
              </a:rPr>
              <a:t>コンソール起動を報告</a:t>
            </a:r>
            <a:endParaRPr lang="en-US" sz="900" dirty="0"/>
          </a:p>
        </p:txBody>
      </p:sp>
      <p:sp>
        <p:nvSpPr>
          <p:cNvPr id="18" name="Text 14"/>
          <p:cNvSpPr/>
          <p:nvPr/>
        </p:nvSpPr>
        <p:spPr>
          <a:xfrm>
            <a:off x="5888736" y="2697480"/>
            <a:ext cx="164592" cy="365760"/>
          </a:xfrm>
          <a:prstGeom prst="rect">
            <a:avLst/>
          </a:prstGeom>
          <a:noFill/>
          <a:ln/>
        </p:spPr>
        <p:txBody>
          <a:bodyPr wrap="square" lIns="0" tIns="0" rIns="0" bIns="0" rtlCol="0" anchor="ctr"/>
          <a:lstStyle/>
          <a:p>
            <a:pPr marL="0" indent="0" algn="ctr">
              <a:buNone/>
            </a:pPr>
            <a:r>
              <a:rPr lang="en-US" sz="1600" b="1" dirty="0">
                <a:solidFill>
                  <a:srgbClr val="B9C2CB"/>
                </a:solidFill>
                <a:latin typeface="Yu Gothic" pitchFamily="34" charset="0"/>
                <a:ea typeface="Yu Gothic" pitchFamily="34" charset="-122"/>
                <a:cs typeface="Yu Gothic" pitchFamily="34" charset="-120"/>
              </a:rPr>
              <a:t>→</a:t>
            </a:r>
            <a:endParaRPr lang="en-US" sz="1600" dirty="0"/>
          </a:p>
        </p:txBody>
      </p:sp>
      <p:sp>
        <p:nvSpPr>
          <p:cNvPr id="19" name="Shape 15"/>
          <p:cNvSpPr/>
          <p:nvPr/>
        </p:nvSpPr>
        <p:spPr>
          <a:xfrm>
            <a:off x="6053328" y="2194560"/>
            <a:ext cx="2587752" cy="1554480"/>
          </a:xfrm>
          <a:prstGeom prst="roundRect">
            <a:avLst>
              <a:gd name="adj" fmla="val 5294"/>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0" name="Shape 16"/>
          <p:cNvSpPr/>
          <p:nvPr/>
        </p:nvSpPr>
        <p:spPr>
          <a:xfrm>
            <a:off x="7091172" y="2359152"/>
            <a:ext cx="512064" cy="512064"/>
          </a:xfrm>
          <a:prstGeom prst="ellipse">
            <a:avLst/>
          </a:prstGeom>
          <a:solidFill>
            <a:srgbClr val="1565C0"/>
          </a:solidFill>
          <a:ln/>
        </p:spPr>
        <p:txBody>
          <a:bodyPr/>
          <a:lstStyle/>
          <a:p>
            <a:endParaRPr lang="ja-JP" altLang="en-US"/>
          </a:p>
        </p:txBody>
      </p:sp>
      <p:pic>
        <p:nvPicPr>
          <p:cNvPr id="21" name="Image 2" descr="images/icons/icon_route.png"/>
          <p:cNvPicPr>
            <a:picLocks noChangeAspect="1"/>
          </p:cNvPicPr>
          <p:nvPr/>
        </p:nvPicPr>
        <p:blipFill>
          <a:blip r:embed="rId5"/>
          <a:stretch>
            <a:fillRect/>
          </a:stretch>
        </p:blipFill>
        <p:spPr>
          <a:xfrm>
            <a:off x="7224309" y="2492289"/>
            <a:ext cx="245791" cy="245791"/>
          </a:xfrm>
          <a:prstGeom prst="rect">
            <a:avLst/>
          </a:prstGeom>
        </p:spPr>
      </p:pic>
      <p:sp>
        <p:nvSpPr>
          <p:cNvPr id="22" name="Text 17"/>
          <p:cNvSpPr/>
          <p:nvPr/>
        </p:nvSpPr>
        <p:spPr>
          <a:xfrm>
            <a:off x="6144768" y="2944368"/>
            <a:ext cx="2404872" cy="274320"/>
          </a:xfrm>
          <a:prstGeom prst="rect">
            <a:avLst/>
          </a:prstGeom>
          <a:noFill/>
          <a:ln/>
        </p:spPr>
        <p:txBody>
          <a:bodyPr wrap="square" lIns="0" tIns="0" rIns="0" bIns="0" rtlCol="0" anchor="ctr"/>
          <a:lstStyle/>
          <a:p>
            <a:pPr marL="0" indent="0" algn="ctr">
              <a:buNone/>
            </a:pPr>
            <a:r>
              <a:rPr lang="en-US" sz="1300" b="1" dirty="0">
                <a:solidFill>
                  <a:srgbClr val="1A2330"/>
                </a:solidFill>
                <a:latin typeface="Yu Gothic" pitchFamily="34" charset="0"/>
                <a:ea typeface="Yu Gothic" pitchFamily="34" charset="-122"/>
                <a:cs typeface="Yu Gothic" pitchFamily="34" charset="-120"/>
              </a:rPr>
              <a:t>③ Started</a:t>
            </a:r>
            <a:endParaRPr lang="en-US" sz="1300" dirty="0"/>
          </a:p>
        </p:txBody>
      </p:sp>
      <p:sp>
        <p:nvSpPr>
          <p:cNvPr id="23" name="Text 18"/>
          <p:cNvSpPr/>
          <p:nvPr/>
        </p:nvSpPr>
        <p:spPr>
          <a:xfrm>
            <a:off x="6144768" y="3200400"/>
            <a:ext cx="2404872" cy="228600"/>
          </a:xfrm>
          <a:prstGeom prst="rect">
            <a:avLst/>
          </a:prstGeom>
          <a:noFill/>
          <a:ln/>
        </p:spPr>
        <p:txBody>
          <a:bodyPr wrap="square" lIns="0" tIns="0" rIns="0" bIns="0" rtlCol="0" anchor="ctr"/>
          <a:lstStyle/>
          <a:p>
            <a:pPr marL="0" indent="0" algn="ctr">
              <a:buNone/>
            </a:pPr>
            <a:r>
              <a:rPr lang="en-US" sz="750" dirty="0">
                <a:solidFill>
                  <a:srgbClr val="1565C0"/>
                </a:solidFill>
                <a:latin typeface="Consolas" pitchFamily="34" charset="0"/>
                <a:ea typeface="Consolas" pitchFamily="34" charset="-122"/>
                <a:cs typeface="Consolas" pitchFamily="34" charset="-120"/>
              </a:rPr>
              <a:t>/api/stub/equipment/started</a:t>
            </a:r>
            <a:endParaRPr lang="en-US" sz="750" dirty="0"/>
          </a:p>
        </p:txBody>
      </p:sp>
      <p:sp>
        <p:nvSpPr>
          <p:cNvPr id="24" name="Text 19"/>
          <p:cNvSpPr/>
          <p:nvPr/>
        </p:nvSpPr>
        <p:spPr>
          <a:xfrm>
            <a:off x="6144768" y="3438144"/>
            <a:ext cx="2404872" cy="274320"/>
          </a:xfrm>
          <a:prstGeom prst="rect">
            <a:avLst/>
          </a:prstGeom>
          <a:noFill/>
          <a:ln/>
        </p:spPr>
        <p:txBody>
          <a:bodyPr wrap="square" lIns="0" tIns="0" rIns="0" bIns="0" rtlCol="0" anchor="ctr"/>
          <a:lstStyle/>
          <a:p>
            <a:pPr marL="0" indent="0" algn="ctr">
              <a:buNone/>
            </a:pPr>
            <a:r>
              <a:rPr lang="en-US" sz="900" dirty="0">
                <a:solidFill>
                  <a:srgbClr val="55626F"/>
                </a:solidFill>
                <a:latin typeface="Yu Gothic" pitchFamily="34" charset="0"/>
                <a:ea typeface="Yu Gothic" pitchFamily="34" charset="-122"/>
                <a:cs typeface="Yu Gothic" pitchFamily="34" charset="-120"/>
              </a:rPr>
              <a:t>搬送開始（TRAVELING）</a:t>
            </a:r>
            <a:endParaRPr lang="en-US" sz="900" dirty="0"/>
          </a:p>
        </p:txBody>
      </p:sp>
      <p:sp>
        <p:nvSpPr>
          <p:cNvPr id="25" name="Text 20"/>
          <p:cNvSpPr/>
          <p:nvPr/>
        </p:nvSpPr>
        <p:spPr>
          <a:xfrm>
            <a:off x="8641080" y="2697480"/>
            <a:ext cx="164592" cy="365760"/>
          </a:xfrm>
          <a:prstGeom prst="rect">
            <a:avLst/>
          </a:prstGeom>
          <a:noFill/>
          <a:ln/>
        </p:spPr>
        <p:txBody>
          <a:bodyPr wrap="square" lIns="0" tIns="0" rIns="0" bIns="0" rtlCol="0" anchor="ctr"/>
          <a:lstStyle/>
          <a:p>
            <a:pPr marL="0" indent="0" algn="ctr">
              <a:buNone/>
            </a:pPr>
            <a:r>
              <a:rPr lang="en-US" sz="1600" b="1" dirty="0">
                <a:solidFill>
                  <a:srgbClr val="B9C2CB"/>
                </a:solidFill>
                <a:latin typeface="Yu Gothic" pitchFamily="34" charset="0"/>
                <a:ea typeface="Yu Gothic" pitchFamily="34" charset="-122"/>
                <a:cs typeface="Yu Gothic" pitchFamily="34" charset="-120"/>
              </a:rPr>
              <a:t>→</a:t>
            </a:r>
            <a:endParaRPr lang="en-US" sz="1600" dirty="0"/>
          </a:p>
        </p:txBody>
      </p:sp>
      <p:sp>
        <p:nvSpPr>
          <p:cNvPr id="26" name="Shape 21"/>
          <p:cNvSpPr/>
          <p:nvPr/>
        </p:nvSpPr>
        <p:spPr>
          <a:xfrm>
            <a:off x="8805672" y="2194560"/>
            <a:ext cx="2587752" cy="1554480"/>
          </a:xfrm>
          <a:prstGeom prst="roundRect">
            <a:avLst>
              <a:gd name="adj" fmla="val 5294"/>
            </a:avLst>
          </a:prstGeom>
          <a:solidFill>
            <a:srgbClr val="FFFFFF"/>
          </a:solidFill>
          <a:ln/>
          <a:effectLst>
            <a:outerShdw blurRad="101600" dist="38100" dir="5400000" algn="bl" rotWithShape="0">
              <a:srgbClr val="0D1B2A">
                <a:alpha val="12000"/>
              </a:srgbClr>
            </a:outerShdw>
          </a:effectLst>
        </p:spPr>
        <p:txBody>
          <a:bodyPr/>
          <a:lstStyle/>
          <a:p>
            <a:endParaRPr lang="ja-JP" altLang="en-US"/>
          </a:p>
        </p:txBody>
      </p:sp>
      <p:sp>
        <p:nvSpPr>
          <p:cNvPr id="27" name="Shape 22"/>
          <p:cNvSpPr/>
          <p:nvPr/>
        </p:nvSpPr>
        <p:spPr>
          <a:xfrm>
            <a:off x="9843516" y="2359152"/>
            <a:ext cx="512064" cy="512064"/>
          </a:xfrm>
          <a:prstGeom prst="ellipse">
            <a:avLst/>
          </a:prstGeom>
          <a:solidFill>
            <a:srgbClr val="1565C0"/>
          </a:solidFill>
          <a:ln/>
        </p:spPr>
        <p:txBody>
          <a:bodyPr/>
          <a:lstStyle/>
          <a:p>
            <a:endParaRPr lang="ja-JP" altLang="en-US"/>
          </a:p>
        </p:txBody>
      </p:sp>
      <p:pic>
        <p:nvPicPr>
          <p:cNvPr id="28" name="Image 3" descr="images/icons/icon_check.png"/>
          <p:cNvPicPr>
            <a:picLocks noChangeAspect="1"/>
          </p:cNvPicPr>
          <p:nvPr/>
        </p:nvPicPr>
        <p:blipFill>
          <a:blip r:embed="rId6"/>
          <a:stretch>
            <a:fillRect/>
          </a:stretch>
        </p:blipFill>
        <p:spPr>
          <a:xfrm>
            <a:off x="9976653" y="2492289"/>
            <a:ext cx="245791" cy="245791"/>
          </a:xfrm>
          <a:prstGeom prst="rect">
            <a:avLst/>
          </a:prstGeom>
        </p:spPr>
      </p:pic>
      <p:sp>
        <p:nvSpPr>
          <p:cNvPr id="29" name="Text 23"/>
          <p:cNvSpPr/>
          <p:nvPr/>
        </p:nvSpPr>
        <p:spPr>
          <a:xfrm>
            <a:off x="8897112" y="2944368"/>
            <a:ext cx="2404872" cy="274320"/>
          </a:xfrm>
          <a:prstGeom prst="rect">
            <a:avLst/>
          </a:prstGeom>
          <a:noFill/>
          <a:ln/>
        </p:spPr>
        <p:txBody>
          <a:bodyPr wrap="square" lIns="0" tIns="0" rIns="0" bIns="0" rtlCol="0" anchor="ctr"/>
          <a:lstStyle/>
          <a:p>
            <a:pPr marL="0" indent="0" algn="ctr">
              <a:buNone/>
            </a:pPr>
            <a:r>
              <a:rPr lang="en-US" sz="1300" b="1" dirty="0">
                <a:solidFill>
                  <a:srgbClr val="1A2330"/>
                </a:solidFill>
                <a:latin typeface="Yu Gothic" pitchFamily="34" charset="0"/>
                <a:ea typeface="Yu Gothic" pitchFamily="34" charset="-122"/>
                <a:cs typeface="Yu Gothic" pitchFamily="34" charset="-120"/>
              </a:rPr>
              <a:t>④ Completed</a:t>
            </a:r>
            <a:endParaRPr lang="en-US" sz="1300" dirty="0"/>
          </a:p>
        </p:txBody>
      </p:sp>
      <p:sp>
        <p:nvSpPr>
          <p:cNvPr id="30" name="Text 24"/>
          <p:cNvSpPr/>
          <p:nvPr/>
        </p:nvSpPr>
        <p:spPr>
          <a:xfrm>
            <a:off x="8897112" y="3200400"/>
            <a:ext cx="2404872" cy="228600"/>
          </a:xfrm>
          <a:prstGeom prst="rect">
            <a:avLst/>
          </a:prstGeom>
          <a:noFill/>
          <a:ln/>
        </p:spPr>
        <p:txBody>
          <a:bodyPr wrap="square" lIns="0" tIns="0" rIns="0" bIns="0" rtlCol="0" anchor="ctr"/>
          <a:lstStyle/>
          <a:p>
            <a:pPr marL="0" indent="0" algn="ctr">
              <a:buNone/>
            </a:pPr>
            <a:r>
              <a:rPr lang="en-US" sz="750" dirty="0">
                <a:solidFill>
                  <a:srgbClr val="1565C0"/>
                </a:solidFill>
                <a:latin typeface="Consolas" pitchFamily="34" charset="0"/>
                <a:ea typeface="Consolas" pitchFamily="34" charset="-122"/>
                <a:cs typeface="Consolas" pitchFamily="34" charset="-120"/>
              </a:rPr>
              <a:t>/api/stub/equipment/completed</a:t>
            </a:r>
            <a:endParaRPr lang="en-US" sz="750" dirty="0"/>
          </a:p>
        </p:txBody>
      </p:sp>
      <p:sp>
        <p:nvSpPr>
          <p:cNvPr id="31" name="Text 25"/>
          <p:cNvSpPr/>
          <p:nvPr/>
        </p:nvSpPr>
        <p:spPr>
          <a:xfrm>
            <a:off x="8897112" y="3438144"/>
            <a:ext cx="2404872" cy="274320"/>
          </a:xfrm>
          <a:prstGeom prst="rect">
            <a:avLst/>
          </a:prstGeom>
          <a:noFill/>
          <a:ln/>
        </p:spPr>
        <p:txBody>
          <a:bodyPr wrap="square" lIns="0" tIns="0" rIns="0" bIns="0" rtlCol="0" anchor="ctr"/>
          <a:lstStyle/>
          <a:p>
            <a:pPr marL="0" indent="0" algn="ctr">
              <a:buNone/>
            </a:pPr>
            <a:r>
              <a:rPr lang="en-US" sz="900" dirty="0">
                <a:solidFill>
                  <a:srgbClr val="55626F"/>
                </a:solidFill>
                <a:latin typeface="Yu Gothic" pitchFamily="34" charset="0"/>
                <a:ea typeface="Yu Gothic" pitchFamily="34" charset="-122"/>
                <a:cs typeface="Yu Gothic" pitchFamily="34" charset="-120"/>
              </a:rPr>
              <a:t>搬送完了（IDLE・棚移動）</a:t>
            </a:r>
            <a:endParaRPr lang="en-US" sz="900" dirty="0"/>
          </a:p>
        </p:txBody>
      </p:sp>
      <p:sp>
        <p:nvSpPr>
          <p:cNvPr id="32" name="Text 26"/>
          <p:cNvSpPr/>
          <p:nvPr/>
        </p:nvSpPr>
        <p:spPr>
          <a:xfrm>
            <a:off x="548640" y="4160520"/>
            <a:ext cx="7315200" cy="292608"/>
          </a:xfrm>
          <a:prstGeom prst="rect">
            <a:avLst/>
          </a:prstGeom>
          <a:noFill/>
          <a:ln/>
        </p:spPr>
        <p:txBody>
          <a:bodyPr wrap="square" rtlCol="0" anchor="ctr"/>
          <a:lstStyle/>
          <a:p>
            <a:pPr marL="0" indent="0">
              <a:buNone/>
            </a:pPr>
            <a:r>
              <a:rPr lang="en-US" sz="1200" b="1" dirty="0">
                <a:solidFill>
                  <a:srgbClr val="0D1B2A"/>
                </a:solidFill>
                <a:latin typeface="Yu Gothic" pitchFamily="34" charset="0"/>
                <a:ea typeface="Yu Gothic" pitchFamily="34" charset="-122"/>
                <a:cs typeface="Yu Gothic" pitchFamily="34" charset="-120"/>
              </a:rPr>
              <a:t>実際のログパネル表示例（status コード・応答本文をそのまま表示）</a:t>
            </a:r>
            <a:endParaRPr lang="en-US" sz="1200" dirty="0"/>
          </a:p>
        </p:txBody>
      </p:sp>
      <p:sp>
        <p:nvSpPr>
          <p:cNvPr id="33" name="Shape 27"/>
          <p:cNvSpPr/>
          <p:nvPr/>
        </p:nvSpPr>
        <p:spPr>
          <a:xfrm>
            <a:off x="548640" y="4526280"/>
            <a:ext cx="11091672" cy="1691640"/>
          </a:xfrm>
          <a:prstGeom prst="roundRect">
            <a:avLst>
              <a:gd name="adj" fmla="val 4324"/>
            </a:avLst>
          </a:prstGeom>
          <a:solidFill>
            <a:srgbClr val="11151C"/>
          </a:solidFill>
          <a:ln/>
          <a:effectLst>
            <a:outerShdw blurRad="101600" dist="38100" dir="5400000" algn="bl" rotWithShape="0">
              <a:srgbClr val="0D1B2A">
                <a:alpha val="12000"/>
              </a:srgbClr>
            </a:outerShdw>
          </a:effectLst>
        </p:spPr>
        <p:txBody>
          <a:bodyPr/>
          <a:lstStyle/>
          <a:p>
            <a:endParaRPr lang="ja-JP" altLang="en-US"/>
          </a:p>
        </p:txBody>
      </p:sp>
      <p:sp>
        <p:nvSpPr>
          <p:cNvPr id="34" name="Text 28"/>
          <p:cNvSpPr/>
          <p:nvPr/>
        </p:nvSpPr>
        <p:spPr>
          <a:xfrm>
            <a:off x="777240" y="4681728"/>
            <a:ext cx="10607040" cy="1417320"/>
          </a:xfrm>
          <a:prstGeom prst="rect">
            <a:avLst/>
          </a:prstGeom>
          <a:noFill/>
          <a:ln/>
        </p:spPr>
        <p:txBody>
          <a:bodyPr wrap="square" rtlCol="0" anchor="t"/>
          <a:lstStyle/>
          <a:p>
            <a:pPr marL="0" indent="0">
              <a:lnSpc>
                <a:spcPct val="130000"/>
              </a:lnSpc>
              <a:buNone/>
            </a:pPr>
            <a:r>
              <a:rPr lang="en-US" sz="1050" dirty="0">
                <a:solidFill>
                  <a:srgbClr val="9BE38A"/>
                </a:solidFill>
                <a:latin typeface="Consolas" pitchFamily="34" charset="0"/>
                <a:ea typeface="Consolas" pitchFamily="34" charset="-122"/>
                <a:cs typeface="Consolas" pitchFamily="34" charset="-120"/>
              </a:rPr>
              <a:t>[14:32:01] [デバッグ:started] POST /api/stub/equipment/started 送信 -&gt; {"stockerId":"STK001","jobStatus":"RUNNING",...}</a:t>
            </a:r>
            <a:endParaRPr lang="en-US" sz="1050" dirty="0"/>
          </a:p>
          <a:p>
            <a:pPr marL="0" indent="0">
              <a:lnSpc>
                <a:spcPct val="130000"/>
              </a:lnSpc>
              <a:buNone/>
            </a:pPr>
            <a:r>
              <a:rPr lang="en-US" sz="1050" dirty="0">
                <a:solidFill>
                  <a:srgbClr val="9BE38A"/>
                </a:solidFill>
                <a:latin typeface="Consolas" pitchFamily="34" charset="0"/>
                <a:ea typeface="Consolas" pitchFamily="34" charset="-122"/>
                <a:cs typeface="Consolas" pitchFamily="34" charset="-120"/>
              </a:rPr>
              <a:t>[14:32:01] [デバッグ:started] 応答 &lt;- status=200 body={}</a:t>
            </a:r>
            <a:endParaRPr lang="en-US" sz="1050" dirty="0"/>
          </a:p>
          <a:p>
            <a:pPr marL="0" indent="0">
              <a:lnSpc>
                <a:spcPct val="130000"/>
              </a:lnSpc>
              <a:buNone/>
            </a:pPr>
            <a:r>
              <a:rPr lang="en-US" sz="1050" dirty="0">
                <a:solidFill>
                  <a:srgbClr val="FF8A80"/>
                </a:solidFill>
                <a:latin typeface="Consolas" pitchFamily="34" charset="0"/>
                <a:ea typeface="Consolas" pitchFamily="34" charset="-122"/>
                <a:cs typeface="Consolas" pitchFamily="34" charset="-120"/>
              </a:rPr>
              <a:t>[14:32:05] [デバッグ:dispatch] 応答 &lt;- status=400 (エラー) body={"errorCode":"ERR-002","message":"...重複エラー..."}</a:t>
            </a:r>
            <a:endParaRPr lang="en-US" sz="1050" dirty="0"/>
          </a:p>
        </p:txBody>
      </p:sp>
      <p:sp>
        <p:nvSpPr>
          <p:cNvPr id="35" name="Text 29"/>
          <p:cNvSpPr/>
          <p:nvPr/>
        </p:nvSpPr>
        <p:spPr>
          <a:xfrm>
            <a:off x="548640" y="6263640"/>
            <a:ext cx="11091672" cy="201168"/>
          </a:xfrm>
          <a:prstGeom prst="rect">
            <a:avLst/>
          </a:prstGeom>
          <a:noFill/>
          <a:ln/>
        </p:spPr>
        <p:txBody>
          <a:bodyPr wrap="square" rtlCol="0" anchor="ctr"/>
          <a:lstStyle/>
          <a:p>
            <a:pPr marL="0" indent="0">
              <a:buNone/>
            </a:pPr>
            <a:r>
              <a:rPr lang="en-US" sz="1050" i="1" dirty="0">
                <a:solidFill>
                  <a:srgbClr val="55626F"/>
                </a:solidFill>
                <a:latin typeface="Yu Gothic" pitchFamily="34" charset="0"/>
                <a:ea typeface="Yu Gothic" pitchFamily="34" charset="-122"/>
                <a:cs typeface="Yu Gothic" pitchFamily="34" charset="-120"/>
              </a:rPr>
              <a:t>スマートフォン実機ではDevToolsが使えないため、このパネルが唯一の応答確認手段となる</a:t>
            </a:r>
            <a:endParaRPr lang="en-US" sz="1050" dirty="0"/>
          </a:p>
        </p:txBody>
      </p:sp>
      <p:sp>
        <p:nvSpPr>
          <p:cNvPr id="36" name="Text 30"/>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37" name="Text 31"/>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100" dirty="0">
                <a:solidFill>
                  <a:srgbClr val="1565C0"/>
                </a:solidFill>
                <a:latin typeface="Yu Gothic" pitchFamily="34" charset="0"/>
                <a:ea typeface="Yu Gothic" pitchFamily="34" charset="-122"/>
                <a:cs typeface="Yu Gothic" pitchFamily="34" charset="-120"/>
              </a:rPr>
              <a:t>TROUBLESHOOTING</a:t>
            </a:r>
            <a:endParaRPr lang="en-US" sz="1300" dirty="0"/>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1A2330"/>
                </a:solidFill>
                <a:latin typeface="Yu Gothic" pitchFamily="34" charset="0"/>
                <a:ea typeface="Yu Gothic" pitchFamily="34" charset="-122"/>
                <a:cs typeface="Yu Gothic" pitchFamily="34" charset="-120"/>
              </a:rPr>
              <a:t>開発で遭遇した課題と解決</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4800600"/>
        </p:xfrm>
        <a:graphic>
          <a:graphicData uri="http://schemas.openxmlformats.org/drawingml/2006/table">
            <a:tbl>
              <a:tblPr/>
              <a:tblGrid>
                <a:gridCol w="3246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730752">
                  <a:extLst>
                    <a:ext uri="{9D8B030D-6E8A-4147-A177-3AD203B41FA5}">
                      <a16:colId xmlns:a16="http://schemas.microsoft.com/office/drawing/2014/main" val="20002"/>
                    </a:ext>
                  </a:extLst>
                </a:gridCol>
              </a:tblGrid>
              <a:tr h="960120">
                <a:tc>
                  <a:txBody>
                    <a:bodyPr/>
                    <a:lstStyle/>
                    <a:p>
                      <a:pPr marL="0" indent="0">
                        <a:buNone/>
                      </a:pPr>
                      <a:r>
                        <a:rPr lang="en-US" sz="1100" b="1" dirty="0">
                          <a:solidFill>
                            <a:srgbClr val="FFFFFF"/>
                          </a:solidFill>
                          <a:latin typeface="Yu Gothic" pitchFamily="34" charset="0"/>
                          <a:ea typeface="Yu Gothic" pitchFamily="34" charset="-122"/>
                          <a:cs typeface="Yu Gothic" pitchFamily="34" charset="-120"/>
                        </a:rPr>
                        <a:t>課題</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0D1B2A"/>
                    </a:solidFill>
                  </a:tcPr>
                </a:tc>
                <a:tc>
                  <a:txBody>
                    <a:bodyPr/>
                    <a:lstStyle/>
                    <a:p>
                      <a:pPr marL="0" indent="0">
                        <a:buNone/>
                      </a:pPr>
                      <a:r>
                        <a:rPr lang="en-US" sz="1100" b="1" dirty="0">
                          <a:solidFill>
                            <a:srgbClr val="FFFFFF"/>
                          </a:solidFill>
                          <a:latin typeface="Yu Gothic" pitchFamily="34" charset="0"/>
                          <a:ea typeface="Yu Gothic" pitchFamily="34" charset="-122"/>
                          <a:cs typeface="Yu Gothic" pitchFamily="34" charset="-120"/>
                        </a:rPr>
                        <a:t>原因</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0D1B2A"/>
                    </a:solidFill>
                  </a:tcPr>
                </a:tc>
                <a:tc>
                  <a:txBody>
                    <a:bodyPr/>
                    <a:lstStyle/>
                    <a:p>
                      <a:pPr marL="0" indent="0">
                        <a:buNone/>
                      </a:pPr>
                      <a:r>
                        <a:rPr lang="en-US" sz="1100" b="1" dirty="0">
                          <a:solidFill>
                            <a:srgbClr val="FFFFFF"/>
                          </a:solidFill>
                          <a:latin typeface="Yu Gothic" pitchFamily="34" charset="0"/>
                          <a:ea typeface="Yu Gothic" pitchFamily="34" charset="-122"/>
                          <a:cs typeface="Yu Gothic" pitchFamily="34" charset="-120"/>
                        </a:rPr>
                        <a:t>解決</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960120">
                <a:tc>
                  <a:txBody>
                    <a:bodyPr/>
                    <a:lstStyle/>
                    <a:p>
                      <a:pPr marL="0" indent="0">
                        <a:buNone/>
                      </a:pPr>
                      <a:r>
                        <a:rPr lang="en-US" sz="1100" b="1" dirty="0">
                          <a:solidFill>
                            <a:srgbClr val="1A2330"/>
                          </a:solidFill>
                          <a:latin typeface="Yu Gothic" pitchFamily="34" charset="0"/>
                          <a:ea typeface="Yu Gothic" pitchFamily="34" charset="-122"/>
                          <a:cs typeface="Yu Gothic" pitchFamily="34" charset="-120"/>
                        </a:rPr>
                        <a:t>静的ファイルが404になる</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marL="0" indent="0">
                        <a:buNone/>
                      </a:pPr>
                      <a:r>
                        <a:rPr lang="en-US" sz="1100" dirty="0">
                          <a:solidFill>
                            <a:srgbClr val="55626F"/>
                          </a:solidFill>
                          <a:latin typeface="Yu Gothic" pitchFamily="34" charset="0"/>
                          <a:ea typeface="Yu Gothic" pitchFamily="34" charset="-122"/>
                          <a:cs typeface="Yu Gothic" pitchFamily="34" charset="-120"/>
                        </a:rPr>
                        <a:t>ASP.NET Coreのファイル指紋(ハッシュ)とキャッシュの不整合</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marL="0" indent="0">
                        <a:buNone/>
                      </a:pPr>
                      <a:r>
                        <a:rPr lang="en-US" sz="1100" dirty="0">
                          <a:solidFill>
                            <a:srgbClr val="2E7D32"/>
                          </a:solidFill>
                          <a:latin typeface="Yu Gothic" pitchFamily="34" charset="0"/>
                          <a:ea typeface="Yu Gothic" pitchFamily="34" charset="-122"/>
                          <a:cs typeface="Yu Gothic" pitchFamily="34" charset="-120"/>
                        </a:rPr>
                        <a:t>リビルドで解消、開発中は UseStaticFiles に変更し恒久対応</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100" b="1" dirty="0">
                          <a:solidFill>
                            <a:srgbClr val="1A2330"/>
                          </a:solidFill>
                          <a:latin typeface="Yu Gothic" pitchFamily="34" charset="0"/>
                          <a:ea typeface="Yu Gothic" pitchFamily="34" charset="-122"/>
                          <a:cs typeface="Yu Gothic" pitchFamily="34" charset="-120"/>
                        </a:rPr>
                        <a:t>画面遷移してもデータが更新されない</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EEF1F4"/>
                    </a:solidFill>
                  </a:tcPr>
                </a:tc>
                <a:tc>
                  <a:txBody>
                    <a:bodyPr/>
                    <a:lstStyle/>
                    <a:p>
                      <a:pPr marL="0" indent="0">
                        <a:buNone/>
                      </a:pPr>
                      <a:r>
                        <a:rPr lang="en-US" sz="1100" dirty="0">
                          <a:solidFill>
                            <a:srgbClr val="55626F"/>
                          </a:solidFill>
                          <a:latin typeface="Yu Gothic" pitchFamily="34" charset="0"/>
                          <a:ea typeface="Yu Gothic" pitchFamily="34" charset="-122"/>
                          <a:cs typeface="Yu Gothic" pitchFamily="34" charset="-120"/>
                        </a:rPr>
                        <a:t>Service Workerのキャッシュ優先(Cache-First)戦略</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EEF1F4"/>
                    </a:solidFill>
                  </a:tcPr>
                </a:tc>
                <a:tc>
                  <a:txBody>
                    <a:bodyPr/>
                    <a:lstStyle/>
                    <a:p>
                      <a:pPr marL="0" indent="0">
                        <a:buNone/>
                      </a:pPr>
                      <a:r>
                        <a:rPr lang="en-US" sz="1100" dirty="0">
                          <a:solidFill>
                            <a:srgbClr val="2E7D32"/>
                          </a:solidFill>
                          <a:latin typeface="Yu Gothic" pitchFamily="34" charset="0"/>
                          <a:ea typeface="Yu Gothic" pitchFamily="34" charset="-122"/>
                          <a:cs typeface="Yu Gothic" pitchFamily="34" charset="-120"/>
                        </a:rPr>
                        <a:t>開発中は古いService Workerを自動アンインストールする処理を追加</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EEF1F4"/>
                    </a:solidFill>
                  </a:tcPr>
                </a:tc>
                <a:extLst>
                  <a:ext uri="{0D108BD9-81ED-4DB2-BD59-A6C34878D82A}">
                    <a16:rowId xmlns:a16="http://schemas.microsoft.com/office/drawing/2014/main" val="10002"/>
                  </a:ext>
                </a:extLst>
              </a:tr>
              <a:tr h="960120">
                <a:tc>
                  <a:txBody>
                    <a:bodyPr/>
                    <a:lstStyle/>
                    <a:p>
                      <a:pPr marL="0" indent="0">
                        <a:buNone/>
                      </a:pPr>
                      <a:r>
                        <a:rPr lang="en-US" sz="1100" b="1" dirty="0">
                          <a:solidFill>
                            <a:srgbClr val="1A2330"/>
                          </a:solidFill>
                          <a:latin typeface="Yu Gothic" pitchFamily="34" charset="0"/>
                          <a:ea typeface="Yu Gothic" pitchFamily="34" charset="-122"/>
                          <a:cs typeface="Yu Gothic" pitchFamily="34" charset="-120"/>
                        </a:rPr>
                        <a:t>履歴ログの日付が Invalid Date</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marL="0" indent="0">
                        <a:buNone/>
                      </a:pPr>
                      <a:r>
                        <a:rPr lang="en-US" sz="1100" dirty="0">
                          <a:solidFill>
                            <a:srgbClr val="55626F"/>
                          </a:solidFill>
                          <a:latin typeface="Yu Gothic" pitchFamily="34" charset="0"/>
                          <a:ea typeface="Yu Gothic" pitchFamily="34" charset="-122"/>
                          <a:cs typeface="Yu Gothic" pitchFamily="34" charset="-120"/>
                        </a:rPr>
                        <a:t>API応答のキー名(timeStamp)とJS側参照名(timestamp)の不一致</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marL="0" indent="0">
                        <a:buNone/>
                      </a:pPr>
                      <a:r>
                        <a:rPr lang="en-US" sz="1100" dirty="0">
                          <a:solidFill>
                            <a:srgbClr val="2E7D32"/>
                          </a:solidFill>
                          <a:latin typeface="Yu Gothic" pitchFamily="34" charset="0"/>
                          <a:ea typeface="Yu Gothic" pitchFamily="34" charset="-122"/>
                          <a:cs typeface="Yu Gothic" pitchFamily="34" charset="-120"/>
                        </a:rPr>
                        <a:t>実際のレスポンスをコンソールで確認しキー名を統一</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a:txBody>
                    <a:bodyPr/>
                    <a:lstStyle/>
                    <a:p>
                      <a:pPr marL="0" indent="0">
                        <a:buNone/>
                      </a:pPr>
                      <a:r>
                        <a:rPr lang="en-US" sz="1100" b="1" dirty="0">
                          <a:solidFill>
                            <a:srgbClr val="1A2330"/>
                          </a:solidFill>
                          <a:latin typeface="Yu Gothic" pitchFamily="34" charset="0"/>
                          <a:ea typeface="Yu Gothic" pitchFamily="34" charset="-122"/>
                          <a:cs typeface="Yu Gothic" pitchFamily="34" charset="-120"/>
                        </a:rPr>
                        <a:t>搬送指示でサーバーエラーが発生</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EEF1F4"/>
                    </a:solidFill>
                  </a:tcPr>
                </a:tc>
                <a:tc>
                  <a:txBody>
                    <a:bodyPr/>
                    <a:lstStyle/>
                    <a:p>
                      <a:pPr marL="0" indent="0">
                        <a:buNone/>
                      </a:pPr>
                      <a:r>
                        <a:rPr lang="en-US" sz="1100" dirty="0">
                          <a:solidFill>
                            <a:srgbClr val="55626F"/>
                          </a:solidFill>
                          <a:latin typeface="Yu Gothic" pitchFamily="34" charset="0"/>
                          <a:ea typeface="Yu Gothic" pitchFamily="34" charset="-122"/>
                          <a:cs typeface="Yu Gothic" pitchFamily="34" charset="-120"/>
                        </a:rPr>
                        <a:t>バックエンドSQLでパラメータ名が不一致(@Source未定義)</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EEF1F4"/>
                    </a:solidFill>
                  </a:tcPr>
                </a:tc>
                <a:tc>
                  <a:txBody>
                    <a:bodyPr/>
                    <a:lstStyle/>
                    <a:p>
                      <a:pPr marL="0" indent="0">
                        <a:buNone/>
                      </a:pPr>
                      <a:r>
                        <a:rPr lang="en-US" sz="1100" dirty="0">
                          <a:solidFill>
                            <a:srgbClr val="2E7D32"/>
                          </a:solidFill>
                          <a:latin typeface="Yu Gothic" pitchFamily="34" charset="0"/>
                          <a:ea typeface="Yu Gothic" pitchFamily="34" charset="-122"/>
                          <a:cs typeface="Yu Gothic" pitchFamily="34" charset="-120"/>
                        </a:rPr>
                        <a:t>スタックトレースから原因箇所を特定し、修正案を提示</a:t>
                      </a:r>
                      <a:endParaRPr lang="en-US" sz="1100" dirty="0">
                        <a:latin typeface="Yu Gothic" charset="0"/>
                        <a:ea typeface="Yu Gothic" charset="0"/>
                        <a:cs typeface="Yu Gothic" charset="0"/>
                      </a:endParaRPr>
                    </a:p>
                  </a:txBody>
                  <a:tcPr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EEF1F4"/>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9AA6B2"/>
                </a:solidFill>
                <a:latin typeface="Yu Gothic" pitchFamily="34" charset="0"/>
                <a:ea typeface="Yu Gothic" pitchFamily="34" charset="-122"/>
                <a:cs typeface="Yu Gothic" pitchFamily="34" charset="-120"/>
              </a:rPr>
              <a:t>自動保管棚管理システム ― フロントエンド進捗報告</a:t>
            </a:r>
            <a:endParaRPr lang="en-US" sz="900" dirty="0"/>
          </a:p>
        </p:txBody>
      </p:sp>
      <p:sp>
        <p:nvSpPr>
          <p:cNvPr id="6" name="Text 3"/>
          <p:cNvSpPr/>
          <p:nvPr/>
        </p:nvSpPr>
        <p:spPr>
          <a:xfrm>
            <a:off x="11521440" y="6510528"/>
            <a:ext cx="457200" cy="274320"/>
          </a:xfrm>
          <a:prstGeom prst="rect">
            <a:avLst/>
          </a:prstGeom>
          <a:noFill/>
          <a:ln/>
        </p:spPr>
        <p:txBody>
          <a:bodyPr wrap="square" rtlCol="0" anchor="ctr"/>
          <a:lstStyle/>
          <a:p>
            <a:pPr marL="0" indent="0" algn="r">
              <a:buNone/>
            </a:pPr>
            <a:r>
              <a:rPr lang="en-US" sz="900" dirty="0">
                <a:solidFill>
                  <a:srgbClr val="9AA6B2"/>
                </a:solidFill>
                <a:latin typeface="Yu Gothic" pitchFamily="34" charset="0"/>
                <a:ea typeface="Yu Gothic" pitchFamily="34" charset="-122"/>
                <a:cs typeface="Yu Gothic"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1609</Words>
  <Application>Microsoft Office PowerPoint</Application>
  <PresentationFormat>ワイド画面</PresentationFormat>
  <Paragraphs>275</Paragraphs>
  <Slides>16</Slides>
  <Notes>16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Yu Gothic</vt:lpstr>
      <vt:lpstr>Yu Gothic</vt:lpstr>
      <vt:lpstr>Arial</vt:lpstr>
      <vt:lpstr>Consolas</vt:lpstr>
      <vt:lpstr>Segoe UI Symbol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自動保管棚管理システム フロントエンド進捗報告</dc:title>
  <dc:subject>PptxGenJS Presentation</dc:subject>
  <dc:creator>Dinesh</dc:creator>
  <cp:lastModifiedBy>佑弥 永野</cp:lastModifiedBy>
  <cp:revision>17</cp:revision>
  <dcterms:created xsi:type="dcterms:W3CDTF">2026-06-28T08:08:44Z</dcterms:created>
  <dcterms:modified xsi:type="dcterms:W3CDTF">2026-06-29T06:02:41Z</dcterms:modified>
</cp:coreProperties>
</file>